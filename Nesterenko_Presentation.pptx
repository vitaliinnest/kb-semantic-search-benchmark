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6858000" cy="9144000"/>
  <p:embeddedFontLst>
    <p:embeddedFont>
      <p:font typeface="Economica" panose="020B0604020202020204" charset="0"/>
      <p:regular r:id="rId15"/>
      <p:bold r:id="rId16"/>
      <p:italic r:id="rId17"/>
      <p:boldItalic r:id="rId18"/>
    </p:embeddedFont>
    <p:embeddedFont>
      <p:font typeface="Open Sans" panose="020B0606030504020204" pitchFamily="34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2" d="100"/>
          <a:sy n="152" d="100"/>
        </p:scale>
        <p:origin x="754" y="11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font" Target="fonts/font1.fntdata"/><Relationship Id="rId16" Type="http://schemas.openxmlformats.org/officeDocument/2006/relationships/font" Target="fonts/font2.fntdata"/><Relationship Id="rId17" Type="http://schemas.openxmlformats.org/officeDocument/2006/relationships/font" Target="fonts/font3.fntdata"/><Relationship Id="rId18" Type="http://schemas.openxmlformats.org/officeDocument/2006/relationships/font" Target="fonts/font4.fntdata"/><Relationship Id="rId19" Type="http://schemas.openxmlformats.org/officeDocument/2006/relationships/font" Target="fonts/font5.fntdata"/><Relationship Id="rId20" Type="http://schemas.openxmlformats.org/officeDocument/2006/relationships/font" Target="fonts/font6.fntdata"/><Relationship Id="rId21" Type="http://schemas.openxmlformats.org/officeDocument/2006/relationships/font" Target="fonts/font7.fntdata"/><Relationship Id="rId22" Type="http://schemas.openxmlformats.org/officeDocument/2006/relationships/font" Target="fonts/font8.fntdata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0ddf966691_0_1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20ddf966691_0_1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e16b2adad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2e16b2adad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2e16b2adad1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2e16b2adad1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e16b2adad1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2e16b2adad1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e16b2adad1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2e16b2adad1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e16b2adad1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2e16b2adad1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e16b2adad1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2e16b2adad1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e16b2adad1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2e16b2adad1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e16b2adad1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e16b2adad1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e16b2adad1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2e16b2adad1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e16b2adad1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2e16b2adad1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756700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1" name="Google Shape;11;p2"/>
          <p:cNvSpPr/>
          <p:nvPr/>
        </p:nvSpPr>
        <p:spPr>
          <a:xfrm rot="10800000">
            <a:off x="5318350" y="32667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4602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7" name="Google Shape;17;p3"/>
          <p:cNvSpPr/>
          <p:nvPr/>
        </p:nvSpPr>
        <p:spPr>
          <a:xfrm rot="10800000" flipH="1">
            <a:off x="466425" y="35583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2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Google Shape;29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body" idx="1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Google Shape;36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0" name="Google Shape;40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4" name="Google Shape;44;p9"/>
          <p:cNvSpPr txBox="1">
            <a:spLocks noGrp="1"/>
          </p:cNvSpPr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Google Shape;47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>
            <a:spLocks noGrp="1"/>
          </p:cNvSpPr>
          <p:nvPr>
            <p:ph type="body" idx="1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Google Shape;50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11"/>
          <p:cNvSpPr txBox="1">
            <a:spLocks noGrp="1"/>
          </p:cNvSpPr>
          <p:nvPr>
            <p:ph type="title" hasCustomPrompt="1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>
            <a:spLocks noGrp="1"/>
          </p:cNvSpPr>
          <p:nvPr>
            <p:ph type="body" idx="1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5" name="Google Shape;55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Пустой слайд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lux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>
            <a:spLocks noGrp="1"/>
          </p:cNvSpPr>
          <p:nvPr>
            <p:ph type="ctrTitle"/>
          </p:nvPr>
        </p:nvSpPr>
        <p:spPr>
          <a:xfrm>
            <a:off x="2805450" y="821301"/>
            <a:ext cx="4406587" cy="89696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dirty="0" err="1"/>
              <a:t>Дослідження</a:t>
            </a:r>
            <a:r>
              <a:rPr lang="ru-RU" sz="1600" dirty="0"/>
              <a:t> моделей </a:t>
            </a:r>
            <a:r>
              <a:rPr lang="ru-RU" sz="1600" dirty="0" err="1"/>
              <a:t>векторних</a:t>
            </a:r>
            <a:r>
              <a:rPr lang="ru-RU" sz="1600" dirty="0"/>
              <a:t> ембеддінгів для</a:t>
            </a:r>
            <a:r>
              <a:rPr lang="en-US" sz="1600" dirty="0"/>
              <a:t> </a:t>
            </a:r>
            <a:r>
              <a:rPr lang="ru-RU" sz="1600" dirty="0" err="1"/>
              <a:t>семантичного</a:t>
            </a:r>
            <a:r>
              <a:rPr lang="ru-RU" sz="1600" dirty="0"/>
              <a:t> </a:t>
            </a:r>
            <a:r>
              <a:rPr lang="ru-RU" sz="1600" dirty="0" err="1"/>
              <a:t>пошуку</a:t>
            </a:r>
            <a:r>
              <a:rPr lang="ru-RU" sz="1600" dirty="0"/>
              <a:t> </a:t>
            </a:r>
            <a:r>
              <a:rPr lang="ru-RU" sz="1600" dirty="0" err="1"/>
              <a:t>текстових</a:t>
            </a:r>
            <a:r>
              <a:rPr lang="ru-RU" sz="1600" dirty="0"/>
              <a:t> </a:t>
            </a:r>
            <a:r>
              <a:rPr lang="ru-RU" sz="1600" dirty="0" err="1"/>
              <a:t>даних</a:t>
            </a:r>
            <a:r>
              <a:rPr lang="ru-RU" sz="1600" dirty="0"/>
              <a:t> у </a:t>
            </a:r>
            <a:r>
              <a:rPr lang="ru-RU" sz="1600" dirty="0" err="1"/>
              <a:t>корпоративних</a:t>
            </a:r>
            <a:r>
              <a:rPr lang="ru-RU" sz="1600" dirty="0"/>
              <a:t> базах </a:t>
            </a:r>
            <a:r>
              <a:rPr lang="ru-RU" sz="1600" dirty="0" err="1"/>
              <a:t>знань</a:t>
            </a:r>
            <a:endParaRPr lang="ru-RU" sz="1600" dirty="0"/>
          </a:p>
        </p:txBody>
      </p:sp>
      <p:sp>
        <p:nvSpPr>
          <p:cNvPr id="63" name="Google Shape;63;p13"/>
          <p:cNvSpPr txBox="1">
            <a:spLocks noGrp="1"/>
          </p:cNvSpPr>
          <p:nvPr>
            <p:ph type="subTitle" idx="1"/>
          </p:nvPr>
        </p:nvSpPr>
        <p:spPr>
          <a:xfrm>
            <a:off x="1948250" y="3282462"/>
            <a:ext cx="5087400" cy="17959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1600" dirty="0"/>
              <a:t>Нестеренко Віталій Вячеславович, ІПЗм-24-1</a:t>
            </a:r>
            <a:endParaRPr sz="16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1600" dirty="0"/>
              <a:t>Науковий керівник: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1600" dirty="0"/>
              <a:t>к.т.н., доцент Русакова Наталія Євгенівна</a:t>
            </a:r>
            <a:endParaRPr sz="16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uk-UA" sz="16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uk-UA" sz="16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1600" dirty="0"/>
              <a:t>15 травня 2026</a:t>
            </a:r>
            <a:endParaRPr sz="1600" dirty="0"/>
          </a:p>
        </p:txBody>
      </p:sp>
      <p:pic>
        <p:nvPicPr>
          <p:cNvPr id="64" name="Google Shape;6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4725" y="170825"/>
            <a:ext cx="2133975" cy="389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68504" y="170825"/>
            <a:ext cx="1924921" cy="43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4"/>
          <p:cNvSpPr txBox="1">
            <a:spLocks noGrp="1"/>
          </p:cNvSpPr>
          <p:nvPr>
            <p:ph type="title"/>
          </p:nvPr>
        </p:nvSpPr>
        <p:spPr>
          <a:xfrm>
            <a:off x="311700" y="0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r>
              <a:rPr sz="3200"/>
              <a:t>Актуальність та мета дослідження</a:t>
            </a:r>
          </a:p>
        </p:txBody>
      </p:sp>
      <p:sp>
        <p:nvSpPr>
          <p:cNvPr id="72" name="Google Shape;72;p14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Актуальність: експоненційне зростання обсягів цифрової інформації у корпоративних базах знань; класичний keyword-пошук обмежений; розвиток LLM/RAG-систем робить retrieval-якість критичною</a:t>
            </a:r>
          </a:p>
          <a:p>
            <a:r>
              <a:t>Об'єкт: процеси формування та використання векторних подань текстових даних у системах семантичного пошуку</a:t>
            </a:r>
          </a:p>
          <a:p>
            <a:r>
              <a:t>Предмет: моделі векторних ембеддінгів для корпоративних баз знань</a:t>
            </a:r>
          </a:p>
          <a:p>
            <a:r>
              <a:t>Мета: визначення доцільності застосування сучасних моделей векторних ембеддінгів для підвищення ефективності семантичного пошуку у корпоративних базах знань шляхом їх порівняльного експериментального дослідження</a:t>
            </a:r>
          </a:p>
          <a:p>
            <a:r>
              <a:t>Задачі: огляд предметної галузі; аналіз сучасних embedding-моделей; формування benchmark dataset; реалізація системи; експериментальна оцінка; багатокритеріальний вибір оптимальної моделі</a:t>
            </a:r>
          </a:p>
        </p:txBody>
      </p:sp>
      <p:pic>
        <p:nvPicPr>
          <p:cNvPr id="73" name="Google Shape;7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93E68CA-DEF7-D32D-BFB6-7B402335F4C7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2</a:t>
            </a:fld>
            <a:endParaRPr lang="uk-UA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>
            <a:spLocks noGrp="1"/>
          </p:cNvSpPr>
          <p:nvPr>
            <p:ph type="title"/>
          </p:nvPr>
        </p:nvSpPr>
        <p:spPr>
          <a:xfrm>
            <a:off x="311700" y="-124863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r>
              <a:rPr sz="3200"/>
              <a:t>Огляд літератури</a:t>
            </a:r>
          </a:p>
        </p:txBody>
      </p:sp>
      <p:sp>
        <p:nvSpPr>
          <p:cNvPr id="79" name="Google Shape;79;p15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Фундаментальні роботи: Mikolov (Word2Vec), Pennington (GloVe), Devlin (BERT), Reimers (Sentence-BERT)</a:t>
            </a:r>
          </a:p>
          <a:p>
            <a:r>
              <a:t>Сучасні embedding-моделі: Wang (E5), Chen (BGE-M3), Nussbaum (nomic-embed-text), Zhang (Qwen3-Embedding)</a:t>
            </a:r>
          </a:p>
          <a:p>
            <a:r>
              <a:t>Лексичний базелайн: Robertson, Zaragoza (BM25)</a:t>
            </a:r>
          </a:p>
          <a:p>
            <a:r>
              <a:t>Бенчмарки і метрики: Thakur (BEIR), Muennighoff (MTEB), Järvelin (nDCG)</a:t>
            </a:r>
          </a:p>
          <a:p>
            <a:r>
              <a:t>RAG-парадигма: Lewis (Retrieval-Augmented Generation), Gao (RAG Survey)</a:t>
            </a:r>
          </a:p>
          <a:p>
            <a:r>
              <a:t>Прогалина: відсутність порівняльних досліджень embedding-моделей на україномовних доменно-специфічних колекціях</a:t>
            </a:r>
          </a:p>
          <a:p>
            <a:r>
              <a:t>Загалом використано 32 наукових джерела</a:t>
            </a:r>
          </a:p>
        </p:txBody>
      </p:sp>
      <p:pic>
        <p:nvPicPr>
          <p:cNvPr id="80" name="Google Shape;8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B62475D-5E0B-A5AC-3922-2970FC56A64D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3</a:t>
            </a:fld>
            <a:endParaRPr lang="uk-UA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 txBox="1">
            <a:spLocks noGrp="1"/>
          </p:cNvSpPr>
          <p:nvPr>
            <p:ph type="title"/>
          </p:nvPr>
        </p:nvSpPr>
        <p:spPr>
          <a:xfrm>
            <a:off x="311700" y="-186276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r>
              <a:rPr sz="3200"/>
              <a:t>Постановка задачі</a:t>
            </a:r>
          </a:p>
        </p:txBody>
      </p:sp>
      <p:sp>
        <p:nvSpPr>
          <p:cNvPr id="86" name="Google Shape;86;p16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Проблема: у реальних корпоративних системах недостатньо просто застосувати сучасну embedding-модель — необхідно обґрунтовано визначити оптимальну за балансом якості, швидкодії та ресурсів</a:t>
            </a:r>
          </a:p>
          <a:p>
            <a:r>
              <a:t>Очікувані результати:</a:t>
            </a:r>
          </a:p>
          <a:p>
            <a:r>
              <a:t>  – реалізована система семантичного пошуку з підтримкою документів PDF/DOCX/TXT/MD</a:t>
            </a:r>
          </a:p>
          <a:p>
            <a:r>
              <a:t>  – власноруч сформований domain-specific україномовний benchmark dataset</a:t>
            </a:r>
          </a:p>
          <a:p>
            <a:r>
              <a:t>  – кількісне порівняння 4 embedding-моделей + BM25 baseline на 3 доменах</a:t>
            </a:r>
          </a:p>
          <a:p>
            <a:r>
              <a:t>  – багатокритеріальний вибір оптимальної моделі (Парето + лінійна згортка)</a:t>
            </a:r>
          </a:p>
          <a:p>
            <a:r>
              <a:t>  – обґрунтовані практичні рекомендації для впровадження</a:t>
            </a:r>
          </a:p>
        </p:txBody>
      </p:sp>
      <p:pic>
        <p:nvPicPr>
          <p:cNvPr id="87" name="Google Shape;8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23D9805-068E-FE7E-BC9A-0C410D68B73B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4</a:t>
            </a:fld>
            <a:endParaRPr lang="uk-UA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7"/>
          <p:cNvSpPr txBox="1">
            <a:spLocks noGrp="1"/>
          </p:cNvSpPr>
          <p:nvPr>
            <p:ph type="title"/>
          </p:nvPr>
        </p:nvSpPr>
        <p:spPr>
          <a:xfrm>
            <a:off x="311700" y="-148309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r>
              <a:rPr sz="3200"/>
              <a:t>Методологія дослідження</a:t>
            </a:r>
          </a:p>
        </p:txBody>
      </p:sp>
      <p:sp>
        <p:nvSpPr>
          <p:cNvPr id="93" name="Google Shape;93;p17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Метрики оцінювання retrieval-якості: nDCG@10, MRR@10, Recall@10, P@10</a:t>
            </a:r>
          </a:p>
          <a:p>
            <a:r>
              <a:t>Метрика швидкодії: середній час відповіді на запит (мс/запит)</a:t>
            </a:r>
          </a:p>
          <a:p>
            <a:r>
              <a:t>Статистичний аналіз: bootstrap-оцінка 95% довірчого інтервалу для nDCG@10 (n = 2000)</a:t>
            </a:r>
          </a:p>
          <a:p>
            <a:r>
              <a:t>Багатокритеріальний вибір: принцип Парето-домінування + лінійна адитивна згортка з нормалізацією критеріїв</a:t>
            </a:r>
          </a:p>
          <a:p>
            <a:r>
              <a:t>Метод призначення ваг: ранжування критеріїв за важливістю з доменно-специфічними профілями</a:t>
            </a:r>
          </a:p>
          <a:p>
            <a:r>
              <a:t>Інструментарій: Python 3.11, sentence-transformers, FAISS, rank_bm25, Flask, NumPy, scikit-learn</a:t>
            </a:r>
          </a:p>
        </p:txBody>
      </p:sp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343E912-C721-1128-5F72-D9BB9BCF5CCA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5</a:t>
            </a:fld>
            <a:endParaRPr lang="uk-UA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>
            <a:spLocks noGrp="1"/>
          </p:cNvSpPr>
          <p:nvPr>
            <p:ph type="title"/>
          </p:nvPr>
        </p:nvSpPr>
        <p:spPr>
          <a:xfrm>
            <a:off x="268925" y="349659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sz="3200"/>
              <a:t>Архітектура системи</a:t>
            </a:r>
          </a:p>
        </p:txBody>
      </p:sp>
      <p:sp>
        <p:nvSpPr>
          <p:cNvPr id="100" name="Google Shape;100;p18"/>
          <p:cNvSpPr txBox="1">
            <a:spLocks noGrp="1"/>
          </p:cNvSpPr>
          <p:nvPr>
            <p:ph type="body" idx="1"/>
          </p:nvPr>
        </p:nvSpPr>
        <p:spPr>
          <a:xfrm>
            <a:off x="311700" y="1453900"/>
            <a:ext cx="8520600" cy="312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Pipeline експерименту: документи → попередня обробка → чанкінг → ембеддінг → FAISS-індекс → запит → top-k результати → метрики</a:t>
            </a:r>
          </a:p>
          <a:p>
            <a:r>
              <a:t>Основні компоненти:</a:t>
            </a:r>
          </a:p>
          <a:p>
            <a:r>
              <a:t>  – build_index.py — побудова індексу для (модель, домен)</a:t>
            </a:r>
          </a:p>
          <a:p>
            <a:r>
              <a:t>  – evaluate_benchmark.py — обчислення метрик retrieval-якості</a:t>
            </a:r>
          </a:p>
          <a:p>
            <a:r>
              <a:t>  – embedding_models.py — уніфікований інтерфейс для 5 моделей</a:t>
            </a:r>
          </a:p>
          <a:p>
            <a:r>
              <a:t>  – run_all_benchmarks.py — масовий прогін усіх (модель, домен)</a:t>
            </a:r>
          </a:p>
          <a:p>
            <a:r>
              <a:t>Web-інтерфейс: Flask-додаток з вибором моделі, домену та інтерактивним пошуком</a:t>
            </a:r>
          </a:p>
          <a:p>
            <a:r>
              <a:t>Зберігання артефактів: faiss.index + meta.jsonl + model.json для кожної (модель, домен)</a:t>
            </a:r>
          </a:p>
        </p:txBody>
      </p:sp>
      <p:pic>
        <p:nvPicPr>
          <p:cNvPr id="101" name="Google Shape;10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2A55726-B906-08A2-C43F-1B00FCF5F354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6</a:t>
            </a:fld>
            <a:endParaRPr lang="uk-UA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9"/>
          <p:cNvSpPr txBox="1">
            <a:spLocks noGrp="1"/>
          </p:cNvSpPr>
          <p:nvPr>
            <p:ph type="title"/>
          </p:nvPr>
        </p:nvSpPr>
        <p:spPr>
          <a:xfrm>
            <a:off x="311700" y="312400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sz="3200"/>
              <a:t>Програмне забезпечення</a:t>
            </a:r>
          </a:p>
        </p:txBody>
      </p:sp>
      <p:sp>
        <p:nvSpPr>
          <p:cNvPr id="107" name="Google Shape;107;p19"/>
          <p:cNvSpPr txBox="1">
            <a:spLocks noGrp="1"/>
          </p:cNvSpPr>
          <p:nvPr>
            <p:ph type="body" idx="1"/>
          </p:nvPr>
        </p:nvSpPr>
        <p:spPr>
          <a:xfrm>
            <a:off x="311700" y="1477100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Мова та середовище: Python 3.11, віртуальне середовище venv</a:t>
            </a:r>
          </a:p>
          <a:p>
            <a:r>
              <a:t>Embedding-фреймворки: sentence-transformers (Hugging Face), trust_remote_code для nomic та Qwen3</a:t>
            </a:r>
          </a:p>
          <a:p>
            <a:r>
              <a:t>Векторний індекс: FAISS IndexFlatIP з L2-нормалізацією векторів</a:t>
            </a:r>
          </a:p>
          <a:p>
            <a:r>
              <a:t>Лексичний базелайн: rank_bm25 (Okapi BM25)</a:t>
            </a:r>
          </a:p>
          <a:p>
            <a:r>
              <a:t>Web-фреймворк: Flask (Python)</a:t>
            </a:r>
          </a:p>
          <a:p>
            <a:r>
              <a:t>Підтримувані формати документів: PDF, DOCX, TXT, MD</a:t>
            </a:r>
          </a:p>
          <a:p>
            <a:r>
              <a:t>Моделі: BGE-M3 (BAAI), E5-base (intfloat/multilingual-e5-base), nomic-embed-text-v1.5, Qwen3-Embedding-0.6B (Alibaba)</a:t>
            </a:r>
          </a:p>
        </p:txBody>
      </p:sp>
      <p:pic>
        <p:nvPicPr>
          <p:cNvPr id="108" name="Google Shape;10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226AFC1-F793-030A-440F-FC50C3AEF715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7</a:t>
            </a:fld>
            <a:endParaRPr lang="uk-UA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/>
          <p:cNvSpPr txBox="1">
            <a:spLocks noGrp="1"/>
          </p:cNvSpPr>
          <p:nvPr>
            <p:ph type="title"/>
          </p:nvPr>
        </p:nvSpPr>
        <p:spPr>
          <a:xfrm>
            <a:off x="311700" y="-92038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r>
              <a:rPr sz="3200"/>
              <a:t>Benchmark dataset та умови експерименту</a:t>
            </a:r>
          </a:p>
        </p:txBody>
      </p:sp>
      <p:sp>
        <p:nvSpPr>
          <p:cNvPr id="114" name="Google Shape;114;p20"/>
          <p:cNvSpPr txBox="1">
            <a:spLocks noGrp="1"/>
          </p:cNvSpPr>
          <p:nvPr>
            <p:ph type="body" idx="1"/>
          </p:nvPr>
        </p:nvSpPr>
        <p:spPr>
          <a:xfrm>
            <a:off x="283725" y="1225225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Власноруч сформований domain-specific україномовний benchmark dataset</a:t>
            </a:r>
          </a:p>
          <a:p>
            <a:r>
              <a:t>Технічний домен: 10 документів, 178 чанків (програмна інженерія, ML, RAG, аномалії, 3D-друк)</a:t>
            </a:r>
          </a:p>
          <a:p>
            <a:r>
              <a:t>Юридичний домен: 13 документів, 1046 чанків (кодекси, нормативно-правові акти)</a:t>
            </a:r>
          </a:p>
          <a:p>
            <a:r>
              <a:t>Медичний домен: 9 документів, 267 чанків (клінічні протоколи, медичні рекомендації)</a:t>
            </a:r>
          </a:p>
          <a:p>
            <a:r>
              <a:t>Усього: 32 документи, 1 491 чанк, 300 пошукових запитів (по 100 на домен)</a:t>
            </a:r>
          </a:p>
          <a:p>
            <a:r>
              <a:t>Релевантні відповідності (qrels): сформовані автором вручну на рівні чанків</a:t>
            </a:r>
          </a:p>
          <a:p>
            <a:r>
              <a:t>Учасники експерименту: 4 нейронні embedding-моделі + BM25 базелайн на кожному з 3 доменів (15 експериментів)</a:t>
            </a:r>
          </a:p>
        </p:txBody>
      </p:sp>
      <p:pic>
        <p:nvPicPr>
          <p:cNvPr id="115" name="Google Shape;11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8624834-013E-7249-F488-C816A0DA9355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8</a:t>
            </a:fld>
            <a:endParaRPr lang="uk-UA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>
            <a:spLocks noGrp="1"/>
          </p:cNvSpPr>
          <p:nvPr>
            <p:ph type="title"/>
          </p:nvPr>
        </p:nvSpPr>
        <p:spPr>
          <a:xfrm>
            <a:off x="268925" y="-152998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r>
              <a:rPr sz="3200"/>
              <a:t>Результати експерименту: nDCG@10</a:t>
            </a:r>
          </a:p>
        </p:txBody>
      </p:sp>
      <p:sp>
        <p:nvSpPr>
          <p:cNvPr id="121" name="Google Shape;121;p21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Зведена таблиця nDCG@10 (вище — краще):</a:t>
            </a:r>
          </a:p>
          <a:p>
            <a:r>
              <a:t>BGE-M3: технічний 0.6722  |  юридичний 0.3065  |  медичний 0.4339</a:t>
            </a:r>
          </a:p>
          <a:p>
            <a:r>
              <a:t>Qwen3-Embedding-0.6B: 0.6325  |  0.3199  |  0.3629</a:t>
            </a:r>
          </a:p>
          <a:p>
            <a:r>
              <a:t>E5-base: 0.6121  |  0.2567  |  0.3909</a:t>
            </a:r>
          </a:p>
          <a:p>
            <a:r>
              <a:t>BM25 (базелайн): 0.4861  |  0.1875  |  0.3222</a:t>
            </a:r>
          </a:p>
          <a:p>
            <a:r>
              <a:t>nomic-embed-text-v1.5: 0.3765  |  0.0951  |  0.1668</a:t>
            </a:r>
          </a:p>
          <a:p>
            <a:r>
              <a:t>Bootstrap 95% CI (n = 2000) для технічного домену: BGE-M3 [0.606, 0.737] vs BM25 [0.431, 0.541] — інтервали не перетинаються (статистично значуща перевага)</a:t>
            </a:r>
          </a:p>
        </p:txBody>
      </p:sp>
      <p:pic>
        <p:nvPicPr>
          <p:cNvPr id="122" name="Google Shape;12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8800C66-AABB-EFA8-12F4-0C56A1243712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9</a:t>
            </a:fld>
            <a:endParaRPr lang="uk-UA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/>
          <p:cNvSpPr txBox="1">
            <a:spLocks noGrp="1"/>
          </p:cNvSpPr>
          <p:nvPr>
            <p:ph type="title"/>
          </p:nvPr>
        </p:nvSpPr>
        <p:spPr>
          <a:xfrm>
            <a:off x="268925" y="-143620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r>
              <a:rPr sz="3200"/>
              <a:t>Аналіз результатів</a:t>
            </a:r>
          </a:p>
        </p:txBody>
      </p:sp>
      <p:sp>
        <p:nvSpPr>
          <p:cNvPr id="128" name="Google Shape;128;p22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BGE-M3 — лідер у всіх 3 доменах за nDCG@10, MRR@10 та Recall@10</a:t>
            </a:r>
          </a:p>
          <a:p>
            <a:r>
              <a:t>Парето-оптимальні альтернативи: P = {BGE-M3, E5-base}</a:t>
            </a:r>
          </a:p>
          <a:p>
            <a:r>
              <a:t>Інтегральна оцінка U (доменно-специфічні ваги): BGE-M3 → 0.920 (тех.) / 0.927 (юр.) / 0.901 (мед.)</a:t>
            </a:r>
          </a:p>
          <a:p>
            <a:r>
              <a:t>E5-base — швидка альтернатива (~225 мс/запит проти ~2960 мс у BGE-M3)</a:t>
            </a:r>
          </a:p>
          <a:p>
            <a:r>
              <a:t>Qwen3-Embedding-0.6B — конкурентна якість, але ~1500 мс/запит на CPU робить її непрактичною без GPU</a:t>
            </a:r>
          </a:p>
          <a:p>
            <a:r>
              <a:t>nomic-embed-text-v1.5 — найслабші результати; в окремих доменах поступається BM25</a:t>
            </a:r>
          </a:p>
          <a:p>
            <a:r>
              <a:t>Метою досягнуто: визначено доцільність застосування сучасних embedding-моделей; обрано BGE-M3 як рекомендовану модель</a:t>
            </a:r>
          </a:p>
        </p:txBody>
      </p:sp>
      <p:pic>
        <p:nvPicPr>
          <p:cNvPr id="129" name="Google Shape;12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28D948D-369C-B702-98D8-76BFF8794D17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10</a:t>
            </a:fld>
            <a:endParaRPr lang="uk-UA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3"/>
          <p:cNvSpPr txBox="1">
            <a:spLocks noGrp="1"/>
          </p:cNvSpPr>
          <p:nvPr>
            <p:ph type="title"/>
          </p:nvPr>
        </p:nvSpPr>
        <p:spPr>
          <a:xfrm>
            <a:off x="268925" y="-186276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r>
              <a:rPr sz="3200"/>
              <a:t>Апробація результатів</a:t>
            </a:r>
          </a:p>
        </p:txBody>
      </p:sp>
      <p:sp>
        <p:nvSpPr>
          <p:cNvPr id="135" name="Google Shape;135;p23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Результати дослідження апробовано на двох наукових конференціях:</a:t>
            </a:r>
          </a:p>
          <a:p>
            <a:r>
              <a:t>1. 2-я Міжнародна науково-практична конференція «Innovative Research in Science and Economy» — стаття «Порівняльний аналіз ефективності моделей векторних ембеддінгів для задач семантичного пошуку в корпоративних базах знань»</a:t>
            </a:r>
          </a:p>
          <a:p>
            <a:r>
              <a:t>2. 30-й Міжнародний молодіжний форум «Радіоелектроніка та молодь у XXI столітті» (ХНУРЕ) — тези «Підвищення якості семантичного пошуку в базах знань із використанням векторних подань»</a:t>
            </a:r>
          </a:p>
          <a:p>
            <a:r>
              <a:t>Опубліковано 2 наукові праці у співавторстві з науковим керівником</a:t>
            </a:r>
          </a:p>
        </p:txBody>
      </p:sp>
      <p:pic>
        <p:nvPicPr>
          <p:cNvPr id="136" name="Google Shape;13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BB10B47-7B7A-16D3-B2F7-7BCD981C8FD9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11</a:t>
            </a:fld>
            <a:endParaRPr lang="uk-UA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4"/>
          <p:cNvSpPr txBox="1">
            <a:spLocks noGrp="1"/>
          </p:cNvSpPr>
          <p:nvPr>
            <p:ph type="title"/>
          </p:nvPr>
        </p:nvSpPr>
        <p:spPr>
          <a:xfrm>
            <a:off x="311700" y="-35287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r>
              <a:rPr sz="3200"/>
              <a:t>Підсумки та перспективи</a:t>
            </a:r>
          </a:p>
        </p:txBody>
      </p:sp>
      <p:sp>
        <p:nvSpPr>
          <p:cNvPr id="142" name="Google Shape;142;p24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Поставлену мету досягнуто: визначено доцільність застосування сучасних моделей векторних ембеддінгів для семантичного пошуку у корпоративних базах знань</a:t>
            </a:r>
          </a:p>
          <a:p>
            <a:r>
              <a:t>Розроблено програмну систему та власноруч сформовано benchmark dataset для україномовних доменно-специфічних колекцій</a:t>
            </a:r>
          </a:p>
          <a:p>
            <a:r>
              <a:t>Практичні рекомендації для впровадження:</a:t>
            </a:r>
          </a:p>
          <a:p>
            <a:r>
              <a:t>  – BGE-M3 як основна модель за якістю та стабільністю</a:t>
            </a:r>
          </a:p>
          <a:p>
            <a:r>
              <a:t>  – E5-base як швидка альтернатива для інтерактивного пошуку</a:t>
            </a:r>
          </a:p>
          <a:p>
            <a:r>
              <a:t>  – Qwen3-Embedding — лише за наявності GPU</a:t>
            </a:r>
          </a:p>
          <a:p>
            <a:r>
              <a:t>  – BM25 залишається конкурентним базелайном у певних доменах</a:t>
            </a:r>
          </a:p>
          <a:p>
            <a:r>
              <a:t>Перспективи: розширення benchmark-наборів, інтеграція reranking-підходів, повноцінна RAG-архітектура</a:t>
            </a:r>
          </a:p>
          <a:p>
            <a:r>
              <a:t>Дякую за увагу!</a:t>
            </a:r>
          </a:p>
        </p:txBody>
      </p:sp>
      <p:pic>
        <p:nvPicPr>
          <p:cNvPr id="143" name="Google Shape;14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B5B94D8-63F6-7EAC-6461-2DB4B135596F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12</a:t>
            </a:fld>
            <a:endParaRPr lang="uk-UA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57BB8A"/>
      </a:accent3>
      <a:accent4>
        <a:srgbClr val="78909C"/>
      </a:accent4>
      <a:accent5>
        <a:srgbClr val="607D8B"/>
      </a:accent5>
      <a:accent6>
        <a:srgbClr val="DCE755"/>
      </a:accent6>
      <a:hlink>
        <a:srgbClr val="607D8B"/>
      </a:hlink>
      <a:folHlink>
        <a:srgbClr val="607D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Презентация2" id="{0E3422D2-66DD-48A8-92AD-38892F6C1A30}" vid="{81CCDA4E-A18F-4826-B11D-205FC05A0769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C48185F-D27F-4569-B8CA-E87D2F1A45D6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763b6b1d-82db-4751-a58e-5d76e53ea6b5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Шаблон презентації квал роб маг</Template>
  <TotalTime>7</TotalTime>
  <Words>177</Words>
  <Application>Microsoft Office PowerPoint</Application>
  <PresentationFormat>On-screen Show (16:9)</PresentationFormat>
  <Paragraphs>60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Economica</vt:lpstr>
      <vt:lpstr>Open Sans</vt:lpstr>
      <vt:lpstr>Arial</vt:lpstr>
      <vt:lpstr>Luxe</vt:lpstr>
      <vt:lpstr>Дослідження моделей векторних ембеддінгів для семантичного пошуку текстових даних у корпоративних базах знань</vt:lpstr>
      <vt:lpstr>Дослідження</vt:lpstr>
      <vt:lpstr>Огляд літератури (аналогів) </vt:lpstr>
      <vt:lpstr>Постановка задачі</vt:lpstr>
      <vt:lpstr>Методологія </vt:lpstr>
      <vt:lpstr>Архітектура система для проведення експериментального дослідження</vt:lpstr>
      <vt:lpstr>Опис програмного забезпечення, що було використано у дослідженні</vt:lpstr>
      <vt:lpstr>Зміст проведеного експерименту</vt:lpstr>
      <vt:lpstr>Результати експерименту </vt:lpstr>
      <vt:lpstr>Аналіз отриманих результатів </vt:lpstr>
      <vt:lpstr>Публікація результатів </vt:lpstr>
      <vt:lpstr>Підсумки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Віталій Нестеренко</dc:creator>
  <cp:lastModifiedBy>Віталій Нестеренко</cp:lastModifiedBy>
  <cp:revision>6</cp:revision>
  <dcterms:created xsi:type="dcterms:W3CDTF">2026-05-01T19:10:02Z</dcterms:created>
  <dcterms:modified xsi:type="dcterms:W3CDTF">2026-05-01T19:17:25Z</dcterms:modified>
</cp:coreProperties>
</file>
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8" r:id="rId27"/>
    <p:sldId id="260" r:id="rId6"/>
    <p:sldId id="269" r:id="rId28"/>
    <p:sldId id="270" r:id="rId29"/>
    <p:sldId id="261" r:id="rId7"/>
    <p:sldId id="262" r:id="rId8"/>
    <p:sldId id="263" r:id="rId9"/>
    <p:sldId id="273" r:id="rId32"/>
    <p:sldId id="264" r:id="rId10"/>
    <p:sldId id="271" r:id="rId30"/>
    <p:sldId id="265" r:id="rId11"/>
    <p:sldId id="272" r:id="rId31"/>
    <p:sldId id="266" r:id="rId12"/>
    <p:sldId id="267" r:id="rId13"/>
  </p:sldIdLst>
  <p:sldSz cx="9144000" cy="5143500" type="screen16x9"/>
  <p:notesSz cx="6858000" cy="9144000"/>
  <p:embeddedFontLst>
    <p:embeddedFont>
      <p:font typeface="Economica" panose="020B0604020202020204" charset="0"/>
      <p:regular r:id="rId15"/>
      <p:bold r:id="rId16"/>
      <p:italic r:id="rId17"/>
      <p:boldItalic r:id="rId18"/>
    </p:embeddedFont>
    <p:embeddedFont>
      <p:font typeface="Open Sans" panose="020B0606030504020204" pitchFamily="34" charset="0"/>
      <p:regular r:id="rId19"/>
      <p:bold r:id="rId20"/>
      <p:italic r:id="rId21"/>
      <p:boldItalic r:id="rId2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754" y="11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font" Target="fonts/font1.fntdata"/><Relationship Id="rId16" Type="http://schemas.openxmlformats.org/officeDocument/2006/relationships/font" Target="fonts/font2.fntdata"/><Relationship Id="rId17" Type="http://schemas.openxmlformats.org/officeDocument/2006/relationships/font" Target="fonts/font3.fntdata"/><Relationship Id="rId18" Type="http://schemas.openxmlformats.org/officeDocument/2006/relationships/font" Target="fonts/font4.fntdata"/><Relationship Id="rId19" Type="http://schemas.openxmlformats.org/officeDocument/2006/relationships/font" Target="fonts/font5.fntdata"/><Relationship Id="rId20" Type="http://schemas.openxmlformats.org/officeDocument/2006/relationships/font" Target="fonts/font6.fntdata"/><Relationship Id="rId21" Type="http://schemas.openxmlformats.org/officeDocument/2006/relationships/font" Target="fonts/font7.fntdata"/><Relationship Id="rId22" Type="http://schemas.openxmlformats.org/officeDocument/2006/relationships/font" Target="fonts/font8.fntdata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MRR@10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0.6993</c:v>
                </c:pt>
                <c:pt idx="1">
                  <c:v>0.3831</c:v>
                </c:pt>
                <c:pt idx="2">
                  <c:v>0.5054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0.664</c:v>
                </c:pt>
                <c:pt idx="1">
                  <c:v>0.3999</c:v>
                </c:pt>
                <c:pt idx="2">
                  <c:v>0.4184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0.634</c:v>
                </c:pt>
                <c:pt idx="1">
                  <c:v>0.3145</c:v>
                </c:pt>
                <c:pt idx="2">
                  <c:v>0.4888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0.4808</c:v>
                </c:pt>
                <c:pt idx="1">
                  <c:v>0.2533</c:v>
                </c:pt>
                <c:pt idx="2">
                  <c:v>0.4003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0.4122</c:v>
                </c:pt>
                <c:pt idx="1">
                  <c:v>0.1384</c:v>
                </c:pt>
                <c:pt idx="2">
                  <c:v>0.211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Recall@10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0.815</c:v>
                </c:pt>
                <c:pt idx="1">
                  <c:v>0.375</c:v>
                </c:pt>
                <c:pt idx="2">
                  <c:v>0.545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0.7792</c:v>
                </c:pt>
                <c:pt idx="1">
                  <c:v>0.375</c:v>
                </c:pt>
                <c:pt idx="2">
                  <c:v>0.4483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0.78</c:v>
                </c:pt>
                <c:pt idx="1">
                  <c:v>0.35</c:v>
                </c:pt>
                <c:pt idx="2">
                  <c:v>0.4583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0.7542</c:v>
                </c:pt>
                <c:pt idx="1">
                  <c:v>0.2333</c:v>
                </c:pt>
                <c:pt idx="2">
                  <c:v>0.3983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0.4725</c:v>
                </c:pt>
                <c:pt idx="1">
                  <c:v>0.125</c:v>
                </c:pt>
                <c:pt idx="2">
                  <c:v>0.1917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P@10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0.143</c:v>
                </c:pt>
                <c:pt idx="1">
                  <c:v>0.106</c:v>
                </c:pt>
                <c:pt idx="2">
                  <c:v>0.14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0.136</c:v>
                </c:pt>
                <c:pt idx="1">
                  <c:v>0.107</c:v>
                </c:pt>
                <c:pt idx="2">
                  <c:v>0.115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0.136</c:v>
                </c:pt>
                <c:pt idx="1">
                  <c:v>0.099</c:v>
                </c:pt>
                <c:pt idx="2">
                  <c:v>0.114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0.134</c:v>
                </c:pt>
                <c:pt idx="1">
                  <c:v>0.064</c:v>
                </c:pt>
                <c:pt idx="2">
                  <c:v>0.1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Тех.</c:v>
                </c:pt>
                <c:pt idx="1">
                  <c:v>Юр.</c:v>
                </c:pt>
                <c:pt idx="2">
                  <c:v>Мед.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0.075</c:v>
                </c:pt>
                <c:pt idx="1">
                  <c:v>0.037</c:v>
                </c:pt>
                <c:pt idx="2">
                  <c:v>0.051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 b="1">
                <a:solidFill>
                  <a:srgbClr val="1E3A8A"/>
                </a:solidFill>
              </a:rPr>
              <a:t>Інтегральна оцінка U(aᵢ) за доменами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solidFill>
              <a:srgbClr val="16A34A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0.92</c:v>
                </c:pt>
                <c:pt idx="1">
                  <c:v>0.927</c:v>
                </c:pt>
                <c:pt idx="2">
                  <c:v>0.901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E5-base</c:v>
                </c:pt>
              </c:strCache>
            </c:strRef>
          </c:tx>
          <c:spPr>
            <a:solidFill>
              <a:srgbClr val="3B82F6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0.842</c:v>
                </c:pt>
                <c:pt idx="1">
                  <c:v>0.77</c:v>
                </c:pt>
                <c:pt idx="2">
                  <c:v>0.745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Qwen3</c:v>
                </c:pt>
              </c:strCache>
            </c:strRef>
          </c:tx>
          <c:spPr>
            <a:solidFill>
              <a:srgbClr val="F59E0B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0.65</c:v>
                </c:pt>
                <c:pt idx="1">
                  <c:v>0.77</c:v>
                </c:pt>
                <c:pt idx="2">
                  <c:v>0.58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BM25</c:v>
                </c:pt>
              </c:strCache>
            </c:strRef>
          </c:tx>
          <c:spPr>
            <a:solidFill>
              <a:srgbClr val="64748B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0.425</c:v>
                </c:pt>
                <c:pt idx="1">
                  <c:v>0.35</c:v>
                </c:pt>
                <c:pt idx="2">
                  <c:v>0.4</c:v>
                </c:pt>
              </c:numCache>
            </c:numRef>
          </c:val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nomic</c:v>
                </c:pt>
              </c:strCache>
            </c:strRef>
          </c:tx>
          <c:spPr>
            <a:solidFill>
              <a:srgbClr val="DC2626"/>
            </a:solidFill>
          </c:spPr>
          <c:cat>
            <c:strRef>
              <c:f>Sheet1!$A$2:$A$4</c:f>
              <c:strCache>
                <c:ptCount val="3"/>
                <c:pt idx="0">
                  <c:v>Технічний</c:v>
                </c:pt>
                <c:pt idx="1">
                  <c:v>Юридичний</c:v>
                </c:pt>
                <c:pt idx="2">
                  <c:v>Медичний</c:v>
                </c:pt>
              </c:strCache>
            </c:strRef>
          </c:cat>
          <c:val>
            <c:numRef>
              <c:f>Sheet1!$F$2:$F$4</c:f>
              <c:numCache>
                <c:formatCode>General</c:formatCode>
                <c:ptCount val="3"/>
                <c:pt idx="0">
                  <c:v>0.35</c:v>
                </c:pt>
                <c:pt idx="1">
                  <c:v>0.18</c:v>
                </c:pt>
                <c:pt idx="2">
                  <c:v>0.22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1"/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BGE-M3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16A34A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Sheet1!$A$2:$A$4</c:f>
              <c:numCache>
                <c:formatCode>General</c:formatCode>
                <c:ptCount val="3"/>
                <c:pt idx="0">
                  <c:v>2960</c:v>
                </c:pt>
                <c:pt idx="1">
                  <c:v>202.9</c:v>
                </c:pt>
                <c:pt idx="2">
                  <c:v>236.3</c:v>
                </c:pt>
              </c:numCache>
            </c:numRef>
          </c:xVal>
          <c:yVal>
            <c:numRef>
              <c:f>Sheet1!$B$2:$B$4</c:f>
              <c:numCache>
                <c:formatCode>General</c:formatCode>
                <c:ptCount val="3"/>
                <c:pt idx="0">
                  <c:v>0.6722</c:v>
                </c:pt>
                <c:pt idx="1">
                  <c:v>0.3065</c:v>
                </c:pt>
                <c:pt idx="2">
                  <c:v>0.4339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Sheet1!$B$6</c:f>
              <c:strCache>
                <c:ptCount val="1"/>
                <c:pt idx="0">
                  <c:v>E5-base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3B82F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Sheet1!$A$7:$A$9</c:f>
              <c:numCache>
                <c:formatCode>General</c:formatCode>
                <c:ptCount val="3"/>
                <c:pt idx="0">
                  <c:v>225.1</c:v>
                </c:pt>
                <c:pt idx="1">
                  <c:v>67.0</c:v>
                </c:pt>
                <c:pt idx="2">
                  <c:v>80.3</c:v>
                </c:pt>
              </c:numCache>
            </c:numRef>
          </c:xVal>
          <c:yVal>
            <c:numRef>
              <c:f>Sheet1!$B$7:$B$9</c:f>
              <c:numCache>
                <c:formatCode>General</c:formatCode>
                <c:ptCount val="3"/>
                <c:pt idx="0">
                  <c:v>0.6121</c:v>
                </c:pt>
                <c:pt idx="1">
                  <c:v>0.2567</c:v>
                </c:pt>
                <c:pt idx="2">
                  <c:v>0.3909</c:v>
                </c:pt>
              </c:numCache>
            </c:numRef>
          </c:yVal>
          <c:smooth val="0"/>
        </c:ser>
        <c:ser>
          <c:idx val="2"/>
          <c:order val="2"/>
          <c:tx>
            <c:strRef>
              <c:f>Sheet1!$B$11</c:f>
              <c:strCache>
                <c:ptCount val="1"/>
                <c:pt idx="0">
                  <c:v>Qwen3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F59E0B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Sheet1!$A$12:$A$14</c:f>
              <c:numCache>
                <c:formatCode>General</c:formatCode>
                <c:ptCount val="3"/>
                <c:pt idx="0">
                  <c:v>365.4</c:v>
                </c:pt>
                <c:pt idx="1">
                  <c:v>399.1</c:v>
                </c:pt>
                <c:pt idx="2">
                  <c:v>465.9</c:v>
                </c:pt>
              </c:numCache>
            </c:numRef>
          </c:xVal>
          <c:yVal>
            <c:numRef>
              <c:f>Sheet1!$B$12:$B$14</c:f>
              <c:numCache>
                <c:formatCode>General</c:formatCode>
                <c:ptCount val="3"/>
                <c:pt idx="0">
                  <c:v>0.6325</c:v>
                </c:pt>
                <c:pt idx="1">
                  <c:v>0.3199</c:v>
                </c:pt>
                <c:pt idx="2">
                  <c:v>0.3629</c:v>
                </c:pt>
              </c:numCache>
            </c:numRef>
          </c:yVal>
          <c:smooth val="0"/>
        </c:ser>
        <c:ser>
          <c:idx val="3"/>
          <c:order val="3"/>
          <c:tx>
            <c:strRef>
              <c:f>Sheet1!$B$16</c:f>
              <c:strCache>
                <c:ptCount val="1"/>
                <c:pt idx="0">
                  <c:v>BM25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64748B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Sheet1!$A$17:$A$19</c:f>
              <c:numCache>
                <c:formatCode>General</c:formatCode>
                <c:ptCount val="3"/>
                <c:pt idx="0">
                  <c:v>1.5</c:v>
                </c:pt>
                <c:pt idx="1">
                  <c:v>2.9</c:v>
                </c:pt>
                <c:pt idx="2">
                  <c:v>0.6</c:v>
                </c:pt>
              </c:numCache>
            </c:numRef>
          </c:xVal>
          <c:yVal>
            <c:numRef>
              <c:f>Sheet1!$B$17:$B$19</c:f>
              <c:numCache>
                <c:formatCode>General</c:formatCode>
                <c:ptCount val="3"/>
                <c:pt idx="0">
                  <c:v>0.4861</c:v>
                </c:pt>
                <c:pt idx="1">
                  <c:v>0.1875</c:v>
                </c:pt>
                <c:pt idx="2">
                  <c:v>0.3222</c:v>
                </c:pt>
              </c:numCache>
            </c:numRef>
          </c:yVal>
          <c:smooth val="0"/>
        </c:ser>
        <c:ser>
          <c:idx val="4"/>
          <c:order val="4"/>
          <c:tx>
            <c:strRef>
              <c:f>Sheet1!$B$21</c:f>
              <c:strCache>
                <c:ptCount val="1"/>
                <c:pt idx="0">
                  <c:v>nomic</c:v>
                </c:pt>
              </c:strCache>
            </c:strRef>
          </c:tx>
          <c:spPr>
            <a:ln w="47625">
              <a:noFill/>
            </a:ln>
          </c:spPr>
          <c:marker>
            <c:symbol val="circle"/>
            <c:size val="12"/>
            <c:spPr>
              <a:solidFill>
                <a:srgbClr val="DC2626"/>
              </a:solidFill>
              <a:ln>
                <a:solidFill>
                  <a:srgbClr val="FFFFFF"/>
                </a:solidFill>
              </a:ln>
            </c:spPr>
          </c:marker>
          <c:xVal>
            <c:numRef>
              <c:f>Sheet1!$A$22:$A$24</c:f>
              <c:numCache>
                <c:formatCode>General</c:formatCode>
                <c:ptCount val="3"/>
                <c:pt idx="0">
                  <c:v>407.4</c:v>
                </c:pt>
                <c:pt idx="1">
                  <c:v>131.6</c:v>
                </c:pt>
                <c:pt idx="2">
                  <c:v>150.4</c:v>
                </c:pt>
              </c:numCache>
            </c:numRef>
          </c:xVal>
          <c:yVal>
            <c:numRef>
              <c:f>Sheet1!$B$22:$B$24</c:f>
              <c:numCache>
                <c:formatCode>General</c:formatCode>
                <c:ptCount val="3"/>
                <c:pt idx="0">
                  <c:v>0.3765</c:v>
                </c:pt>
                <c:pt idx="1">
                  <c:v>0.0951</c:v>
                </c:pt>
                <c:pt idx="2">
                  <c:v>0.1668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logBase val="10"/>
        </c:scaling>
        <c:delete val="0"/>
        <c:axPos val="b"/>
        <c:title>
          <c:tx>
            <c:rich>
              <a:bodyPr/>
              <a:lstStyle/>
              <a:p>
                <a:r>
                  <a:rPr sz="1000">
                    <a:solidFill>
                      <a:srgbClr val="1F2937"/>
                    </a:solidFill>
                  </a:rPr>
                  <a:t>Час відповіді (мс/запит, log scale)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title>
          <c:tx>
            <c:rich>
              <a:bodyPr/>
              <a:lstStyle/>
              <a:p>
                <a:r>
                  <a:rPr sz="1000">
                    <a:solidFill>
                      <a:srgbClr val="1F2937"/>
                    </a:solidFill>
                  </a:rPr>
                  <a:t>nDCG@10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b"/>
      <c:layout/>
      <c:overlay val="0"/>
      <c:txPr>
        <a:bodyPr/>
        <a:lstStyle/>
        <a:p>
          <a:pPr>
            <a:defRPr sz="10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" name="Google Shape;6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20ddf966691_0_1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" name="Google Shape;69;g20ddf966691_0_1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2e16b2adad1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2e16b2adad1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2e16b2adad1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2e16b2adad1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2e16b2adad1_0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2e16b2adad1_0_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g2e16b2adad1_0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" name="Google Shape;97;g2e16b2adad1_0_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2e16b2adad1_0_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4" name="Google Shape;104;g2e16b2adad1_0_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g2e16b2adad1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1" name="Google Shape;111;g2e16b2adad1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2e16b2adad1_0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2e16b2adad1_0_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g2e16b2adad1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5" name="Google Shape;125;g2e16b2adad1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2e16b2adad1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2" name="Google Shape;132;g2e16b2adad1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2e16b2adad1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2e16b2adad1_0_5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2744013" y="756700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1" name="Google Shape;11;p2"/>
          <p:cNvSpPr/>
          <p:nvPr/>
        </p:nvSpPr>
        <p:spPr>
          <a:xfrm rot="10800000">
            <a:off x="5318350" y="32667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3044700" y="1444255"/>
            <a:ext cx="3054600" cy="1537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3044700" y="3116580"/>
            <a:ext cx="3054600" cy="701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Economica"/>
              <a:buNone/>
              <a:defRPr sz="21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 flipH="1">
            <a:off x="7595938" y="4602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7" name="Google Shape;17;p3"/>
          <p:cNvSpPr/>
          <p:nvPr/>
        </p:nvSpPr>
        <p:spPr>
          <a:xfrm rot="10800000" flipH="1">
            <a:off x="466425" y="3558325"/>
            <a:ext cx="1081625" cy="1124950"/>
          </a:xfrm>
          <a:custGeom>
            <a:avLst/>
            <a:gdLst/>
            <a:ahLst/>
            <a:cxnLst/>
            <a:rect l="l" t="t" r="r" b="b"/>
            <a:pathLst>
              <a:path w="43265" h="44998" extrusionOk="0">
                <a:moveTo>
                  <a:pt x="0" y="44998"/>
                </a:moveTo>
                <a:lnTo>
                  <a:pt x="0" y="0"/>
                </a:lnTo>
                <a:lnTo>
                  <a:pt x="43265" y="0"/>
                </a:lnTo>
              </a:path>
            </a:pathLst>
          </a:custGeom>
          <a:noFill/>
          <a:ln w="28575" cap="flat" cmpd="sng">
            <a:solidFill>
              <a:schemeClr val="lt2"/>
            </a:solidFill>
            <a:prstDash val="solid"/>
            <a:miter lim="8000"/>
            <a:headEnd type="none" w="sm" len="sm"/>
            <a:tailEnd type="none" w="sm" len="sm"/>
          </a:ln>
        </p:spPr>
      </p:sp>
      <p:sp>
        <p:nvSpPr>
          <p:cNvPr id="18" name="Google Shape;18;p3"/>
          <p:cNvSpPr txBox="1">
            <a:spLocks noGrp="1"/>
          </p:cNvSpPr>
          <p:nvPr>
            <p:ph type="title"/>
          </p:nvPr>
        </p:nvSpPr>
        <p:spPr>
          <a:xfrm>
            <a:off x="773700" y="1806450"/>
            <a:ext cx="7596600" cy="153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Google Shape;24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7" name="Google Shape;27;p5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Google Shape;28;p5"/>
          <p:cNvSpPr txBox="1">
            <a:spLocks noGrp="1"/>
          </p:cNvSpPr>
          <p:nvPr>
            <p:ph type="body" idx="2"/>
          </p:nvPr>
        </p:nvSpPr>
        <p:spPr>
          <a:xfrm>
            <a:off x="4832400" y="1225225"/>
            <a:ext cx="3999900" cy="3354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Google Shape;29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6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2" name="Google Shape;32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5" name="Google Shape;35;p7"/>
          <p:cNvSpPr txBox="1">
            <a:spLocks noGrp="1"/>
          </p:cNvSpPr>
          <p:nvPr>
            <p:ph type="body" idx="1"/>
          </p:nvPr>
        </p:nvSpPr>
        <p:spPr>
          <a:xfrm>
            <a:off x="311700" y="1399400"/>
            <a:ext cx="2808000" cy="278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6" name="Google Shape;36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5878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0" name="Google Shape;40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9"/>
          <p:cNvSpPr/>
          <p:nvPr/>
        </p:nvSpPr>
        <p:spPr>
          <a:xfrm>
            <a:off x="4572000" y="-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3" name="Google Shape;43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4" name="Google Shape;44;p9"/>
          <p:cNvSpPr txBox="1">
            <a:spLocks noGrp="1"/>
          </p:cNvSpPr>
          <p:nvPr>
            <p:ph type="title"/>
          </p:nvPr>
        </p:nvSpPr>
        <p:spPr>
          <a:xfrm>
            <a:off x="265500" y="929275"/>
            <a:ext cx="4045200" cy="1786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200"/>
              <a:buNone/>
              <a:defRPr>
                <a:solidFill>
                  <a:schemeClr val="lt2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45" name="Google Shape;45;p9"/>
          <p:cNvSpPr txBox="1">
            <a:spLocks noGrp="1"/>
          </p:cNvSpPr>
          <p:nvPr>
            <p:ph type="subTitle" idx="1"/>
          </p:nvPr>
        </p:nvSpPr>
        <p:spPr>
          <a:xfrm>
            <a:off x="265500" y="2769001"/>
            <a:ext cx="4045200" cy="1574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6" name="Google Shape;46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7" name="Google Shape;47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0"/>
          <p:cNvSpPr txBox="1">
            <a:spLocks noGrp="1"/>
          </p:cNvSpPr>
          <p:nvPr>
            <p:ph type="body" idx="1"/>
          </p:nvPr>
        </p:nvSpPr>
        <p:spPr>
          <a:xfrm>
            <a:off x="319500" y="42189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Economica"/>
              <a:buNone/>
              <a:defRPr sz="2400">
                <a:latin typeface="Economica"/>
                <a:ea typeface="Economica"/>
                <a:cs typeface="Economica"/>
                <a:sym typeface="Economica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0" name="Google Shape;50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1"/>
          <p:cNvSpPr/>
          <p:nvPr/>
        </p:nvSpPr>
        <p:spPr>
          <a:xfrm>
            <a:off x="0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53;p11"/>
          <p:cNvSpPr txBox="1">
            <a:spLocks noGrp="1"/>
          </p:cNvSpPr>
          <p:nvPr>
            <p:ph type="title" hasCustomPrompt="1"/>
          </p:nvPr>
        </p:nvSpPr>
        <p:spPr>
          <a:xfrm>
            <a:off x="311700" y="957125"/>
            <a:ext cx="8520600" cy="212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6000"/>
              <a:buNone/>
              <a:defRPr sz="16000">
                <a:solidFill>
                  <a:schemeClr val="lt2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4" name="Google Shape;54;p11"/>
          <p:cNvSpPr txBox="1">
            <a:spLocks noGrp="1"/>
          </p:cNvSpPr>
          <p:nvPr>
            <p:ph type="body" idx="1"/>
          </p:nvPr>
        </p:nvSpPr>
        <p:spPr>
          <a:xfrm>
            <a:off x="311700" y="316200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5" name="Google Shape;55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Пустой слайд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luxe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315925"/>
            <a:ext cx="8520600" cy="83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Economica"/>
              <a:buNone/>
              <a:defRPr sz="42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25225"/>
            <a:ext cx="8520600" cy="3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Open Sans"/>
              <a:buChar char="●"/>
              <a:defRPr sz="1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●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○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Open Sans"/>
              <a:buChar char="■"/>
              <a:defRPr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1pPr>
            <a:lvl2pPr lvl="1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2pPr>
            <a:lvl3pPr lvl="2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3pPr>
            <a:lvl4pPr lvl="3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4pPr>
            <a:lvl5pPr lvl="4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5pPr>
            <a:lvl6pPr lvl="5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6pPr>
            <a:lvl7pPr lvl="6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7pPr>
            <a:lvl8pPr lvl="7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8pPr>
            <a:lvl9pPr lvl="8" algn="r">
              <a:buNone/>
              <a:defRPr sz="1000">
                <a:solidFill>
                  <a:schemeClr val="dk1"/>
                </a:solidFill>
                <a:latin typeface="Economica"/>
                <a:ea typeface="Economica"/>
                <a:cs typeface="Economica"/>
                <a:sym typeface="Economic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uk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Relationship Id="rId4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1.xml"/><Relationship Id="rId4" Type="http://schemas.openxmlformats.org/officeDocument/2006/relationships/chart" Target="../charts/chart2.xml"/><Relationship Id="rId5" Type="http://schemas.openxmlformats.org/officeDocument/2006/relationships/chart" Target="../charts/chart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chart" Target="../charts/char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3"/>
          <p:cNvSpPr txBox="1">
            <a:spLocks noGrp="1"/>
          </p:cNvSpPr>
          <p:nvPr>
            <p:ph type="ctrTitle"/>
          </p:nvPr>
        </p:nvSpPr>
        <p:spPr>
          <a:xfrm>
            <a:off x="2805450" y="821301"/>
            <a:ext cx="4406587" cy="896968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 err="1"/>
              <a:t>Дослідження</a:t>
            </a:r>
            <a:r>
              <a:rPr lang="ru-RU" sz="1600" dirty="0"/>
              <a:t> моделей </a:t>
            </a:r>
            <a:r>
              <a:rPr lang="ru-RU" sz="1600" dirty="0" err="1"/>
              <a:t>векторних</a:t>
            </a:r>
            <a:r>
              <a:rPr lang="ru-RU" sz="1600" dirty="0"/>
              <a:t> ембеддінгів для</a:t>
            </a:r>
            <a:r>
              <a:rPr lang="en-US" sz="1600" dirty="0"/>
              <a:t> </a:t>
            </a:r>
            <a:r>
              <a:rPr lang="ru-RU" sz="1600" dirty="0" err="1"/>
              <a:t>семантичного</a:t>
            </a:r>
            <a:r>
              <a:rPr lang="ru-RU" sz="1600" dirty="0"/>
              <a:t> </a:t>
            </a:r>
            <a:r>
              <a:rPr lang="ru-RU" sz="1600" dirty="0" err="1"/>
              <a:t>пошуку</a:t>
            </a:r>
            <a:r>
              <a:rPr lang="ru-RU" sz="1600" dirty="0"/>
              <a:t> </a:t>
            </a:r>
            <a:r>
              <a:rPr lang="ru-RU" sz="1600" dirty="0" err="1"/>
              <a:t>текстових</a:t>
            </a:r>
            <a:r>
              <a:rPr lang="ru-RU" sz="1600" dirty="0"/>
              <a:t> </a:t>
            </a:r>
            <a:r>
              <a:rPr lang="ru-RU" sz="1600" dirty="0" err="1"/>
              <a:t>даних</a:t>
            </a:r>
            <a:r>
              <a:rPr lang="ru-RU" sz="1600" dirty="0"/>
              <a:t> у </a:t>
            </a:r>
            <a:r>
              <a:rPr lang="ru-RU" sz="1600" dirty="0" err="1"/>
              <a:t>корпоративних</a:t>
            </a:r>
            <a:r>
              <a:rPr lang="ru-RU" sz="1600" dirty="0"/>
              <a:t> базах </a:t>
            </a:r>
            <a:r>
              <a:rPr lang="ru-RU" sz="1600" dirty="0" err="1"/>
              <a:t>знань</a:t>
            </a:r>
            <a:endParaRPr lang="ru-RU" sz="1600" dirty="0"/>
          </a:p>
        </p:txBody>
      </p:sp>
      <p:sp>
        <p:nvSpPr>
          <p:cNvPr id="63" name="Google Shape;63;p13"/>
          <p:cNvSpPr txBox="1">
            <a:spLocks noGrp="1"/>
          </p:cNvSpPr>
          <p:nvPr>
            <p:ph type="subTitle" idx="1"/>
          </p:nvPr>
        </p:nvSpPr>
        <p:spPr>
          <a:xfrm>
            <a:off x="1948250" y="3282462"/>
            <a:ext cx="5087400" cy="179597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Нестеренко Віталій Вячеславович, ІПЗм-24-1</a:t>
            </a:r>
            <a:endParaRPr sz="16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Науковий керівник: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к.т.н., доцент Русакова Наталія Євгенівна</a:t>
            </a: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uk-UA"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600" dirty="0"/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uk" sz="1600" dirty="0"/>
              <a:t>15 травня 2026</a:t>
            </a:r>
            <a:endParaRPr sz="1600" dirty="0"/>
          </a:p>
        </p:txBody>
      </p:sp>
      <p:pic>
        <p:nvPicPr>
          <p:cNvPr id="64" name="Google Shape;6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65" name="Google Shape;6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4725" y="170825"/>
            <a:ext cx="2133975" cy="389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6" name="Google Shape;66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068504" y="170825"/>
            <a:ext cx="1924921" cy="439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Актуальність, мета та задачі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ounded Rectangle 73"/>
          <p:cNvSpPr/>
          <p:nvPr/>
        </p:nvSpPr>
        <p:spPr>
          <a:xfrm>
            <a:off x="310896" y="1225296"/>
            <a:ext cx="8522208" cy="9144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F59E0B"/>
                </a:solidFill>
                <a:latin typeface="Calibri"/>
              </a:rPr>
              <a:t>МЕТА: </a:t>
            </a:r>
            <a:r>
              <a:rPr sz="1100">
                <a:solidFill>
                  <a:srgbClr val="FFFFFF"/>
                </a:solidFill>
                <a:latin typeface="Calibri"/>
              </a:rPr>
              <a:t>визначення доцільності застосування сучасних моделей векторних ембеддінгів для підвищення ефективності семантичного пошуку текстових документів у корпоративних базах знань шляхом їх порівняльного експериментального дослідження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11480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Аналіз
предметної галузі</a:t>
            </a:r>
          </a:p>
        </p:txBody>
      </p:sp>
      <p:sp>
        <p:nvSpPr>
          <p:cNvPr id="76" name="Oval 75"/>
          <p:cNvSpPr/>
          <p:nvPr/>
        </p:nvSpPr>
        <p:spPr>
          <a:xfrm>
            <a:off x="466344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1810512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Огляд
embedding-моделей</a:t>
            </a:r>
          </a:p>
        </p:txBody>
      </p:sp>
      <p:sp>
        <p:nvSpPr>
          <p:cNvPr id="78" name="Oval 77"/>
          <p:cNvSpPr/>
          <p:nvPr/>
        </p:nvSpPr>
        <p:spPr>
          <a:xfrm>
            <a:off x="1865376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209544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Формування
benchmark dataset</a:t>
            </a:r>
          </a:p>
        </p:txBody>
      </p:sp>
      <p:sp>
        <p:nvSpPr>
          <p:cNvPr id="80" name="Oval 79"/>
          <p:cNvSpPr/>
          <p:nvPr/>
        </p:nvSpPr>
        <p:spPr>
          <a:xfrm>
            <a:off x="3264408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4608576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Реалізація
системи пошуку</a:t>
            </a:r>
          </a:p>
        </p:txBody>
      </p:sp>
      <p:sp>
        <p:nvSpPr>
          <p:cNvPr id="82" name="Oval 81"/>
          <p:cNvSpPr/>
          <p:nvPr/>
        </p:nvSpPr>
        <p:spPr>
          <a:xfrm>
            <a:off x="4663440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6007608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Оцінка
якості моделей</a:t>
            </a:r>
          </a:p>
        </p:txBody>
      </p:sp>
      <p:sp>
        <p:nvSpPr>
          <p:cNvPr id="84" name="Oval 83"/>
          <p:cNvSpPr/>
          <p:nvPr/>
        </p:nvSpPr>
        <p:spPr>
          <a:xfrm>
            <a:off x="6062472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406640" y="2304288"/>
            <a:ext cx="1325880" cy="8686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rIns="54864" tIns="54864" bIns="54864"/>
          <a:lstStyle/>
          <a:p>
            <a:pPr algn="l"/>
            <a:r>
              <a:rPr sz="950" b="1">
                <a:solidFill>
                  <a:srgbClr val="1F2937"/>
                </a:solidFill>
                <a:latin typeface="Calibri"/>
              </a:rPr>
              <a:t>Вибір
оптимальної моделі</a:t>
            </a:r>
          </a:p>
        </p:txBody>
      </p:sp>
      <p:sp>
        <p:nvSpPr>
          <p:cNvPr id="86" name="Oval 85"/>
          <p:cNvSpPr/>
          <p:nvPr/>
        </p:nvSpPr>
        <p:spPr>
          <a:xfrm>
            <a:off x="7461504" y="2350008"/>
            <a:ext cx="292608" cy="29260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10896" y="3337560"/>
            <a:ext cx="4192524" cy="3200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ОБ'ЄКТ ДОСЛІДЖЕННЯ</a:t>
            </a:r>
          </a:p>
        </p:txBody>
      </p:sp>
      <p:sp>
        <p:nvSpPr>
          <p:cNvPr id="88" name="Rectangle 87"/>
          <p:cNvSpPr/>
          <p:nvPr/>
        </p:nvSpPr>
        <p:spPr>
          <a:xfrm>
            <a:off x="310896" y="3657600"/>
            <a:ext cx="4192524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процеси формування та використання векторних подань текстових даних</a:t>
            </a:r>
          </a:p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у системах семантичного пошуку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40580" y="3337560"/>
            <a:ext cx="4192524" cy="32004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900" b="1">
                <a:solidFill>
                  <a:srgbClr val="FFFFFF"/>
                </a:solidFill>
                <a:latin typeface="Calibri"/>
              </a:rPr>
              <a:t>ПРЕДМЕТ ДОСЛІДЖЕННЯ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640580" y="3657600"/>
            <a:ext cx="4192524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моделі векторних ембеддінгів для семантичного пошуку</a:t>
            </a:r>
          </a:p>
          <a:p>
            <a:pPr algn="l"/>
            <a:r>
              <a:rPr sz="950">
                <a:solidFill>
                  <a:srgbClr val="1F2937"/>
                </a:solidFill>
                <a:latin typeface="Calibri"/>
              </a:rPr>
              <a:t>у корпоративних базах знань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>
            <a:spLocks noGrp="1"/>
          </p:cNvSpPr>
          <p:nvPr>
            <p:ph type="title"/>
          </p:nvPr>
        </p:nvSpPr>
        <p:spPr>
          <a:xfrm>
            <a:off x="311700" y="-124863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Огляд літератури: еволюція моделей</a:t>
            </a:r>
          </a:p>
        </p:txBody>
      </p:sp>
      <p:pic>
        <p:nvPicPr>
          <p:cNvPr id="80" name="Google Shape;80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B62475D-5E0B-A5AC-3922-2970FC56A64D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3</a:t>
            </a:fld>
            <a:endParaRPr lang="uk-UA" dirty="0"/>
          </a:p>
        </p:txBody>
      </p:sp>
      <p:cxnSp>
        <p:nvCxnSpPr>
          <p:cNvPr id="81" name="Connector 80"/>
          <p:cNvCxnSpPr/>
          <p:nvPr/>
        </p:nvCxnSpPr>
        <p:spPr>
          <a:xfrm>
            <a:off x="676656" y="2505456"/>
            <a:ext cx="7790688" cy="0"/>
          </a:xfrm>
          <a:prstGeom prst="line">
            <a:avLst/>
          </a:prstGeom>
          <a:ln w="38100">
            <a:solidFill>
              <a:srgbClr val="1E3A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Oval 81"/>
          <p:cNvSpPr/>
          <p:nvPr/>
        </p:nvSpPr>
        <p:spPr>
          <a:xfrm>
            <a:off x="576072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10896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2013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296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Word2Vec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82296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Mikolov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296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Статистичні
векторні подання</a:t>
            </a:r>
          </a:p>
        </p:txBody>
      </p:sp>
      <p:sp>
        <p:nvSpPr>
          <p:cNvPr id="87" name="Oval 86"/>
          <p:cNvSpPr/>
          <p:nvPr/>
        </p:nvSpPr>
        <p:spPr>
          <a:xfrm>
            <a:off x="2134209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1869033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2018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640433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BERT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640433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Devlin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640433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Трансформери,
контекстність</a:t>
            </a:r>
          </a:p>
        </p:txBody>
      </p:sp>
      <p:sp>
        <p:nvSpPr>
          <p:cNvPr id="92" name="Oval 91"/>
          <p:cNvSpPr/>
          <p:nvPr/>
        </p:nvSpPr>
        <p:spPr>
          <a:xfrm>
            <a:off x="3692347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427171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2019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98571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Sentence-BERT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98571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Reimers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198571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Семантичні
векторизатори</a:t>
            </a:r>
          </a:p>
        </p:txBody>
      </p:sp>
      <p:sp>
        <p:nvSpPr>
          <p:cNvPr id="97" name="Oval 96"/>
          <p:cNvSpPr/>
          <p:nvPr/>
        </p:nvSpPr>
        <p:spPr>
          <a:xfrm>
            <a:off x="5250484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4985308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4756708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E5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756708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Wang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756708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Multilingual,
contrastive</a:t>
            </a:r>
          </a:p>
        </p:txBody>
      </p:sp>
      <p:sp>
        <p:nvSpPr>
          <p:cNvPr id="102" name="Oval 101"/>
          <p:cNvSpPr/>
          <p:nvPr/>
        </p:nvSpPr>
        <p:spPr>
          <a:xfrm>
            <a:off x="6808622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543446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6314846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BGE-M3 / nomic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314846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Chen / Nussbaum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314846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Multi-functionality,
long context</a:t>
            </a:r>
          </a:p>
        </p:txBody>
      </p:sp>
      <p:sp>
        <p:nvSpPr>
          <p:cNvPr id="107" name="Oval 106"/>
          <p:cNvSpPr/>
          <p:nvPr/>
        </p:nvSpPr>
        <p:spPr>
          <a:xfrm>
            <a:off x="8366760" y="2404872"/>
            <a:ext cx="201168" cy="20116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8101584" y="1728216"/>
            <a:ext cx="731520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E3A8A"/>
                </a:solidFill>
                <a:latin typeface="Calibri"/>
              </a:rPr>
              <a:t>2025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872984" y="1975104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000" b="1" i="0">
                <a:solidFill>
                  <a:srgbClr val="1F2937"/>
                </a:solidFill>
                <a:latin typeface="Calibri"/>
              </a:rPr>
              <a:t>Qwen3-Embedding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872984" y="2596896"/>
            <a:ext cx="1188720" cy="2011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1">
                <a:solidFill>
                  <a:srgbClr val="64748B"/>
                </a:solidFill>
                <a:latin typeface="Calibri"/>
              </a:rPr>
              <a:t>Zhang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872984" y="2798064"/>
            <a:ext cx="118872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800" b="0" i="0">
                <a:solidFill>
                  <a:srgbClr val="1F2937"/>
                </a:solidFill>
                <a:latin typeface="Calibri"/>
              </a:rPr>
              <a:t>Decoder-based,
instruction-aware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310896" y="3831336"/>
            <a:ext cx="8522208" cy="59436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54864" bIns="54864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ПРОГАЛИНА: </a:t>
            </a:r>
            <a:r>
              <a:rPr sz="1000">
                <a:solidFill>
                  <a:srgbClr val="1F2937"/>
                </a:solidFill>
                <a:latin typeface="Calibri"/>
              </a:rPr>
              <a:t>відсутність порівняльних досліджень embedding-моделей на україномовних доменно-специфічних колекціях.   ▸ використано 32 наукових джерела (Lewis 2020 — RAG, Robertson 2009 — BM25, Thakur 2021 — BEIR, Muennighoff 2023 — MTEB)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6"/>
          <p:cNvSpPr txBox="1">
            <a:spLocks noGrp="1"/>
          </p:cNvSpPr>
          <p:nvPr>
            <p:ph type="title"/>
          </p:nvPr>
        </p:nvSpPr>
        <p:spPr>
          <a:xfrm>
            <a:off x="311700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Постановка задачі</a:t>
            </a:r>
          </a:p>
        </p:txBody>
      </p:sp>
      <p:pic>
        <p:nvPicPr>
          <p:cNvPr id="87" name="Google Shape;87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23D9805-068E-FE7E-BC9A-0C410D68B73B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4</a:t>
            </a:fld>
            <a:endParaRPr lang="uk-UA" dirty="0"/>
          </a:p>
        </p:txBody>
      </p:sp>
      <p:sp>
        <p:nvSpPr>
          <p:cNvPr id="88" name="Rounded Rectangle 87"/>
          <p:cNvSpPr/>
          <p:nvPr/>
        </p:nvSpPr>
        <p:spPr>
          <a:xfrm>
            <a:off x="310896" y="1225296"/>
            <a:ext cx="4114800" cy="32461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0" rIns="182880" tIns="137160" bIns="137160"/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ПРОБЛЕМА</a:t>
            </a:r>
          </a:p>
          <a:p>
            <a:pPr algn="l">
              <a:spcBef>
                <a:spcPts val="800"/>
              </a:spcBef>
            </a:pPr>
            <a:r>
              <a:rPr sz="1100">
                <a:solidFill>
                  <a:srgbClr val="FFFFFF"/>
                </a:solidFill>
                <a:latin typeface="Calibri"/>
              </a:rPr>
              <a:t>У реальних корпоративних системах недостатньо просто застосувати сучасну embedding-модель. Необхідно обґрунтовано визначити модель, яка забезпечує оптимальний баланс між: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якістю семантичного пошуку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швидкодією на CPU/GPU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вимогами до пам'яті та ресурсів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мовною підтримкою</a:t>
            </a:r>
          </a:p>
          <a:p>
            <a:pPr algn="l"/>
            <a:r>
              <a:rPr sz="1050">
                <a:solidFill>
                  <a:srgbClr val="FFFFFF"/>
                </a:solidFill>
                <a:latin typeface="Calibri"/>
              </a:rPr>
              <a:t>• типом колекції документів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608576" y="1225296"/>
            <a:ext cx="42245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ОЧІКУВАНІ РЕЗУЛЬТАТИ</a:t>
            </a:r>
          </a:p>
        </p:txBody>
      </p:sp>
      <p:sp>
        <p:nvSpPr>
          <p:cNvPr id="90" name="Oval 89"/>
          <p:cNvSpPr/>
          <p:nvPr/>
        </p:nvSpPr>
        <p:spPr>
          <a:xfrm>
            <a:off x="4608576" y="1609344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5065776" y="1545336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Реалізована система семантичного пошуку (PDF/DOCX/TXT/MD)</a:t>
            </a:r>
          </a:p>
        </p:txBody>
      </p:sp>
      <p:sp>
        <p:nvSpPr>
          <p:cNvPr id="92" name="Oval 91"/>
          <p:cNvSpPr/>
          <p:nvPr/>
        </p:nvSpPr>
        <p:spPr>
          <a:xfrm>
            <a:off x="4608576" y="2167128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065776" y="2103120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Власноруч сформований UA benchmark dataset (3 домени)</a:t>
            </a:r>
          </a:p>
        </p:txBody>
      </p:sp>
      <p:sp>
        <p:nvSpPr>
          <p:cNvPr id="94" name="Oval 93"/>
          <p:cNvSpPr/>
          <p:nvPr/>
        </p:nvSpPr>
        <p:spPr>
          <a:xfrm>
            <a:off x="4608576" y="2724912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065776" y="2660904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Кількісне порівняння 4 embedding-моделей + BM25 baseline</a:t>
            </a:r>
          </a:p>
        </p:txBody>
      </p:sp>
      <p:sp>
        <p:nvSpPr>
          <p:cNvPr id="96" name="Oval 95"/>
          <p:cNvSpPr/>
          <p:nvPr/>
        </p:nvSpPr>
        <p:spPr>
          <a:xfrm>
            <a:off x="4608576" y="3282696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5065776" y="3218688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Багатокритеріальний вибір (Парето + лінійна згортка)</a:t>
            </a:r>
          </a:p>
        </p:txBody>
      </p:sp>
      <p:sp>
        <p:nvSpPr>
          <p:cNvPr id="98" name="Oval 97"/>
          <p:cNvSpPr/>
          <p:nvPr/>
        </p:nvSpPr>
        <p:spPr>
          <a:xfrm>
            <a:off x="4608576" y="3840480"/>
            <a:ext cx="365760" cy="36576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5065776" y="3776472"/>
            <a:ext cx="3767328" cy="502920"/>
          </a:xfrm>
          <a:prstGeom prst="round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l"/>
            <a:r>
              <a:rPr sz="1000" b="0">
                <a:solidFill>
                  <a:srgbClr val="1F2937"/>
                </a:solidFill>
                <a:latin typeface="Calibri"/>
              </a:rPr>
              <a:t>Обґрунтовані практичні рекомендації для впровадження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7"/>
          <p:cNvSpPr txBox="1">
            <a:spLocks noGrp="1"/>
          </p:cNvSpPr>
          <p:nvPr>
            <p:ph type="title"/>
          </p:nvPr>
        </p:nvSpPr>
        <p:spPr>
          <a:xfrm>
            <a:off x="311700" y="-14830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Методологія дослідження</a:t>
            </a:r>
          </a:p>
        </p:txBody>
      </p:sp>
      <p:pic>
        <p:nvPicPr>
          <p:cNvPr id="94" name="Google Shape;9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343E912-C721-1128-5F72-D9BB9BCF5CCA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5</a:t>
            </a:fld>
            <a:endParaRPr lang="uk-UA" dirty="0"/>
          </a:p>
        </p:txBody>
      </p:sp>
      <p:sp>
        <p:nvSpPr>
          <p:cNvPr id="95" name="TextBox 94"/>
          <p:cNvSpPr txBox="1"/>
          <p:nvPr/>
        </p:nvSpPr>
        <p:spPr>
          <a:xfrm>
            <a:off x="310896" y="122529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МЕТРИКИ ОЦІНЮВАННЯ RETRIEVAL-ЯКОСТІ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10896" y="1499616"/>
            <a:ext cx="1649577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nDCG@10</a:t>
            </a:r>
          </a:p>
        </p:txBody>
      </p:sp>
      <p:sp>
        <p:nvSpPr>
          <p:cNvPr id="97" name="Rectangle 96"/>
          <p:cNvSpPr/>
          <p:nvPr/>
        </p:nvSpPr>
        <p:spPr>
          <a:xfrm>
            <a:off x="310896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Якість
ранжування</a:t>
            </a:r>
          </a:p>
          <a:p>
            <a:pPr algn="ctr"/>
            <a:r>
              <a:rPr sz="800" i="1">
                <a:solidFill>
                  <a:srgbClr val="F59E0B"/>
                </a:solidFill>
                <a:latin typeface="Calibri"/>
              </a:rPr>
              <a:t>(основна)</a:t>
            </a:r>
          </a:p>
        </p:txBody>
      </p:sp>
      <p:sp>
        <p:nvSpPr>
          <p:cNvPr id="98" name="Rectangle 97"/>
          <p:cNvSpPr/>
          <p:nvPr/>
        </p:nvSpPr>
        <p:spPr>
          <a:xfrm>
            <a:off x="2029053" y="1499616"/>
            <a:ext cx="1649577" cy="384048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MRR@10</a:t>
            </a:r>
          </a:p>
        </p:txBody>
      </p:sp>
      <p:sp>
        <p:nvSpPr>
          <p:cNvPr id="99" name="Rectangle 98"/>
          <p:cNvSpPr/>
          <p:nvPr/>
        </p:nvSpPr>
        <p:spPr>
          <a:xfrm>
            <a:off x="2029053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Позиція першого
релевантного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3747210" y="1499616"/>
            <a:ext cx="1649577" cy="384048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Recall@10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3747210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Повнота
пошуку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465367" y="1499616"/>
            <a:ext cx="1649577" cy="384048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P@10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465367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Точність
видачі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7183524" y="1499616"/>
            <a:ext cx="1649577" cy="384048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ms/query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7183524" y="1883664"/>
            <a:ext cx="1649577" cy="57607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50" b="1">
                <a:solidFill>
                  <a:srgbClr val="1F2937"/>
                </a:solidFill>
                <a:latin typeface="Calibri"/>
              </a:rPr>
              <a:t>Час відповіді
(швидкодія)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0896" y="2395728"/>
            <a:ext cx="852220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МЕТОДИ АНАЛІЗУ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310896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Bootstrap CI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310896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95% довірчий інтервал для nDCG@10
(n = 2 000 повторень)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197352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Парето-домінування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197352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Виявлення Парето-оптимальних
альтернатив у багатокритеріальному просторі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083808" y="2642616"/>
            <a:ext cx="2749296" cy="384048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Лінійна адитивна згортка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083808" y="3026664"/>
            <a:ext cx="2749296" cy="530352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54864" bIns="54864"/>
          <a:lstStyle/>
          <a:p>
            <a:pPr algn="ctr"/>
            <a:r>
              <a:rPr sz="950">
                <a:solidFill>
                  <a:srgbClr val="1F2937"/>
                </a:solidFill>
                <a:latin typeface="Calibri"/>
              </a:rPr>
              <a:t>Інтегральна оцінка U(aᵢ) з ваговими
коефіцієнтами критеріїв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8"/>
          <p:cNvSpPr txBox="1">
            <a:spLocks noGrp="1"/>
          </p:cNvSpPr>
          <p:nvPr>
            <p:ph type="title"/>
          </p:nvPr>
        </p:nvSpPr>
        <p:spPr>
          <a:xfrm>
            <a:off x="268925" y="349659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Архітектура системи семантичного пошуку</a:t>
            </a:r>
          </a:p>
        </p:txBody>
      </p:sp>
      <p:pic>
        <p:nvPicPr>
          <p:cNvPr id="101" name="Google Shape;101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A55726-B906-08A2-C43F-1B00FCF5F354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6</a:t>
            </a:fld>
            <a:endParaRPr lang="uk-UA" dirty="0"/>
          </a:p>
        </p:txBody>
      </p:sp>
      <p:sp>
        <p:nvSpPr>
          <p:cNvPr id="102" name="Rounded Rectangle 101"/>
          <p:cNvSpPr/>
          <p:nvPr/>
        </p:nvSpPr>
        <p:spPr>
          <a:xfrm>
            <a:off x="699516" y="1682496"/>
            <a:ext cx="1417320" cy="36576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Документи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699516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PDF, DOCX,
TXT, MD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2116836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Rounded Rectangle 104"/>
          <p:cNvSpPr/>
          <p:nvPr/>
        </p:nvSpPr>
        <p:spPr>
          <a:xfrm>
            <a:off x="2281428" y="1682496"/>
            <a:ext cx="1417320" cy="365760"/>
          </a:xfrm>
          <a:prstGeom prst="round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Чанкінг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2281428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~600 слів,
перекриття</a:t>
            </a:r>
          </a:p>
        </p:txBody>
      </p:sp>
      <p:cxnSp>
        <p:nvCxnSpPr>
          <p:cNvPr id="107" name="Connector 106"/>
          <p:cNvCxnSpPr/>
          <p:nvPr/>
        </p:nvCxnSpPr>
        <p:spPr>
          <a:xfrm>
            <a:off x="3698748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" name="Rounded Rectangle 107"/>
          <p:cNvSpPr/>
          <p:nvPr/>
        </p:nvSpPr>
        <p:spPr>
          <a:xfrm>
            <a:off x="3863340" y="1682496"/>
            <a:ext cx="1417320" cy="365760"/>
          </a:xfrm>
          <a:prstGeom prst="round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Ембеддінг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3863340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BGE-M3, E5,
nomic, Qwen3</a:t>
            </a:r>
          </a:p>
        </p:txBody>
      </p:sp>
      <p:cxnSp>
        <p:nvCxnSpPr>
          <p:cNvPr id="110" name="Connector 109"/>
          <p:cNvCxnSpPr/>
          <p:nvPr/>
        </p:nvCxnSpPr>
        <p:spPr>
          <a:xfrm>
            <a:off x="5280660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/>
          <p:cNvSpPr/>
          <p:nvPr/>
        </p:nvSpPr>
        <p:spPr>
          <a:xfrm>
            <a:off x="5445252" y="1682496"/>
            <a:ext cx="1417320" cy="36576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FAISS
індекс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445252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IndexFlatIP,
L2-нормалізація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6862572" y="2071116"/>
            <a:ext cx="164592" cy="0"/>
          </a:xfrm>
          <a:prstGeom prst="line">
            <a:avLst/>
          </a:prstGeom>
          <a:ln w="31750">
            <a:solidFill>
              <a:srgbClr val="1F2937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Rounded Rectangle 113"/>
          <p:cNvSpPr/>
          <p:nvPr/>
        </p:nvSpPr>
        <p:spPr>
          <a:xfrm>
            <a:off x="7027164" y="1682496"/>
            <a:ext cx="1417320" cy="36576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Top-K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027164" y="2048256"/>
            <a:ext cx="1417320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/>
            <a:r>
              <a:rPr sz="900">
                <a:solidFill>
                  <a:srgbClr val="1F2937"/>
                </a:solidFill>
                <a:latin typeface="Calibri"/>
              </a:rPr>
              <a:t>Cosine
similarity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699516" y="2779776"/>
            <a:ext cx="141732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Запит
користувача</a:t>
            </a:r>
          </a:p>
        </p:txBody>
      </p:sp>
      <p:cxnSp>
        <p:nvCxnSpPr>
          <p:cNvPr id="117" name="Connector 116"/>
          <p:cNvCxnSpPr/>
          <p:nvPr/>
        </p:nvCxnSpPr>
        <p:spPr>
          <a:xfrm flipV="1">
            <a:off x="1408176" y="2459736"/>
            <a:ext cx="3163824" cy="320040"/>
          </a:xfrm>
          <a:prstGeom prst="line">
            <a:avLst/>
          </a:prstGeom>
          <a:ln w="31750">
            <a:solidFill>
              <a:srgbClr val="F59E0B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Rounded Rectangle 117"/>
          <p:cNvSpPr/>
          <p:nvPr/>
        </p:nvSpPr>
        <p:spPr>
          <a:xfrm>
            <a:off x="7027164" y="2779776"/>
            <a:ext cx="1417320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Flask Web UI</a:t>
            </a:r>
          </a:p>
        </p:txBody>
      </p:sp>
      <p:cxnSp>
        <p:nvCxnSpPr>
          <p:cNvPr id="119" name="Connector 118"/>
          <p:cNvCxnSpPr/>
          <p:nvPr/>
        </p:nvCxnSpPr>
        <p:spPr>
          <a:xfrm>
            <a:off x="7735824" y="2459736"/>
            <a:ext cx="0" cy="320040"/>
          </a:xfrm>
          <a:prstGeom prst="line">
            <a:avLst/>
          </a:prstGeom>
          <a:ln w="31750">
            <a:solidFill>
              <a:srgbClr val="1E3A8A"/>
            </a:solidFill>
            <a:tailEnd type="triangle" w="med" h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0" name="TextBox 119"/>
          <p:cNvSpPr txBox="1"/>
          <p:nvPr/>
        </p:nvSpPr>
        <p:spPr>
          <a:xfrm>
            <a:off x="310896" y="341985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1">
                <a:solidFill>
                  <a:srgbClr val="64748B"/>
                </a:solidFill>
                <a:latin typeface="Calibri"/>
              </a:rPr>
              <a:t>Основні компоненти:  build_index.py  •  evaluate_benchmark.py  •  embedding_models.py  •  run_all_benchmarks.py  •  app.py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311700" y="31240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Програмне забезпечення та технології</a:t>
            </a:r>
          </a:p>
        </p:txBody>
      </p:sp>
      <p:pic>
        <p:nvPicPr>
          <p:cNvPr id="108" name="Google Shape;10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226AFC1-F793-030A-440F-FC50C3AEF71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7</a:t>
            </a:fld>
            <a:endParaRPr lang="uk-UA" dirty="0"/>
          </a:p>
        </p:txBody>
      </p:sp>
      <p:sp>
        <p:nvSpPr>
          <p:cNvPr id="109" name="Rectangle 108"/>
          <p:cNvSpPr/>
          <p:nvPr/>
        </p:nvSpPr>
        <p:spPr>
          <a:xfrm>
            <a:off x="310896" y="1225296"/>
            <a:ext cx="2749296" cy="45720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ML / EMBEDDING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10896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Python 3.11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sentence-transformers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transformers (HF)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PyTorch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trust_remote_code (nomic, Qwen3)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Cambria Math (формули)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197352" y="1225296"/>
            <a:ext cx="2749296" cy="4572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RETRIEVAL / DATA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3197352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FAISS (IndexFlatIP)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rank_bm25 (Okapi)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L2-нормалізація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Чанкінг (~600 слів)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PDF / DOCX / TXT / MD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JSONL (chunks, qrels, queries)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083808" y="1225296"/>
            <a:ext cx="2749296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WEB / EVAL / ANALYSIS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083808" y="1682496"/>
            <a:ext cx="2749296" cy="2697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tIns="109728" bIns="91440"/>
          <a:lstStyle/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Flask (Python)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NumPy, scikit-learn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Bootstrap CI (n=2000)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Pareto + лінійна згортка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Власний benchmark harness</a:t>
            </a:r>
          </a:p>
          <a:p>
            <a:pPr algn="l"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Calibri"/>
              </a:rPr>
              <a:t>▸ Git + GitHub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0"/>
          <p:cNvSpPr txBox="1">
            <a:spLocks noGrp="1"/>
          </p:cNvSpPr>
          <p:nvPr>
            <p:ph type="title"/>
          </p:nvPr>
        </p:nvSpPr>
        <p:spPr>
          <a:xfrm>
            <a:off x="311700" y="-9203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Benchmark dataset: україномовні доменні колекції</a:t>
            </a:r>
          </a:p>
        </p:txBody>
      </p:sp>
      <p:pic>
        <p:nvPicPr>
          <p:cNvPr id="115" name="Google Shape;115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8624834-013E-7249-F488-C816A0DA9355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8</a:t>
            </a:fld>
            <a:endParaRPr lang="uk-UA" dirty="0"/>
          </a:p>
        </p:txBody>
      </p:sp>
      <p:sp>
        <p:nvSpPr>
          <p:cNvPr id="116" name="Rounded Rectangle 115"/>
          <p:cNvSpPr/>
          <p:nvPr/>
        </p:nvSpPr>
        <p:spPr>
          <a:xfrm>
            <a:off x="310896" y="1225296"/>
            <a:ext cx="8522208" cy="45720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Власноруч сформований domain-specific україномовний benchmark dataset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310896" y="1819656"/>
            <a:ext cx="2749296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Технічний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310896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1E40AF"/>
                </a:solidFill>
                <a:latin typeface="Calibri"/>
              </a:rPr>
              <a:t>10  /  178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програмна інженерія, ML, RAG,
аномалії, 3D-друк, лідарні системи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3197352" y="1819656"/>
            <a:ext cx="2749296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Юридичний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197352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B45309"/>
                </a:solidFill>
                <a:latin typeface="Calibri"/>
              </a:rPr>
              <a:t>13  /  1 046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кодекси, нормативно-правові
акти, законодавство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6083808" y="1819656"/>
            <a:ext cx="2749296" cy="36576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Медичний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083808" y="2185416"/>
            <a:ext cx="2749296" cy="146304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91440" bIns="91440"/>
          <a:lstStyle/>
          <a:p>
            <a:pPr algn="ctr"/>
            <a:r>
              <a:rPr sz="2000" b="1">
                <a:solidFill>
                  <a:srgbClr val="BE185D"/>
                </a:solidFill>
                <a:latin typeface="Calibri"/>
              </a:rPr>
              <a:t>9  /  267  /  100</a:t>
            </a:r>
          </a:p>
          <a:p>
            <a:pPr algn="ctr">
              <a:spcAft>
                <a:spcPts val="800"/>
              </a:spcAft>
            </a:pPr>
            <a:r>
              <a:rPr sz="800" i="1">
                <a:solidFill>
                  <a:srgbClr val="64748B"/>
                </a:solidFill>
                <a:latin typeface="Calibri"/>
              </a:rPr>
              <a:t>документи  /  чанки  /  запити</a:t>
            </a:r>
          </a:p>
          <a:p>
            <a:pPr algn="l"/>
            <a:r>
              <a:rPr sz="900" b="1">
                <a:solidFill>
                  <a:srgbClr val="1F2937"/>
                </a:solidFill>
                <a:latin typeface="Calibri"/>
              </a:rPr>
              <a:t>Тематика:</a:t>
            </a:r>
          </a:p>
          <a:p>
            <a:pPr algn="l"/>
            <a:r>
              <a:rPr sz="900">
                <a:solidFill>
                  <a:srgbClr val="1F2937"/>
                </a:solidFill>
                <a:latin typeface="Calibri"/>
              </a:rPr>
              <a:t>клінічні протоколи,
медичні рекомендації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310896" y="3785616"/>
            <a:ext cx="8522208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ВСЬОГО: </a:t>
            </a:r>
            <a:r>
              <a:rPr sz="1100">
                <a:solidFill>
                  <a:srgbClr val="FFFFFF"/>
                </a:solidFill>
                <a:latin typeface="Calibri"/>
              </a:rPr>
              <a:t>32 документи · 1 491 чанк · 300 запитів · qrels сформовані вручну на рівні чанків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1"/>
          <p:cNvSpPr txBox="1">
            <a:spLocks noGrp="1"/>
          </p:cNvSpPr>
          <p:nvPr>
            <p:ph type="title"/>
          </p:nvPr>
        </p:nvSpPr>
        <p:spPr>
          <a:xfrm>
            <a:off x="268925" y="-152998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Результати експерименту: nDCG@10</a:t>
            </a:r>
          </a:p>
        </p:txBody>
      </p:sp>
      <p:pic>
        <p:nvPicPr>
          <p:cNvPr id="122" name="Google Shape;122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8800C66-AABB-EFA8-12F4-0C56A1243712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9</a:t>
            </a:fld>
            <a:endParaRPr lang="uk-UA" dirty="0"/>
          </a:p>
        </p:txBody>
      </p:sp>
      <p:sp>
        <p:nvSpPr>
          <p:cNvPr id="123" name="TextBox 122"/>
          <p:cNvSpPr txBox="1"/>
          <p:nvPr/>
        </p:nvSpPr>
        <p:spPr>
          <a:xfrm>
            <a:off x="310896" y="1225296"/>
            <a:ext cx="852220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 i="1">
                <a:solidFill>
                  <a:srgbClr val="64748B"/>
                </a:solidFill>
                <a:latin typeface="Calibri"/>
              </a:rPr>
              <a:t>Зведені значення nDCG@10 (вище — краще; найкращий результат у домені виділено)</a:t>
            </a:r>
          </a:p>
        </p:txBody>
      </p:sp>
      <p:graphicFrame>
        <p:nvGraphicFramePr>
          <p:cNvPr id="124" name="Table 123"/>
          <p:cNvGraphicFramePr>
            <a:graphicFrameLocks noGrp="1"/>
          </p:cNvGraphicFramePr>
          <p:nvPr/>
        </p:nvGraphicFramePr>
        <p:xfrm>
          <a:off x="310896" y="1499616"/>
          <a:ext cx="8522208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444752"/>
                <a:gridCol w="1444752"/>
                <a:gridCol w="1444752"/>
                <a:gridCol w="1444752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Модель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Технічний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Юридичний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Медичний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Середнє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BGE-M3 (BAAI)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0.6722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0.4339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0.4709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Qwen3-Embedding-0.6B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0.6325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0.3199</a:t>
                      </a:r>
                    </a:p>
                  </a:txBody>
                  <a:tcPr anchor="ctr">
                    <a:solidFill>
                      <a:srgbClr val="16A3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0.3629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0.4384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E5-base (multilingual)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0.6121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0.2567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0.3909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0.4199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BM25 (Okapi) — базелайн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0.4861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0.1875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0.3222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0.3319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F2937"/>
                          </a:solidFill>
                          <a:latin typeface="Calibri"/>
                        </a:rPr>
                        <a:t>nomic-embed-text-v1.5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0.3765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0.0951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0.1668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0.2128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5" name="Rounded Rectangle 124"/>
          <p:cNvSpPr/>
          <p:nvPr/>
        </p:nvSpPr>
        <p:spPr>
          <a:xfrm>
            <a:off x="310896" y="3785616"/>
            <a:ext cx="8522208" cy="502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Bootstrap 95% CI (n = 2 000): </a:t>
            </a:r>
            <a:r>
              <a:rPr sz="1000">
                <a:solidFill>
                  <a:srgbClr val="1F2937"/>
                </a:solidFill>
                <a:latin typeface="Calibri"/>
              </a:rPr>
              <a:t>BGE-M3 [0.606 ; 0.737]  vs  BM25 [0.431 ; 0.541]  →  інтервали не перетинаються → статистично значуща перевага семантичного пошуку над лексичним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p22"/>
          <p:cNvSpPr txBox="1">
            <a:spLocks noGrp="1"/>
          </p:cNvSpPr>
          <p:nvPr>
            <p:ph type="title"/>
          </p:nvPr>
        </p:nvSpPr>
        <p:spPr>
          <a:xfrm>
            <a:off x="268925" y="-14362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Багатокритеріальний вибір моделі (МКВ): результати</a:t>
            </a:r>
          </a:p>
        </p:txBody>
      </p:sp>
      <p:pic>
        <p:nvPicPr>
          <p:cNvPr id="129" name="Google Shape;129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8D948D-369C-B702-98D8-76BFF8794D1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10</a:t>
            </a:fld>
            <a:endParaRPr lang="uk-UA" dirty="0"/>
          </a:p>
        </p:txBody>
      </p:sp>
      <p:sp>
        <p:nvSpPr>
          <p:cNvPr id="130" name="Rounded Rectangle 129"/>
          <p:cNvSpPr/>
          <p:nvPr/>
        </p:nvSpPr>
        <p:spPr>
          <a:xfrm>
            <a:off x="310896" y="1225296"/>
            <a:ext cx="3200400" cy="100584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91440" bIns="91440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ПАРЕТО-ОПТИМАЛЬНІ</a:t>
            </a:r>
          </a:p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P = { BGE-M3,  E5-base }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310896" y="2368296"/>
            <a:ext cx="109728" cy="4572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420624" y="236829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16A34A"/>
                </a:solidFill>
                <a:latin typeface="Calibri"/>
              </a:rPr>
              <a:t>BGE-M3:  </a:t>
            </a:r>
            <a:r>
              <a:rPr sz="1000">
                <a:solidFill>
                  <a:srgbClr val="1F2937"/>
                </a:solidFill>
                <a:latin typeface="Calibri"/>
              </a:rPr>
              <a:t>лідер у всіх 3 доменах за nDCG / MRR / Recall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310896" y="2871216"/>
            <a:ext cx="109728" cy="4572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420624" y="287121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3B82F6"/>
                </a:solidFill>
                <a:latin typeface="Calibri"/>
              </a:rPr>
              <a:t>E5-base:  </a:t>
            </a:r>
            <a:r>
              <a:rPr sz="1000">
                <a:solidFill>
                  <a:srgbClr val="1F2937"/>
                </a:solidFill>
                <a:latin typeface="Calibri"/>
              </a:rPr>
              <a:t>швидка альтернатива (~225 мс vs ~2960 мс у BGE-M3)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310896" y="3374136"/>
            <a:ext cx="109728" cy="4572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420624" y="337413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F59E0B"/>
                </a:solidFill>
                <a:latin typeface="Calibri"/>
              </a:rPr>
              <a:t>Qwen3:  </a:t>
            </a:r>
            <a:r>
              <a:rPr sz="1000">
                <a:solidFill>
                  <a:srgbClr val="1F2937"/>
                </a:solidFill>
                <a:latin typeface="Calibri"/>
              </a:rPr>
              <a:t>конкурентна якість, але ~1500 мс на CPU — потрібен GPU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310896" y="3877056"/>
            <a:ext cx="109728" cy="4572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Rectangle 137"/>
          <p:cNvSpPr/>
          <p:nvPr/>
        </p:nvSpPr>
        <p:spPr>
          <a:xfrm>
            <a:off x="420624" y="3877056"/>
            <a:ext cx="3090672" cy="457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tIns="54864" bIns="54864"/>
          <a:lstStyle/>
          <a:p>
            <a:pPr algn="l"/>
            <a:r>
              <a:rPr sz="1100" b="1">
                <a:solidFill>
                  <a:srgbClr val="DC2626"/>
                </a:solidFill>
                <a:latin typeface="Calibri"/>
              </a:rPr>
              <a:t>nomic:  </a:t>
            </a:r>
            <a:r>
              <a:rPr sz="1000">
                <a:solidFill>
                  <a:srgbClr val="1F2937"/>
                </a:solidFill>
                <a:latin typeface="Calibri"/>
              </a:rPr>
              <a:t>найслабші результати; в окремих доменах поступається BM25</a:t>
            </a:r>
          </a:p>
        </p:txBody>
      </p:sp>
      <p:graphicFrame>
        <p:nvGraphicFramePr>
          <p:cNvPr id="139" name="Chart 138"/>
          <p:cNvGraphicFramePr>
            <a:graphicFrameLocks noGrp="1"/>
          </p:cNvGraphicFramePr>
          <p:nvPr/>
        </p:nvGraphicFramePr>
        <p:xfrm>
          <a:off x="3694176" y="1225296"/>
          <a:ext cx="5138928" cy="324612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 txBox="1">
            <a:spLocks noGrp="1"/>
          </p:cNvSpPr>
          <p:nvPr>
            <p:ph type="title"/>
          </p:nvPr>
        </p:nvSpPr>
        <p:spPr>
          <a:xfrm>
            <a:off x="268925" y="-186276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Апробація результатів дослідження</a:t>
            </a:r>
          </a:p>
        </p:txBody>
      </p:sp>
      <p:pic>
        <p:nvPicPr>
          <p:cNvPr id="136" name="Google Shape;13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BB10B47-7B7A-16D3-B2F7-7BCD981C8FD9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11</a:t>
            </a:fld>
            <a:endParaRPr lang="uk-UA" dirty="0"/>
          </a:p>
        </p:txBody>
      </p:sp>
      <p:sp>
        <p:nvSpPr>
          <p:cNvPr id="137" name="Rectangle 136"/>
          <p:cNvSpPr/>
          <p:nvPr/>
        </p:nvSpPr>
        <p:spPr>
          <a:xfrm>
            <a:off x="310896" y="1225296"/>
            <a:ext cx="4123944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Конференція №1   |   2026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10896" y="1636776"/>
            <a:ext cx="4123944" cy="219456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37160" bIns="91440"/>
          <a:lstStyle/>
          <a:p>
            <a:pPr algn="l"/>
            <a:r>
              <a:rPr sz="1300" b="1">
                <a:solidFill>
                  <a:srgbClr val="1E3A8A"/>
                </a:solidFill>
                <a:latin typeface="Calibri"/>
              </a:rPr>
              <a:t>«Innovative Research in Science and Economy»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50" i="1">
                <a:solidFill>
                  <a:srgbClr val="64748B"/>
                </a:solidFill>
                <a:latin typeface="Calibri"/>
              </a:rPr>
              <a:t>2-я Міжнародна науково-практична конференція</a:t>
            </a:r>
          </a:p>
          <a:p>
            <a:pPr algn="l"/>
            <a:r>
              <a:rPr sz="1000">
                <a:solidFill>
                  <a:srgbClr val="1F2937"/>
                </a:solidFill>
                <a:latin typeface="Calibri"/>
              </a:rPr>
              <a:t>▸ Стаття: «Порівняльний аналіз ефективності моделей векторних ембеддінгів для задач семантичного пошуку в корпоративних базах знань»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950" b="1">
                <a:solidFill>
                  <a:srgbClr val="1E3A8A"/>
                </a:solidFill>
                <a:latin typeface="Calibri"/>
              </a:rPr>
              <a:t>Ключовий внесок: </a:t>
            </a:r>
            <a:r>
              <a:rPr sz="950">
                <a:solidFill>
                  <a:srgbClr val="1F2937"/>
                </a:solidFill>
                <a:latin typeface="Calibri"/>
              </a:rPr>
              <a:t>представлено benchmark-методологію та порівняння 4 моделей у трьох доменних колекціях; обґрунтовано перевагу BGE-M3 над класичним BM25.</a:t>
            </a:r>
          </a:p>
          <a:p>
            <a:pPr algn="l">
              <a:spcBef>
                <a:spcPts val="400"/>
              </a:spcBef>
            </a:pPr>
            <a:r>
              <a:rPr sz="900" i="1">
                <a:solidFill>
                  <a:srgbClr val="64748B"/>
                </a:solidFill>
                <a:latin typeface="Calibri"/>
              </a:rPr>
              <a:t>у співавторстві з Русаковою Н.Є.</a:t>
            </a:r>
          </a:p>
        </p:txBody>
      </p:sp>
      <p:sp>
        <p:nvSpPr>
          <p:cNvPr id="139" name="Rectangle 138"/>
          <p:cNvSpPr/>
          <p:nvPr/>
        </p:nvSpPr>
        <p:spPr>
          <a:xfrm>
            <a:off x="4572000" y="1225296"/>
            <a:ext cx="4123944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Конференція №2   |   2026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572000" y="1636776"/>
            <a:ext cx="4123944" cy="219456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37160" tIns="137160" bIns="91440"/>
          <a:lstStyle/>
          <a:p>
            <a:pPr algn="l"/>
            <a:r>
              <a:rPr sz="1300" b="1">
                <a:solidFill>
                  <a:srgbClr val="0D9488"/>
                </a:solidFill>
                <a:latin typeface="Calibri"/>
              </a:rPr>
              <a:t>«Радіоелектроніка та молодь у XXI столітті»</a:t>
            </a:r>
          </a:p>
          <a:p>
            <a:pPr algn="l">
              <a:spcBef>
                <a:spcPts val="200"/>
              </a:spcBef>
              <a:spcAft>
                <a:spcPts val="600"/>
              </a:spcAft>
            </a:pPr>
            <a:r>
              <a:rPr sz="950" i="1">
                <a:solidFill>
                  <a:srgbClr val="64748B"/>
                </a:solidFill>
                <a:latin typeface="Calibri"/>
              </a:rPr>
              <a:t>30-й Міжнародний молодіжний форум, ХНУРЕ</a:t>
            </a:r>
          </a:p>
          <a:p>
            <a:pPr algn="l"/>
            <a:r>
              <a:rPr sz="1000">
                <a:solidFill>
                  <a:srgbClr val="1F2937"/>
                </a:solidFill>
                <a:latin typeface="Calibri"/>
              </a:rPr>
              <a:t>▸ Тези: «Підвищення якості семантичного пошуку в базах знань із використанням векторних подань»</a:t>
            </a:r>
          </a:p>
          <a:p>
            <a:pPr algn="l">
              <a:spcBef>
                <a:spcPts val="600"/>
              </a:spcBef>
              <a:spcAft>
                <a:spcPts val="600"/>
              </a:spcAft>
            </a:pPr>
            <a:r>
              <a:rPr sz="950" b="1">
                <a:solidFill>
                  <a:srgbClr val="0D9488"/>
                </a:solidFill>
                <a:latin typeface="Calibri"/>
              </a:rPr>
              <a:t>Ключовий внесок: </a:t>
            </a:r>
            <a:r>
              <a:rPr sz="950">
                <a:solidFill>
                  <a:srgbClr val="1F2937"/>
                </a:solidFill>
                <a:latin typeface="Calibri"/>
              </a:rPr>
              <a:t>подано підхід до підвищення якості retrieval у корпоративних базах знань на основі контрастивно-навчених embedding-моделей.</a:t>
            </a:r>
          </a:p>
          <a:p>
            <a:pPr algn="l">
              <a:spcBef>
                <a:spcPts val="400"/>
              </a:spcBef>
            </a:pPr>
            <a:r>
              <a:rPr sz="900" i="1">
                <a:solidFill>
                  <a:srgbClr val="64748B"/>
                </a:solidFill>
                <a:latin typeface="Calibri"/>
              </a:rPr>
              <a:t>у співавторстві з Русаковою Н.Є.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10896" y="3968496"/>
            <a:ext cx="8522208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ЗАГАЛОМ: </a:t>
            </a:r>
            <a:r>
              <a:rPr sz="1100">
                <a:solidFill>
                  <a:srgbClr val="FFFFFF"/>
                </a:solidFill>
                <a:latin typeface="Calibri"/>
              </a:rPr>
              <a:t>2 наукові праці  ·  2 виступи на міжнародних конференціях  ·  у співавторстві з науковим керівником  ·  ХНУРЕ, 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 txBox="1">
            <a:spLocks noGrp="1"/>
          </p:cNvSpPr>
          <p:nvPr>
            <p:ph type="title"/>
          </p:nvPr>
        </p:nvSpPr>
        <p:spPr>
          <a:xfrm>
            <a:off x="311700" y="-35287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Підсумки та практичні рекомендації</a:t>
            </a:r>
          </a:p>
        </p:txBody>
      </p:sp>
      <p:pic>
        <p:nvPicPr>
          <p:cNvPr id="143" name="Google Shape;143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B5B94D8-63F6-7EAC-6461-2DB4B135596F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12</a:t>
            </a:fld>
            <a:endParaRPr lang="uk-UA" dirty="0"/>
          </a:p>
        </p:txBody>
      </p:sp>
      <p:sp>
        <p:nvSpPr>
          <p:cNvPr id="144" name="Rounded Rectangle 143"/>
          <p:cNvSpPr/>
          <p:nvPr/>
        </p:nvSpPr>
        <p:spPr>
          <a:xfrm>
            <a:off x="310896" y="1225296"/>
            <a:ext cx="8522208" cy="502920"/>
          </a:xfrm>
          <a:prstGeom prst="round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/>
          <a:lstStyle/>
          <a:p>
            <a:pPr algn="ctr"/>
            <a:r>
              <a:rPr sz="1300" b="1">
                <a:solidFill>
                  <a:srgbClr val="F59E0B"/>
                </a:solidFill>
                <a:latin typeface="Calibri"/>
              </a:rPr>
              <a:t>✓  ПОСТАВЛЕНУ МЕТУ ДОСЯГНУТО: </a:t>
            </a:r>
            <a:r>
              <a:rPr sz="1100">
                <a:solidFill>
                  <a:srgbClr val="FFFFFF"/>
                </a:solidFill>
                <a:latin typeface="Calibri"/>
              </a:rPr>
              <a:t>обґрунтовано доцільність застосування embedding-моделей для семантичного пошуку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10896" y="1865376"/>
            <a:ext cx="164592" cy="9144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475488" y="186537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16A34A"/>
                </a:solidFill>
                <a:latin typeface="Calibri"/>
              </a:rPr>
              <a:t>BGE-M3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основна модель для впровадження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Найкраща якість, стабільність у різних доменах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640580" y="1865376"/>
            <a:ext cx="164592" cy="9144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4805172" y="186537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3B82F6"/>
                </a:solidFill>
                <a:latin typeface="Calibri"/>
              </a:rPr>
              <a:t>E5-base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швидка альтернатива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Прийнятна якість + ~13× швидше за BGE-M3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310896" y="2871216"/>
            <a:ext cx="164592" cy="9144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Rectangle 149"/>
          <p:cNvSpPr/>
          <p:nvPr/>
        </p:nvSpPr>
        <p:spPr>
          <a:xfrm>
            <a:off x="475488" y="287121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F59E0B"/>
                </a:solidFill>
                <a:latin typeface="Calibri"/>
              </a:rPr>
              <a:t>Qwen3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лише з GPU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Висока якість, але непрактична на CPU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4640580" y="2871216"/>
            <a:ext cx="164592" cy="91440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4805172" y="2871216"/>
            <a:ext cx="4027932" cy="9144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/>
            <a:r>
              <a:rPr sz="1500" b="1">
                <a:solidFill>
                  <a:srgbClr val="64748B"/>
                </a:solidFill>
                <a:latin typeface="Calibri"/>
              </a:rPr>
              <a:t>BM25</a:t>
            </a:r>
            <a:r>
              <a:rPr sz="1100" i="1">
                <a:solidFill>
                  <a:srgbClr val="1F2937"/>
                </a:solidFill>
                <a:latin typeface="Calibri"/>
              </a:rPr>
              <a:t>  —  конкурентний baseline</a:t>
            </a:r>
          </a:p>
          <a:p>
            <a:pPr algn="l">
              <a:spcBef>
                <a:spcPts val="400"/>
              </a:spcBef>
            </a:pPr>
            <a:r>
              <a:rPr sz="1000">
                <a:solidFill>
                  <a:srgbClr val="1F2937"/>
                </a:solidFill>
                <a:latin typeface="Calibri"/>
              </a:rPr>
              <a:t>Залишається сильним у певних доменах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10896" y="3877056"/>
            <a:ext cx="8522208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2200" b="1" i="0">
                <a:solidFill>
                  <a:srgbClr val="1E3A8A"/>
                </a:solidFill>
                <a:latin typeface="Calibri"/>
              </a:rPr>
              <a:t>Дякую за увагу!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Сучасні моделі векторних ембеддінгів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4169664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BGE-M3 (BAAI)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 (трансформер)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568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8 192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Multi-functionality:
dense + sparse + multi-vector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1E40AF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Self-knowledge distillation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663440" y="1225296"/>
            <a:ext cx="4169664" cy="3657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E5-base (intfloat)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63440" y="159105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 (multilingual-e5-base)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278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512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Префікси query: / passage: 
для contrastive pretraining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3B82F6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Weakly-supervised contrastive
(1B+ текстових пар)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10896" y="2916936"/>
            <a:ext cx="4169664" cy="36576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nomic-embed-text-v1.5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10896" y="328269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Encoder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137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8 192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Matryoshka representations
(адаптивна розмірність)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0D9488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Long-context contrastive,
повна reproducibility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663440" y="2916936"/>
            <a:ext cx="4169664" cy="3657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Qwen3-Embedding-0.6B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63440" y="3282696"/>
            <a:ext cx="4169664" cy="11887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tIns="73152"/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Архітектура: </a:t>
            </a:r>
            <a:r>
              <a:rPr sz="850">
                <a:solidFill>
                  <a:srgbClr val="1F2937"/>
                </a:solidFill>
                <a:latin typeface="Calibri"/>
              </a:rPr>
              <a:t>Decoder (LLM-based)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Параметри: </a:t>
            </a:r>
            <a:r>
              <a:rPr sz="850">
                <a:solidFill>
                  <a:srgbClr val="1F2937"/>
                </a:solidFill>
                <a:latin typeface="Calibri"/>
              </a:rPr>
              <a:t>596 M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Max seq length: </a:t>
            </a:r>
            <a:r>
              <a:rPr sz="850">
                <a:solidFill>
                  <a:srgbClr val="1F2937"/>
                </a:solidFill>
                <a:latin typeface="Calibri"/>
              </a:rPr>
              <a:t>32 768 токенів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Особливості: </a:t>
            </a:r>
            <a:r>
              <a:rPr sz="850">
                <a:solidFill>
                  <a:srgbClr val="1F2937"/>
                </a:solidFill>
                <a:latin typeface="Calibri"/>
              </a:rPr>
              <a:t>Instruction-aware,
керування через prompt</a:t>
            </a:r>
          </a:p>
          <a:p>
            <a:pPr algn="l">
              <a:spcAft>
                <a:spcPts val="200"/>
              </a:spcAft>
            </a:pPr>
            <a:r>
              <a:rPr sz="850" b="1">
                <a:solidFill>
                  <a:srgbClr val="7C3AED"/>
                </a:solidFill>
                <a:latin typeface="Calibri"/>
              </a:rPr>
              <a:t>Метод навчання: </a:t>
            </a:r>
            <a:r>
              <a:rPr sz="850">
                <a:solidFill>
                  <a:srgbClr val="1F2937"/>
                </a:solidFill>
                <a:latin typeface="Calibri"/>
              </a:rPr>
              <a:t>Foundation model
fine-tuning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Метрики оцінювання retrieval-якості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061972" cy="41148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nDCG@k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448056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1E3A8A"/>
                </a:solidFill>
                <a:latin typeface="Cambria Math"/>
              </a:rPr>
              <a:t>DCG@k  /  IDCG@k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2336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Нормалізована якість ранжування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02336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де DCG@k = Σᵢ relᵢ / log₂(i+1),
IDCG@k — DCG ідеального ранжування</a:t>
            </a:r>
          </a:p>
        </p:txBody>
      </p:sp>
      <p:sp>
        <p:nvSpPr>
          <p:cNvPr id="79" name="Rectangle 78"/>
          <p:cNvSpPr/>
          <p:nvPr/>
        </p:nvSpPr>
        <p:spPr>
          <a:xfrm>
            <a:off x="2464308" y="1225296"/>
            <a:ext cx="2061972" cy="41148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MRR</a:t>
            </a:r>
          </a:p>
        </p:txBody>
      </p:sp>
      <p:sp>
        <p:nvSpPr>
          <p:cNvPr id="80" name="Rectangle 79"/>
          <p:cNvSpPr/>
          <p:nvPr/>
        </p:nvSpPr>
        <p:spPr>
          <a:xfrm>
            <a:off x="2464308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ounded Rectangle 80"/>
          <p:cNvSpPr/>
          <p:nvPr/>
        </p:nvSpPr>
        <p:spPr>
          <a:xfrm>
            <a:off x="2601468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3B82F6"/>
                </a:solidFill>
                <a:latin typeface="Cambria Math"/>
              </a:rPr>
              <a:t>(1/|Q|) · Σ (1 / rankq)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555748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Mean Reciprocal Rank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2555748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середнє по запитах: 1 / (позиція
першого релевантного документа)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617720" y="1225296"/>
            <a:ext cx="2061972" cy="41148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Recall@k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4754880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0D9488"/>
                </a:solidFill>
                <a:latin typeface="Cambria Math"/>
              </a:rPr>
              <a:t>|Rel ∩ Retrieved|  /  |Rel|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709160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Повнота пошуку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709160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частка знайдених релевантних
документів серед усіх релевантних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771132" y="1225296"/>
            <a:ext cx="2061972" cy="41148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P@k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71132" y="1636776"/>
            <a:ext cx="2061972" cy="27432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6908292" y="1801368"/>
            <a:ext cx="1787652" cy="6400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200" b="1">
                <a:solidFill>
                  <a:srgbClr val="7C3AED"/>
                </a:solidFill>
                <a:latin typeface="Cambria Math"/>
              </a:rPr>
              <a:t>|Relk|  /  k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862572" y="2596896"/>
            <a:ext cx="1879092" cy="29260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1" i="0">
                <a:solidFill>
                  <a:srgbClr val="1F2937"/>
                </a:solidFill>
                <a:latin typeface="Calibri"/>
              </a:rPr>
              <a:t>Precision@k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862572" y="2916936"/>
            <a:ext cx="1879092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950" b="0" i="0">
                <a:solidFill>
                  <a:srgbClr val="64748B"/>
                </a:solidFill>
                <a:latin typeface="Calibri"/>
              </a:rPr>
              <a:t>частка релевантних серед
перших k результатів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Багатокритеріальний вибір моделі (МКВ)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1. Парето-домінування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P = { aᵢ ∈ A | ∄ ak ∈ A : ak ≻ aᵢ }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Виявлення альтернатив, які не домінуються жодною іншою за усіма критеріями одночасно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7352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2. Нормалізація шкал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97352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yᵢⱼ = (xᵢⱼ − min xⱼ) / (max xⱼ − min xⱼ)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Приведення усіх критеріїв до єдиної шкали [0; 1] з врахуванням напряму оптимізації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3808" y="1225296"/>
            <a:ext cx="2749296" cy="36576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3. Лінійна адитивна згортка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83808" y="1591056"/>
            <a:ext cx="2749296" cy="41148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4864" bIns="54864"/>
          <a:lstStyle/>
          <a:p>
            <a:pPr algn="ctr"/>
            <a:r>
              <a:rPr sz="1100" b="1">
                <a:solidFill>
                  <a:srgbClr val="F59E0B"/>
                </a:solidFill>
                <a:latin typeface="Cambria Math"/>
              </a:rPr>
              <a:t>U(aᵢ) = Σⱼ wⱼ · yᵢⱼ ,   де Σⱼ wⱼ = 1</a:t>
            </a:r>
          </a:p>
          <a:p>
            <a:pPr algn="ctr">
              <a:spcBef>
                <a:spcPts val="400"/>
              </a:spcBef>
            </a:pPr>
            <a:r>
              <a:rPr sz="900">
                <a:solidFill>
                  <a:srgbClr val="1F2937"/>
                </a:solidFill>
                <a:latin typeface="Calibri"/>
              </a:rPr>
              <a:t>Інтегральна оцінка корисності з ваговими коефіцієнтами критеріїв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10896" y="2185416"/>
            <a:ext cx="8522208" cy="228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 i="0">
                <a:solidFill>
                  <a:srgbClr val="1E3A8A"/>
                </a:solidFill>
                <a:latin typeface="Calibri"/>
              </a:rPr>
              <a:t>ДОМЕННО-СПЕЦИФІЧНІ ПРОФІЛІ ВАГ КРИТЕРІЇВ</a:t>
            </a:r>
          </a:p>
        </p:txBody>
      </p:sp>
      <p:graphicFrame>
        <p:nvGraphicFramePr>
          <p:cNvPr id="81" name="Table 80"/>
          <p:cNvGraphicFramePr>
            <a:graphicFrameLocks noGrp="1"/>
          </p:cNvGraphicFramePr>
          <p:nvPr/>
        </p:nvGraphicFramePr>
        <p:xfrm>
          <a:off x="310896" y="2441448"/>
          <a:ext cx="8522208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0368"/>
                <a:gridCol w="1420368"/>
                <a:gridCol w="1420368"/>
                <a:gridCol w="1420368"/>
                <a:gridCol w="1420368"/>
                <a:gridCol w="1420368"/>
              </a:tblGrid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Домен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nDCG@k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MRR@k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Recall@k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P@k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Latency (ms)</a:t>
                      </a:r>
                    </a:p>
                  </a:txBody>
                  <a:tcPr anchor="ctr">
                    <a:solidFill>
                      <a:srgbClr val="1E3A8A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Технічний</a:t>
                      </a:r>
                    </a:p>
                  </a:txBody>
                  <a:tcPr anchor="ctr"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Юридичний</a:t>
                      </a:r>
                    </a:p>
                  </a:txBody>
                  <a:tcPr anchor="ctr"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29718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Медичний</a:t>
                      </a:r>
                    </a:p>
                  </a:txBody>
                  <a:tcPr anchor="ctr">
                    <a:solidFill>
                      <a:srgbClr val="BE18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0.35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F2937"/>
                          </a:solidFill>
                          <a:latin typeface="Calibri"/>
                        </a:rPr>
                        <a:t>0.15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Деталізовані метрики за доменами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310896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5" name="Chart 74"/>
          <p:cNvGraphicFramePr>
            <a:graphicFrameLocks noGrp="1"/>
          </p:cNvGraphicFramePr>
          <p:nvPr/>
        </p:nvGraphicFramePr>
        <p:xfrm>
          <a:off x="3212592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76" name="Chart 75"/>
          <p:cNvGraphicFramePr>
            <a:graphicFrameLocks noGrp="1"/>
          </p:cNvGraphicFramePr>
          <p:nvPr/>
        </p:nvGraphicFramePr>
        <p:xfrm>
          <a:off x="6114288" y="1408176"/>
          <a:ext cx="2718816" cy="219456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77" name="Rounded Rectangle 76"/>
          <p:cNvSpPr/>
          <p:nvPr/>
        </p:nvSpPr>
        <p:spPr>
          <a:xfrm>
            <a:off x="310896" y="3739896"/>
            <a:ext cx="8522208" cy="5029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Швидкодія (ms/query): </a:t>
            </a:r>
            <a:r>
              <a:rPr sz="1000">
                <a:solidFill>
                  <a:srgbClr val="1F2937"/>
                </a:solidFill>
                <a:latin typeface="Calibri"/>
              </a:rPr>
              <a:t>BM25 ≈ 0.6–2.9   ◇   E5-base ≈ 67–225   ◇   nomic ≈ 131–407   ◇   Qwen3 ≈ 365–466   ◇   BGE-M3 ≈ 203–2960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Аналіз: якість пошуку vs швидкодія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graphicFrame>
        <p:nvGraphicFramePr>
          <p:cNvPr id="74" name="Chart 73"/>
          <p:cNvGraphicFramePr>
            <a:graphicFrameLocks noGrp="1"/>
          </p:cNvGraphicFramePr>
          <p:nvPr/>
        </p:nvGraphicFramePr>
        <p:xfrm>
          <a:off x="310896" y="1225296"/>
          <a:ext cx="548640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5" name="TextBox 74"/>
          <p:cNvSpPr txBox="1"/>
          <p:nvPr/>
        </p:nvSpPr>
        <p:spPr>
          <a:xfrm>
            <a:off x="5980176" y="1225296"/>
            <a:ext cx="2852928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>
                <a:solidFill>
                  <a:srgbClr val="1E3A8A"/>
                </a:solidFill>
                <a:latin typeface="Calibri"/>
              </a:rPr>
              <a:t>КЛЮЧОВІ ВИСНОВКИ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980176" y="1545336"/>
            <a:ext cx="91440" cy="50292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071616" y="1545336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Лідер якості: </a:t>
            </a:r>
            <a:r>
              <a:rPr sz="1000" b="1">
                <a:solidFill>
                  <a:srgbClr val="16A34A"/>
                </a:solidFill>
                <a:latin typeface="Calibri"/>
              </a:rPr>
              <a:t>BGE-M3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найвища nDCG, але повільний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980176" y="2103120"/>
            <a:ext cx="91440" cy="50292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071616" y="2103120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Найшвидший: </a:t>
            </a:r>
            <a:r>
              <a:rPr sz="1000" b="1">
                <a:solidFill>
                  <a:srgbClr val="64748B"/>
                </a:solidFill>
                <a:latin typeface="Calibri"/>
              </a:rPr>
              <a:t>BM25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&lt;3 мс, але якість обмежена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980176" y="2660904"/>
            <a:ext cx="91440" cy="50292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071616" y="2660904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Оптимум: </a:t>
            </a:r>
            <a:r>
              <a:rPr sz="1000" b="1">
                <a:solidFill>
                  <a:srgbClr val="3B82F6"/>
                </a:solidFill>
                <a:latin typeface="Calibri"/>
              </a:rPr>
              <a:t>E5-base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Парето-frontier, ~225 мс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980176" y="3218688"/>
            <a:ext cx="91440" cy="5029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071616" y="3218688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Без GPU: </a:t>
            </a:r>
            <a:r>
              <a:rPr sz="1000" b="1">
                <a:solidFill>
                  <a:srgbClr val="F59E0B"/>
                </a:solidFill>
                <a:latin typeface="Calibri"/>
              </a:rPr>
              <a:t>Qwen3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повільний, конкурентний</a:t>
            </a:r>
          </a:p>
        </p:txBody>
      </p:sp>
      <p:sp>
        <p:nvSpPr>
          <p:cNvPr id="84" name="Rectangle 83"/>
          <p:cNvSpPr/>
          <p:nvPr/>
        </p:nvSpPr>
        <p:spPr>
          <a:xfrm>
            <a:off x="5980176" y="3776472"/>
            <a:ext cx="91440" cy="50292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071616" y="3776472"/>
            <a:ext cx="2761488" cy="50292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54864" tIns="36576" bIns="36576"/>
          <a:lstStyle/>
          <a:p>
            <a:pPr algn="l"/>
            <a:r>
              <a:rPr sz="850" b="1">
                <a:solidFill>
                  <a:srgbClr val="64748B"/>
                </a:solidFill>
                <a:latin typeface="Calibri"/>
              </a:rPr>
              <a:t>Найслабший: </a:t>
            </a:r>
            <a:r>
              <a:rPr sz="1000" b="1">
                <a:solidFill>
                  <a:srgbClr val="DC2626"/>
                </a:solidFill>
                <a:latin typeface="Calibri"/>
              </a:rPr>
              <a:t>nomic</a:t>
            </a:r>
          </a:p>
          <a:p>
            <a:pPr algn="l"/>
            <a:r>
              <a:rPr sz="850">
                <a:solidFill>
                  <a:srgbClr val="1F2937"/>
                </a:solidFill>
                <a:latin typeface="Calibri"/>
              </a:rPr>
              <a:t>поступається навіть BM25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71" name="Google Shape;71;p14"/>
          <p:cNvSpPr txBox="1">
            <a:spLocks noGrp="1"/>
          </p:cNvSpPr>
          <p:nvPr>
            <p:ph type="title"/>
          </p:nvPr>
        </p:nvSpPr>
        <p:spPr>
          <a:xfrm>
            <a:off x="311700" y="0"/>
            <a:ext cx="8520600" cy="831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r>
              <a:rPr sz="2400" b="1">
                <a:solidFill>
                  <a:srgbClr val="1F2937"/>
                </a:solidFill>
                <a:latin typeface="Calibri"/>
              </a:rPr>
              <a:t>Приклади benchmark-запитів</a:t>
            </a:r>
          </a:p>
        </p:txBody>
      </p:sp>
      <p:pic>
        <p:nvPicPr>
          <p:cNvPr id="73" name="Google Shape;73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268925" y="4359500"/>
            <a:ext cx="862250" cy="581750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893E68CA-DEF7-D32D-BFB6-7B402335F4C7}"/>
              </a:ext>
            </a:extLst>
          </p:cNvPr>
          <p:cNvSpPr txBox="1"/>
          <p:nvPr/>
        </p:nvSpPr>
        <p:spPr>
          <a:xfrm>
            <a:off x="8778240" y="4606349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A35EEF41-5B9E-4186-8855-3C8162DCC2D6}" type="slidenum">
              <a:rPr lang="uk-UA" smtClean="0"/>
              <a:t>2</a:t>
            </a:fld>
            <a:endParaRPr lang="uk-UA" dirty="0"/>
          </a:p>
        </p:txBody>
      </p:sp>
      <p:sp>
        <p:nvSpPr>
          <p:cNvPr id="74" name="Rectangle 73"/>
          <p:cNvSpPr/>
          <p:nvPr/>
        </p:nvSpPr>
        <p:spPr>
          <a:xfrm>
            <a:off x="310896" y="1225296"/>
            <a:ext cx="2749296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Технічний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10896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q1 </a:t>
            </a:r>
            <a:r>
              <a:rPr sz="950">
                <a:solidFill>
                  <a:srgbClr val="1F2937"/>
                </a:solidFill>
                <a:latin typeface="Calibri"/>
              </a:rPr>
              <a:t>« виявлення аномалій у фінансових транзакціях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q3 </a:t>
            </a:r>
            <a:r>
              <a:rPr sz="950">
                <a:solidFill>
                  <a:srgbClr val="1F2937"/>
                </a:solidFill>
                <a:latin typeface="Calibri"/>
              </a:rPr>
              <a:t>« комбінація Autoencoder та Isolation Forest для fraud detection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q6 </a:t>
            </a:r>
            <a:r>
              <a:rPr sz="950">
                <a:solidFill>
                  <a:srgbClr val="1F2937"/>
                </a:solidFill>
                <a:latin typeface="Calibri"/>
              </a:rPr>
              <a:t>« прогноз відтоку клієнтів (churn prediction)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q7 </a:t>
            </a:r>
            <a:r>
              <a:rPr sz="950">
                <a:solidFill>
                  <a:srgbClr val="1F2937"/>
                </a:solidFill>
                <a:latin typeface="Calibri"/>
              </a:rPr>
              <a:t>« когортний аналіз для сегментації клієнтів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1E40AF"/>
                </a:solidFill>
                <a:latin typeface="Consolas"/>
              </a:rPr>
              <a:t>q8 </a:t>
            </a:r>
            <a:r>
              <a:rPr sz="950">
                <a:solidFill>
                  <a:srgbClr val="1F2937"/>
                </a:solidFill>
                <a:latin typeface="Calibri"/>
              </a:rPr>
              <a:t>« етичні питання використання персональних даних »</a:t>
            </a:r>
          </a:p>
        </p:txBody>
      </p:sp>
      <p:sp>
        <p:nvSpPr>
          <p:cNvPr id="76" name="Rectangle 75"/>
          <p:cNvSpPr/>
          <p:nvPr/>
        </p:nvSpPr>
        <p:spPr>
          <a:xfrm>
            <a:off x="3197352" y="1225296"/>
            <a:ext cx="2749296" cy="3657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Юридичний</a:t>
            </a:r>
          </a:p>
        </p:txBody>
      </p:sp>
      <p:sp>
        <p:nvSpPr>
          <p:cNvPr id="77" name="Rectangle 76"/>
          <p:cNvSpPr/>
          <p:nvPr/>
        </p:nvSpPr>
        <p:spPr>
          <a:xfrm>
            <a:off x="3197352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L001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цивільна дієздатність фізичної особи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L002 </a:t>
            </a:r>
            <a:r>
              <a:rPr sz="950">
                <a:solidFill>
                  <a:srgbClr val="1F2937"/>
                </a:solidFill>
                <a:latin typeface="Calibri"/>
              </a:rPr>
              <a:t>« з якого віку настає повна цивільна дієздатність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L003 </a:t>
            </a:r>
            <a:r>
              <a:rPr sz="950">
                <a:solidFill>
                  <a:srgbClr val="1F2937"/>
                </a:solidFill>
                <a:latin typeface="Calibri"/>
              </a:rPr>
              <a:t>« підстави обмеження цивільної дієздатності судом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L004 </a:t>
            </a:r>
            <a:r>
              <a:rPr sz="950">
                <a:solidFill>
                  <a:srgbClr val="1F2937"/>
                </a:solidFill>
                <a:latin typeface="Calibri"/>
              </a:rPr>
              <a:t>« поняття юридичної особи та порядок її реєстрації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45309"/>
                </a:solidFill>
                <a:latin typeface="Consolas"/>
              </a:rPr>
              <a:t>L005 </a:t>
            </a:r>
            <a:r>
              <a:rPr sz="950">
                <a:solidFill>
                  <a:srgbClr val="1F2937"/>
                </a:solidFill>
                <a:latin typeface="Calibri"/>
              </a:rPr>
              <a:t>« що входить до складу спадщини »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083808" y="1225296"/>
            <a:ext cx="2749296" cy="36576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Медичний</a:t>
            </a:r>
          </a:p>
        </p:txBody>
      </p:sp>
      <p:sp>
        <p:nvSpPr>
          <p:cNvPr id="79" name="Rectangle 78"/>
          <p:cNvSpPr/>
          <p:nvPr/>
        </p:nvSpPr>
        <p:spPr>
          <a:xfrm>
            <a:off x="6083808" y="1591056"/>
            <a:ext cx="2749296" cy="2286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37160" rIns="109728" tIns="91440" bIns="91440"/>
          <a:lstStyle/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M001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серцево-судинна система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M002 </a:t>
            </a:r>
            <a:r>
              <a:rPr sz="950">
                <a:solidFill>
                  <a:srgbClr val="1F2937"/>
                </a:solidFill>
                <a:latin typeface="Calibri"/>
              </a:rPr>
              <a:t>« будова та функції серця людини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M003 </a:t>
            </a:r>
            <a:r>
              <a:rPr sz="950">
                <a:solidFill>
                  <a:srgbClr val="1F2937"/>
                </a:solidFill>
                <a:latin typeface="Calibri"/>
              </a:rPr>
              <a:t>« що таке артеріальний тиск і як він регулюється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M004 </a:t>
            </a:r>
            <a:r>
              <a:rPr sz="950">
                <a:solidFill>
                  <a:srgbClr val="1F2937"/>
                </a:solidFill>
                <a:latin typeface="Calibri"/>
              </a:rPr>
              <a:t>« велике і мале коло кровообігу — відмінності »</a:t>
            </a:r>
          </a:p>
          <a:p>
            <a:pPr algn="l">
              <a:spcAft>
                <a:spcPts val="700"/>
              </a:spcAft>
            </a:pPr>
            <a:r>
              <a:rPr sz="800" b="1">
                <a:solidFill>
                  <a:srgbClr val="BE185D"/>
                </a:solidFill>
                <a:latin typeface="Consolas"/>
              </a:rPr>
              <a:t>M005 </a:t>
            </a:r>
            <a:r>
              <a:rPr sz="950">
                <a:solidFill>
                  <a:srgbClr val="1F2937"/>
                </a:solidFill>
                <a:latin typeface="Calibri"/>
              </a:rPr>
              <a:t>« будова дихальної системи людини »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310896" y="4014216"/>
            <a:ext cx="8522208" cy="4114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/>
          <a:lstStyle/>
          <a:p>
            <a:pPr algn="l"/>
            <a:r>
              <a:rPr sz="1000" b="1">
                <a:solidFill>
                  <a:srgbClr val="F59E0B"/>
                </a:solidFill>
                <a:latin typeface="Calibri"/>
              </a:rPr>
              <a:t>Типи запитів: </a:t>
            </a:r>
            <a:r>
              <a:rPr sz="950">
                <a:solidFill>
                  <a:srgbClr val="1F2937"/>
                </a:solidFill>
                <a:latin typeface="Calibri"/>
              </a:rPr>
              <a:t>definition · factual · procedural · technical · topic · method · policy · comparison    (qrels — релевантні чанки сформовано вручну для кожного запиту)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uxe">
  <a:themeElements>
    <a:clrScheme name="Luxe">
      <a:dk1>
        <a:srgbClr val="000000"/>
      </a:dk1>
      <a:lt1>
        <a:srgbClr val="FFFFFF"/>
      </a:lt1>
      <a:dk2>
        <a:srgbClr val="B7B7B7"/>
      </a:dk2>
      <a:lt2>
        <a:srgbClr val="CCA677"/>
      </a:lt2>
      <a:accent1>
        <a:srgbClr val="5D4037"/>
      </a:accent1>
      <a:accent2>
        <a:srgbClr val="455A64"/>
      </a:accent2>
      <a:accent3>
        <a:srgbClr val="57BB8A"/>
      </a:accent3>
      <a:accent4>
        <a:srgbClr val="78909C"/>
      </a:accent4>
      <a:accent5>
        <a:srgbClr val="607D8B"/>
      </a:accent5>
      <a:accent6>
        <a:srgbClr val="DCE755"/>
      </a:accent6>
      <a:hlink>
        <a:srgbClr val="607D8B"/>
      </a:hlink>
      <a:folHlink>
        <a:srgbClr val="607D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Презентация2" id="{0E3422D2-66DD-48A8-92AD-38892F6C1A30}" vid="{81CCDA4E-A18F-4826-B11D-205FC05A0769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48185F-D27F-4569-B8CA-E87D2F1A45D6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763b6b1d-82db-4751-a58e-5d76e53ea6b5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Шаблон презентації квал роб маг</Template>
  <TotalTime>7</TotalTime>
  <Words>177</Words>
  <Application>Microsoft Office PowerPoint</Application>
  <PresentationFormat>On-screen Show (16:9)</PresentationFormat>
  <Paragraphs>60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Economica</vt:lpstr>
      <vt:lpstr>Open Sans</vt:lpstr>
      <vt:lpstr>Arial</vt:lpstr>
      <vt:lpstr>Luxe</vt:lpstr>
      <vt:lpstr>Дослідження моделей векторних ембеддінгів для семантичного пошуку текстових даних у корпоративних базах знань</vt:lpstr>
      <vt:lpstr>Дослідження</vt:lpstr>
      <vt:lpstr>Огляд літератури (аналогів) </vt:lpstr>
      <vt:lpstr>Постановка задачі</vt:lpstr>
      <vt:lpstr>Методологія </vt:lpstr>
      <vt:lpstr>Архітектура система для проведення експериментального дослідження</vt:lpstr>
      <vt:lpstr>Опис програмного забезпечення, що було використано у дослідженні</vt:lpstr>
      <vt:lpstr>Зміст проведеного експерименту</vt:lpstr>
      <vt:lpstr>Результати експерименту </vt:lpstr>
      <vt:lpstr>Аналіз отриманих результатів </vt:lpstr>
      <vt:lpstr>Публікація результатів </vt:lpstr>
      <vt:lpstr>Підсумки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Віталій Нестеренко</dc:creator>
  <cp:lastModifiedBy>Віталій Нестеренко</cp:lastModifiedBy>
  <cp:revision>6</cp:revision>
  <dcterms:created xsi:type="dcterms:W3CDTF">2026-05-01T19:10:02Z</dcterms:created>
  <dcterms:modified xsi:type="dcterms:W3CDTF">2026-05-01T19:17:25Z</dcterms:modified>
</cp:coreProperties>
</file>
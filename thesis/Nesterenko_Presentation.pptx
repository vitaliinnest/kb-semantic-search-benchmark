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4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5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0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1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568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278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>137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596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E293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8192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512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>8192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32768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E293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logBase val="10"/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nDCG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0.3</c:v>
                </c:pt>
                <c:pt idx="1">
                  <c:v>0.3</c:v>
                </c:pt>
                <c:pt idx="2">
                  <c:v>0.25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MRR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0.2</c:v>
                </c:pt>
                <c:pt idx="1">
                  <c:v>0.3</c:v>
                </c:pt>
                <c:pt idx="2">
                  <c:v>0.15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Recall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0.25</c:v>
                </c:pt>
                <c:pt idx="1">
                  <c:v>0.2</c:v>
                </c:pt>
                <c:pt idx="2">
                  <c:v>0.35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P@k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0.05</c:v>
                </c:pt>
                <c:pt idx="1">
                  <c:v>0.1</c:v>
                </c:pt>
                <c:pt idx="2">
                  <c:v>0.1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Latency</c:v>
                </c:pt>
              </c:strCache>
            </c:strRef>
          </c:tx>
          <c:spPr>
            <a:solidFill>
              <a:srgbClr val="E11D4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0.2</c:v>
                </c:pt>
                <c:pt idx="1">
                  <c:v>0.1</c:v>
                </c:pt>
                <c:pt idx="2">
                  <c:v>0.15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475569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Чанки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40AF"/>
              </a:solidFill>
              <a:effectLst/>
            </c:spPr>
          </c:dPt>
          <c:dPt>
            <c:idx val="1"/>
            <c:bubble3D val="0"/>
            <c:spPr>
              <a:solidFill>
                <a:srgbClr val="7C3AED"/>
              </a:solidFill>
              <a:effectLst/>
            </c:spPr>
          </c:dPt>
          <c:dPt>
            <c:idx val="2"/>
            <c:bubble3D val="0"/>
            <c:spPr>
              <a:solidFill>
                <a:srgbClr val="E11D48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1E293B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1E293B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1E293B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Технічний (178)</c:v>
                </c:pt>
                <c:pt idx="1">
                  <c:v>Юридичний (1046)</c:v>
                </c:pt>
                <c:pt idx="2">
                  <c:v>Медичний (267)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178</c:v>
                </c:pt>
                <c:pt idx="1">
                  <c:v>1046</c:v>
                </c:pt>
                <c:pt idx="2">
                  <c:v>267</c:v>
                </c:pt>
              </c:numCache>
            </c:numRef>
          </c:val>
        </c:ser>
        <c:firstSliceAng val="0"/>
        <c:holeSize val="60"/>
      </c:doughnutChart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475569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0.6722</c:v>
                </c:pt>
                <c:pt idx="1">
                  <c:v>0.3065</c:v>
                </c:pt>
                <c:pt idx="2">
                  <c:v>0.4339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0.6325</c:v>
                </c:pt>
                <c:pt idx="1">
                  <c:v>0.3199</c:v>
                </c:pt>
                <c:pt idx="2">
                  <c:v>0.3629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0.6121</c:v>
                </c:pt>
                <c:pt idx="1">
                  <c:v>0.2567</c:v>
                </c:pt>
                <c:pt idx="2">
                  <c:v>0.3909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0.4861</c:v>
                </c:pt>
                <c:pt idx="1">
                  <c:v>0.1875</c:v>
                </c:pt>
                <c:pt idx="2">
                  <c:v>0.3222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0.3765</c:v>
                </c:pt>
                <c:pt idx="1">
                  <c:v>0.0951</c:v>
                </c:pt>
                <c:pt idx="2">
                  <c:v>0.1668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800" u="none">
                  <a:solidFill>
                    <a:srgbClr val="1E293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E293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5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E293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0.6722</c:v>
                </c:pt>
                <c:pt idx="1">
                  <c:v>0.3065</c:v>
                </c:pt>
                <c:pt idx="2">
                  <c:v>0.4339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0.6325</c:v>
                </c:pt>
                <c:pt idx="1">
                  <c:v>0.3199</c:v>
                </c:pt>
                <c:pt idx="2">
                  <c:v>0.3629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0.6121</c:v>
                </c:pt>
                <c:pt idx="1">
                  <c:v>0.2567</c:v>
                </c:pt>
                <c:pt idx="2">
                  <c:v>0.3909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0.4861</c:v>
                </c:pt>
                <c:pt idx="1">
                  <c:v>0.1875</c:v>
                </c:pt>
                <c:pt idx="2">
                  <c:v>0.3222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0.3765</c:v>
                </c:pt>
                <c:pt idx="1">
                  <c:v>0.0951</c:v>
                </c:pt>
                <c:pt idx="2">
                  <c:v>0.1668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5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
              <a:solidFill>
                <a:srgbClr val="475569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0.6993</c:v>
                </c:pt>
                <c:pt idx="1">
                  <c:v>0.3831</c:v>
                </c:pt>
                <c:pt idx="2">
                  <c:v>0.5054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0.666</c:v>
                </c:pt>
                <c:pt idx="1">
                  <c:v>0.4022</c:v>
                </c:pt>
                <c:pt idx="2">
                  <c:v>0.4256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0.645</c:v>
                </c:pt>
                <c:pt idx="1">
                  <c:v>0.3318</c:v>
                </c:pt>
                <c:pt idx="2">
                  <c:v>0.4647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0.4808</c:v>
                </c:pt>
                <c:pt idx="1">
                  <c:v>0.2533</c:v>
                </c:pt>
                <c:pt idx="2">
                  <c:v>0.4003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0.425</c:v>
                </c:pt>
                <c:pt idx="1">
                  <c:v>0.1432</c:v>
                </c:pt>
                <c:pt idx="2">
                  <c:v>0.2167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0.815</c:v>
                </c:pt>
                <c:pt idx="1">
                  <c:v>0.375</c:v>
                </c:pt>
                <c:pt idx="2">
                  <c:v>0.545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0.76</c:v>
                </c:pt>
                <c:pt idx="1">
                  <c:v>0.385</c:v>
                </c:pt>
                <c:pt idx="2">
                  <c:v>0.4717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0.7458</c:v>
                </c:pt>
                <c:pt idx="1">
                  <c:v>0.33</c:v>
                </c:pt>
                <c:pt idx="2">
                  <c:v>0.505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0.7542</c:v>
                </c:pt>
                <c:pt idx="1">
                  <c:v>0.2333</c:v>
                </c:pt>
                <c:pt idx="2">
                  <c:v>0.3983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0.4783</c:v>
                </c:pt>
                <c:pt idx="1">
                  <c:v>0.125</c:v>
                </c:pt>
                <c:pt idx="2">
                  <c:v>0.2333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0.143</c:v>
                </c:pt>
                <c:pt idx="1">
                  <c:v>0.106</c:v>
                </c:pt>
                <c:pt idx="2">
                  <c:v>0.14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0.138</c:v>
                </c:pt>
                <c:pt idx="1">
                  <c:v>0.11</c:v>
                </c:pt>
                <c:pt idx="2">
                  <c:v>0.129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0.139</c:v>
                </c:pt>
                <c:pt idx="1">
                  <c:v>0.089</c:v>
                </c:pt>
                <c:pt idx="2">
                  <c:v>0.134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0.134</c:v>
                </c:pt>
                <c:pt idx="1">
                  <c:v>0.064</c:v>
                </c:pt>
                <c:pt idx="2">
                  <c:v>0.1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0.09</c:v>
                </c:pt>
                <c:pt idx="1">
                  <c:v>0.027</c:v>
                </c:pt>
                <c:pt idx="2">
                  <c:v>0.054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6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0.904</c:v>
                </c:pt>
                <c:pt idx="1">
                  <c:v>0.872</c:v>
                </c:pt>
                <c:pt idx="2">
                  <c:v>0.912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0.825</c:v>
                </c:pt>
                <c:pt idx="1">
                  <c:v>0.914</c:v>
                </c:pt>
                <c:pt idx="2">
                  <c:v>0.802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0.875</c:v>
                </c:pt>
                <c:pt idx="1">
                  <c:v>0.844</c:v>
                </c:pt>
                <c:pt idx="2">
                  <c:v>0.901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0.795</c:v>
                </c:pt>
                <c:pt idx="1">
                  <c:v>0.741</c:v>
                </c:pt>
                <c:pt idx="2">
                  <c:v>0.817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0.611</c:v>
                </c:pt>
                <c:pt idx="1">
                  <c:v>0.503</c:v>
                </c:pt>
                <c:pt idx="2">
                  <c:v>0.568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750" u="none">
                  <a:solidFill>
                    <a:srgbClr val="1E293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E293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1E293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nDCG@10</c:v>
                </c:pt>
              </c:strCache>
            </c:strRef>
          </c:tx>
          <c:spPr>
            <a:solidFill>
              <a:srgbClr val="1E40AF"/>
            </a:solidFill>
            <a:ln>
              <a:noFill/>
            </a:ln>
            <a:effectLst/>
          </c:spPr>
          <c:marker>
            <c:symbol val="circle"/>
            <c:size val="14"/>
            <c:spPr>
              <a:solidFill>
                <a:srgbClr val="1E40AF"/>
              </a:solidFill>
              <a:ln w="9525" cap="flat">
                <a:solidFill>
                  <a:srgbClr val="1E40AF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0.4</c:v>
                </c:pt>
                <c:pt idx="1">
                  <c:v>70.9</c:v>
                </c:pt>
                <c:pt idx="2">
                  <c:v>124.8</c:v>
                </c:pt>
                <c:pt idx="3">
                  <c:v>222.5</c:v>
                </c:pt>
                <c:pt idx="4">
                  <c:v>463.4</c:v>
                </c:pt>
              </c:numCache>
            </c:numRef>
          </c:xVal>
          <c:yVal>
            <c:numRef>
              <c:f>Sheet1!$B$2:$B$6</c:f>
              <c:numCache>
                <c:formatCode>General</c:formatCode>
                <c:ptCount val="5"/>
                <c:pt idx="0">
                  <c:v>0.4861</c:v>
                </c:pt>
                <c:pt idx="1">
                  <c:v>0.6121</c:v>
                </c:pt>
                <c:pt idx="2">
                  <c:v>0.3765</c:v>
                </c:pt>
                <c:pt idx="3">
                  <c:v>0.6722</c:v>
                </c:pt>
                <c:pt idx="4">
                  <c:v>0.6325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500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475569"/>
                    </a:solidFill>
                    <a:latin typeface="Calibri"/>
                  </a:defRPr>
                </a:pPr>
                <a:r>
                  <a:rPr sz="900" b="0" i="0" u="none" strike="noStrike">
                    <a:solidFill>
                      <a:srgbClr val="475569"/>
                    </a:solidFill>
                    <a:latin typeface="Calibri"/>
                  </a:rPr>
                  <a:t>ms / запит (нижче — краще)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475569"/>
                    </a:solidFill>
                    <a:latin typeface="Calibri"/>
                  </a:defRPr>
                </a:pPr>
                <a:r>
                  <a:rPr sz="900" b="0" i="0" u="none" strike="noStrike">
                    <a:solidFill>
                      <a:srgbClr val="475569"/>
                    </a:solidFill>
                    <a:latin typeface="Calibri"/>
                  </a:rPr>
                  <a:t>nDCG@10 (вище — краще)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.xml"/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5" Type="http://schemas.openxmlformats.org/officeDocument/2006/relationships/image" Target="../media/image-11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image" Target="../media/image-1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chart" Target="/ppt/charts/chart8.xml"/><Relationship Id="rId4" Type="http://schemas.openxmlformats.org/officeDocument/2006/relationships/chart" Target="/ppt/charts/chart9.xml"/><Relationship Id="rId5" Type="http://schemas.openxmlformats.org/officeDocument/2006/relationships/image" Target="../media/image-14-1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image" Target="../media/image-1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-1280160"/>
            <a:ext cx="3840480" cy="3840480"/>
          </a:xfrm>
          <a:prstGeom prst="ellipse">
            <a:avLst/>
          </a:prstGeom>
          <a:solidFill>
            <a:srgbClr val="1E3A8A">
              <a:alpha val="7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498080" y="-731520"/>
            <a:ext cx="2743200" cy="2743200"/>
          </a:xfrm>
          <a:prstGeom prst="ellipse">
            <a:avLst/>
          </a:prstGeom>
          <a:solidFill>
            <a:srgbClr val="1E40AF">
              <a:alpha val="5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63840" y="-365760"/>
            <a:ext cx="1645920" cy="1645920"/>
          </a:xfrm>
          <a:prstGeom prst="ellipse">
            <a:avLst/>
          </a:prstGeom>
          <a:solidFill>
            <a:srgbClr val="F59E0B">
              <a:alpha val="4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-365760" y="3840480"/>
            <a:ext cx="1280160" cy="1280160"/>
          </a:xfrm>
          <a:prstGeom prst="rect">
            <a:avLst/>
          </a:prstGeom>
          <a:solidFill>
            <a:srgbClr val="0891B2">
              <a:alpha val="5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457200"/>
            <a:ext cx="3840480" cy="310896"/>
          </a:xfrm>
          <a:prstGeom prst="roundRect">
            <a:avLst>
              <a:gd name="adj" fmla="val 47059"/>
            </a:avLst>
          </a:prstGeom>
          <a:solidFill>
            <a:srgbClr val="0F172A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45720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МАГІСТЕРСЬКА КВАЛІФІКАЦІЙНА РОБОТА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960120"/>
            <a:ext cx="78638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Дослідження моделей векторних ембеддінгів для семантичного пошуку текстових даних у корпоративних базах знань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411480" y="2834640"/>
            <a:ext cx="73152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11480" y="301752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Виконав:  </a:t>
            </a:r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Нестеренко Віталій Вячеславович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Група:  </a:t>
            </a:r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ІПЗм-24-1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11480" y="388620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Науковий керівник:  </a:t>
            </a:r>
            <a:endParaRPr lang="en-US" sz="13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к.т.н., доцент Русакова Наталія Євгенівна</a:t>
            </a:r>
            <a:endParaRPr lang="en-US" sz="13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4069080"/>
            <a:ext cx="182880" cy="18288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7406640" y="402336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травня 2026   ·   Харків</a:t>
            </a:r>
            <a:endParaRPr lang="en-US" sz="1100" dirty="0"/>
          </a:p>
        </p:txBody>
      </p:sp>
      <p:pic>
        <p:nvPicPr>
          <p:cNvPr id="14" name="Image 1" descr="D:\repos\kb-semantic-search-benchmark\thesis\scripts\_logo_xnu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686300"/>
            <a:ext cx="1645920" cy="365760"/>
          </a:xfrm>
          <a:prstGeom prst="rect">
            <a:avLst/>
          </a:prstGeom>
        </p:spPr>
      </p:pic>
      <p:pic>
        <p:nvPicPr>
          <p:cNvPr id="15" name="Image 2" descr="D:\repos\kb-semantic-search-benchmark\thesis\scripts\_logo_kafedr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1720" y="4704588"/>
            <a:ext cx="1645920" cy="329184"/>
          </a:xfrm>
          <a:prstGeom prst="rect">
            <a:avLst/>
          </a:prstGeom>
        </p:spPr>
      </p:pic>
      <p:pic>
        <p:nvPicPr>
          <p:cNvPr id="16" name="Image 3" descr="D:\repos\kb-semantic-search-benchmark\thesis\scripts\_logo_hex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1960" y="4686300"/>
            <a:ext cx="64008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1 · ДОСЛІДЖЕННЯ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Актуальність, мета та задачі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8321040" cy="777240"/>
          </a:xfrm>
          <a:prstGeom prst="roundRect">
            <a:avLst>
              <a:gd name="adj" fmla="val 7059"/>
            </a:avLst>
          </a:prstGeom>
          <a:solidFill>
            <a:srgbClr val="1E40AF"/>
          </a:solidFill>
          <a:ln w="9525">
            <a:solidFill>
              <a:srgbClr val="1E40AF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09728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0160" y="1005840"/>
            <a:ext cx="7360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МЕТА:  </a:t>
            </a:r>
            <a:pPr indent="0" marL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визначення доцільності застосування сучасних моделей векторних ембеддінгів для підвищення ефективності семантичного пошуку текстових документів у корпоративних базах знань шляхом порівняльного експериментального дослідження.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11480" y="1874520"/>
            <a:ext cx="4160520" cy="640080"/>
          </a:xfrm>
          <a:prstGeom prst="roundRect">
            <a:avLst>
              <a:gd name="adj" fmla="val 857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576072" y="19293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ОБ'ЄКТ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576072" y="21488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процеси формування та використання векторних подань текстових даних у системах семантичного пошуку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754880" y="1874520"/>
            <a:ext cx="4160520" cy="640080"/>
          </a:xfrm>
          <a:prstGeom prst="roundRect">
            <a:avLst>
              <a:gd name="adj" fmla="val 857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4919472" y="192938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ПРЕДМЕТ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919472" y="21488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моделі векторних ембеддінгів для семантичного пошуку у корпоративних базах знань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411480" y="2606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ЗАДАЧІ ДОСЛІДЖЕННЯ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114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760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17" name="Text 14"/>
          <p:cNvSpPr/>
          <p:nvPr/>
        </p:nvSpPr>
        <p:spPr>
          <a:xfrm>
            <a:off x="5760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10972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Аналіз предметної галузі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32308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33954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21" name="Text 18"/>
          <p:cNvSpPr/>
          <p:nvPr/>
        </p:nvSpPr>
        <p:spPr>
          <a:xfrm>
            <a:off x="33954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39166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Огляд embedding-моделей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0502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62148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25" name="Text 22"/>
          <p:cNvSpPr/>
          <p:nvPr/>
        </p:nvSpPr>
        <p:spPr>
          <a:xfrm>
            <a:off x="62148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67360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Формування benchmark dataset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114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5760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29" name="Text 26"/>
          <p:cNvSpPr/>
          <p:nvPr/>
        </p:nvSpPr>
        <p:spPr>
          <a:xfrm>
            <a:off x="5760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10972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Реалізація системи пошуку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32308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33954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33" name="Text 30"/>
          <p:cNvSpPr/>
          <p:nvPr/>
        </p:nvSpPr>
        <p:spPr>
          <a:xfrm>
            <a:off x="33954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39166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Оцінка якості моделей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60502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2148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37" name="Text 34"/>
          <p:cNvSpPr/>
          <p:nvPr/>
        </p:nvSpPr>
        <p:spPr>
          <a:xfrm>
            <a:off x="62148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8" name="Text 35"/>
          <p:cNvSpPr/>
          <p:nvPr/>
        </p:nvSpPr>
        <p:spPr>
          <a:xfrm>
            <a:off x="67360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Вибір оптимальної моделі</a:t>
            </a:r>
            <a:endParaRPr lang="en-US" sz="1100" dirty="0"/>
          </a:p>
        </p:txBody>
      </p:sp>
      <p:pic>
        <p:nvPicPr>
          <p:cNvPr id="39" name="Image 1" descr="D:\repos\kb-semantic-search-benchmark\thesis\scripts\_logo_he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6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2 · ОГЛЯД ЛІТЕРАТУРИ (АНАЛОГІВ)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Огляд літератури: еволюція embedding-моделей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77240" y="2697480"/>
            <a:ext cx="7589520" cy="22860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2013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574036"/>
            <a:ext cx="274320" cy="274320"/>
          </a:xfrm>
          <a:prstGeom prst="ellipse">
            <a:avLst/>
          </a:prstGeom>
          <a:solidFill>
            <a:srgbClr val="64748B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Word2Vec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0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Mikolov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-91440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Статистичні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векторні подання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837944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2018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157984" y="2574036"/>
            <a:ext cx="274320" cy="274320"/>
          </a:xfrm>
          <a:prstGeom prst="ellipse">
            <a:avLst/>
          </a:prstGeom>
          <a:solidFill>
            <a:srgbClr val="0891B2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17904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517904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Devlin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426464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Трансформери,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контекстність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355848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675888" y="2574036"/>
            <a:ext cx="274320" cy="274320"/>
          </a:xfrm>
          <a:prstGeom prst="ellipse">
            <a:avLst/>
          </a:prstGeom>
          <a:solidFill>
            <a:srgbClr val="0891B2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35808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Sentence-BERT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035808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Reimers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944368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Семантичні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векторизатори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873752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193792" y="2574036"/>
            <a:ext cx="274320" cy="274320"/>
          </a:xfrm>
          <a:prstGeom prst="ellipse">
            <a:avLst/>
          </a:prstGeom>
          <a:solidFill>
            <a:srgbClr val="1E40AF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53712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53712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462272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contrastive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91656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711696" y="2574036"/>
            <a:ext cx="274320" cy="274320"/>
          </a:xfrm>
          <a:prstGeom prst="ellipse">
            <a:avLst/>
          </a:prstGeom>
          <a:solidFill>
            <a:srgbClr val="1E40AF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71616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 / nomic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071616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Chen / Nussbaum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980176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Multi-functionality,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context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909560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229600" y="2574036"/>
            <a:ext cx="274320" cy="274320"/>
          </a:xfrm>
          <a:prstGeom prst="ellipse">
            <a:avLst/>
          </a:prstGeom>
          <a:solidFill>
            <a:srgbClr val="F59E0B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589520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Qwen3-Embed.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589520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Zhang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498080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Decoder-based,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instruction-aware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11480" y="960120"/>
            <a:ext cx="8321040" cy="868680"/>
          </a:xfrm>
          <a:prstGeom prst="roundRect">
            <a:avLst>
              <a:gd name="adj" fmla="val 6316"/>
            </a:avLst>
          </a:prstGeom>
          <a:solidFill>
            <a:srgbClr val="EFF6FF"/>
          </a:solidFill>
          <a:ln w="12700">
            <a:solidFill>
              <a:srgbClr val="1E40AF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143000"/>
            <a:ext cx="502920" cy="502920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1280160" y="1005840"/>
            <a:ext cx="7269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Дослідницька прогалина:  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відсутність порівняльних досліджень embedding-моделей на україномовних доменно-специфічних колекціях. </a:t>
            </a:r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Опрацьовано 29 наукових джерел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(Lewis 2020 — RAG, Robertson 2009 — BM25, Thakur 2021 — BEIR, Muennighoff 2023 — MTEB).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411480" y="4297680"/>
            <a:ext cx="8321040" cy="365760"/>
          </a:xfrm>
          <a:prstGeom prst="roundRect">
            <a:avLst>
              <a:gd name="adj" fmla="val 15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411480" y="429768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Хронологічний охоплюваний період:  </a:t>
            </a:r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2013 – 2025  </a:t>
            </a:r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статистичні → контекстні → багатофункціональні   ·  </a:t>
            </a:r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12+ років еволюції</a:t>
            </a:r>
            <a:endParaRPr lang="en-US" sz="1050" dirty="0"/>
          </a:p>
        </p:txBody>
      </p:sp>
      <p:pic>
        <p:nvPicPr>
          <p:cNvPr id="41" name="Image 1" descr="D:\repos\kb-semantic-search-benchmark\thesis\scripts\_logo_he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2" name="Text 38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3 · ПОСТАНОВКА ЗАДАЧІ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Постановка задачі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3337560" cy="3703320"/>
          </a:xfrm>
          <a:prstGeom prst="roundRect">
            <a:avLst>
              <a:gd name="adj" fmla="val 2740"/>
            </a:avLst>
          </a:prstGeom>
          <a:solidFill>
            <a:srgbClr val="0F172A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14300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85800" y="146304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Недостатньо просто застосувати сучасну embedding-модель — необхідно обґрунтовано визначити модель, що забезпечує оптимальний баланс між: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85800" y="2487168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237744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семантичного пошуку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85800" y="2944368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283464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швидкодія на CPU/GPU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3401568"/>
            <a:ext cx="91440" cy="9144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329184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вимоги до пам'яті та ресурсів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85800" y="3858768"/>
            <a:ext cx="91440" cy="9144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" y="374904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мовна підтримка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5800" y="4315968"/>
            <a:ext cx="91440" cy="91440"/>
          </a:xfrm>
          <a:prstGeom prst="ellipse">
            <a:avLst/>
          </a:prstGeom>
          <a:solidFill>
            <a:srgbClr val="E11D48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420624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 колекції документів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977640" y="9601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ОЧІКУВАНІ РЕЗУЛЬТАТИ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977640" y="13258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977640" y="1325880"/>
            <a:ext cx="64008" cy="5943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1" name="Text 19"/>
          <p:cNvSpPr/>
          <p:nvPr/>
        </p:nvSpPr>
        <p:spPr>
          <a:xfrm>
            <a:off x="4160520" y="13258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709160" y="13258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Реалізована система семантичного пошуку (PDF / DOCX / TXT / MD)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977640" y="20116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977640" y="2011680"/>
            <a:ext cx="64008" cy="59436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5" name="Text 23"/>
          <p:cNvSpPr/>
          <p:nvPr/>
        </p:nvSpPr>
        <p:spPr>
          <a:xfrm>
            <a:off x="4160520" y="20116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709160" y="20116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Власноруч сформований UA benchmark dataset (3 домени)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977640" y="26974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3977640" y="2697480"/>
            <a:ext cx="64008" cy="59436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29" name="Text 27"/>
          <p:cNvSpPr/>
          <p:nvPr/>
        </p:nvSpPr>
        <p:spPr>
          <a:xfrm>
            <a:off x="4160520" y="26974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4709160" y="26974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Кількісне порівняння 4 embedding-моделей + BM25 baseline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977640" y="33832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3977640" y="3383280"/>
            <a:ext cx="64008" cy="59436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3" name="Text 31"/>
          <p:cNvSpPr/>
          <p:nvPr/>
        </p:nvSpPr>
        <p:spPr>
          <a:xfrm>
            <a:off x="4160520" y="33832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4709160" y="33832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 (Парето + лінійна згортка)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977640" y="40690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3977640" y="4069080"/>
            <a:ext cx="64008" cy="594360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37" name="Text 35"/>
          <p:cNvSpPr/>
          <p:nvPr/>
        </p:nvSpPr>
        <p:spPr>
          <a:xfrm>
            <a:off x="4160520" y="40690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4709160" y="40690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Обґрунтовані практичні рекомендації для впровадження</a:t>
            </a:r>
            <a:endParaRPr lang="en-US" sz="1200" dirty="0"/>
          </a:p>
        </p:txBody>
      </p:sp>
      <p:pic>
        <p:nvPicPr>
          <p:cNvPr id="39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Сучасні моделі векторних ембеддінгів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11480" y="960120"/>
            <a:ext cx="91440" cy="178308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05156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12648" y="132588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BAAI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12648" y="155448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600200" y="155448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568M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12648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600200" y="175564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8 192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12648" y="195681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600200" y="19568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12648" y="235915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+ sparse + multi-vector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246120" y="96012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46120" y="960120"/>
            <a:ext cx="91440" cy="178308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8" name="Text 16"/>
          <p:cNvSpPr/>
          <p:nvPr/>
        </p:nvSpPr>
        <p:spPr>
          <a:xfrm>
            <a:off x="3447288" y="105156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447288" y="132588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intfloat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447288" y="155448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434840" y="155448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278M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447288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434840" y="175564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447288" y="195681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434840" y="19568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 (ML-E5)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447288" y="235915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префікси query: / passage: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11480" y="288036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11480" y="2880360"/>
            <a:ext cx="91440" cy="178308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9" name="Text 27"/>
          <p:cNvSpPr/>
          <p:nvPr/>
        </p:nvSpPr>
        <p:spPr>
          <a:xfrm>
            <a:off x="612648" y="297180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nomic-embed v1.5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12648" y="324612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 AI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12648" y="347472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600200" y="347472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137M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12648" y="367588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600200" y="367588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8 192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12648" y="387705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600200" y="387705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12648" y="427939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Matryoshka representations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246120" y="288036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3246120" y="2880360"/>
            <a:ext cx="91440" cy="17830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0" name="Text 38"/>
          <p:cNvSpPr/>
          <p:nvPr/>
        </p:nvSpPr>
        <p:spPr>
          <a:xfrm>
            <a:off x="3447288" y="297180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Qwen3-Embed-0.6B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3447288" y="324612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Alibaba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3447288" y="347472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4434840" y="347472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596M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3447288" y="367588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434840" y="367588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32 768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3447288" y="387705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434840" y="387705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 (LLM)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447288" y="427939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instruction-aware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6080760" y="960120"/>
            <a:ext cx="2651760" cy="3703320"/>
          </a:xfrm>
          <a:prstGeom prst="roundRect">
            <a:avLst>
              <a:gd name="adj" fmla="val 206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6263640" y="103327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 МОДЕЛІ</a:t>
            </a:r>
            <a:endParaRPr lang="en-US" sz="900" dirty="0"/>
          </a:p>
        </p:txBody>
      </p:sp>
      <p:graphicFrame>
        <p:nvGraphicFramePr>
          <p:cNvPr id="51" name="Chart 0" descr=""/>
          <p:cNvGraphicFramePr/>
          <p:nvPr/>
        </p:nvGraphicFramePr>
        <p:xfrm>
          <a:off x="6172200" y="1289304"/>
          <a:ext cx="2468880" cy="1417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2" name="Text 49"/>
          <p:cNvSpPr/>
          <p:nvPr/>
        </p:nvSpPr>
        <p:spPr>
          <a:xfrm>
            <a:off x="6263640" y="27432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 (ЛОГАРИФМІЧНА ШКАЛА)</a:t>
            </a:r>
            <a:endParaRPr lang="en-US" sz="900" dirty="0"/>
          </a:p>
        </p:txBody>
      </p:sp>
      <p:graphicFrame>
        <p:nvGraphicFramePr>
          <p:cNvPr id="53" name="Chart 1" descr=""/>
          <p:cNvGraphicFramePr/>
          <p:nvPr/>
        </p:nvGraphicFramePr>
        <p:xfrm>
          <a:off x="6172200" y="2990088"/>
          <a:ext cx="2468880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pic>
        <p:nvPicPr>
          <p:cNvPr id="54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55" name="Text 50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Методологія дослідження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ОЦІНЮВАННЯ RETRIEVAL-ЯКОСТІ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11480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11480" y="1325880"/>
            <a:ext cx="1569110" cy="914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</a:t>
            </a:r>
            <a:pPr algn="ctr"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02920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ранжування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(основна)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099462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099462" y="1325880"/>
            <a:ext cx="1569110" cy="9144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2" name="Text 10"/>
          <p:cNvSpPr/>
          <p:nvPr/>
        </p:nvSpPr>
        <p:spPr>
          <a:xfrm>
            <a:off x="2099462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MRR</a:t>
            </a:r>
            <a:pPr algn="ctr" indent="0" marL="0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190902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позиція першого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релевантного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787445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787445" y="1325880"/>
            <a:ext cx="1569110" cy="9144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6" name="Text 14"/>
          <p:cNvSpPr/>
          <p:nvPr/>
        </p:nvSpPr>
        <p:spPr>
          <a:xfrm>
            <a:off x="3787445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pPr algn="ctr" indent="0" marL="0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3878885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повнота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пошуку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75427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475427" y="1325880"/>
            <a:ext cx="1569110" cy="914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0" name="Text 18"/>
          <p:cNvSpPr/>
          <p:nvPr/>
        </p:nvSpPr>
        <p:spPr>
          <a:xfrm>
            <a:off x="5475427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5566867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точність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видачі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63410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163410" y="1325880"/>
            <a:ext cx="1569110" cy="91440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24" name="Text 22"/>
          <p:cNvSpPr/>
          <p:nvPr/>
        </p:nvSpPr>
        <p:spPr>
          <a:xfrm>
            <a:off x="7163410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</a:t>
            </a:r>
            <a:pPr algn="ctr" indent="0" marL="0">
              <a:buNone/>
            </a:pPr>
            <a:r>
              <a:rPr lang="en-US" sz="14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/q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7254850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 відповіді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(швидкодія)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11480" y="2880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МЕТОДИ АНАЛІЗУ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1148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9436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E40AF"/>
            </a:solidFill>
            <a:prstDash val="solid"/>
          </a:ln>
        </p:spPr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474720"/>
            <a:ext cx="320040" cy="320040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118872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CI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59436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довірчий інтервал для nDCG@10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59436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2 000 повторень з повторами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324612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342900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</p:spPr>
      </p:sp>
      <p:pic>
        <p:nvPicPr>
          <p:cNvPr id="3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440" y="3474720"/>
            <a:ext cx="320040" cy="320040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402336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Парето-домінування</a:t>
            </a:r>
            <a:endParaRPr lang="en-US" sz="1300" dirty="0"/>
          </a:p>
        </p:txBody>
      </p:sp>
      <p:sp>
        <p:nvSpPr>
          <p:cNvPr id="37" name="Text 33"/>
          <p:cNvSpPr/>
          <p:nvPr/>
        </p:nvSpPr>
        <p:spPr>
          <a:xfrm>
            <a:off x="342900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Виявлення Парето-оптимальних альтернатив</a:t>
            </a:r>
            <a:endParaRPr lang="en-US" sz="1100" dirty="0"/>
          </a:p>
        </p:txBody>
      </p:sp>
      <p:sp>
        <p:nvSpPr>
          <p:cNvPr id="38" name="Text 34"/>
          <p:cNvSpPr/>
          <p:nvPr/>
        </p:nvSpPr>
        <p:spPr>
          <a:xfrm>
            <a:off x="342900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багатокритеріальному просторі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608076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40" name="Shape 36"/>
          <p:cNvSpPr/>
          <p:nvPr/>
        </p:nvSpPr>
        <p:spPr>
          <a:xfrm>
            <a:off x="626364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</p:spPr>
      </p:sp>
      <p:pic>
        <p:nvPicPr>
          <p:cNvPr id="4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3474720"/>
            <a:ext cx="320040" cy="320040"/>
          </a:xfrm>
          <a:prstGeom prst="rect">
            <a:avLst/>
          </a:prstGeom>
        </p:spPr>
      </p:pic>
      <p:sp>
        <p:nvSpPr>
          <p:cNvPr id="42" name="Text 37"/>
          <p:cNvSpPr/>
          <p:nvPr/>
        </p:nvSpPr>
        <p:spPr>
          <a:xfrm>
            <a:off x="685800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Лінійна адитивна згортка</a:t>
            </a:r>
            <a:endParaRPr lang="en-US" sz="1300" dirty="0"/>
          </a:p>
        </p:txBody>
      </p:sp>
      <p:sp>
        <p:nvSpPr>
          <p:cNvPr id="43" name="Text 38"/>
          <p:cNvSpPr/>
          <p:nvPr/>
        </p:nvSpPr>
        <p:spPr>
          <a:xfrm>
            <a:off x="626364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U(aᵢ)</a:t>
            </a:r>
            <a:endParaRPr lang="en-US" sz="1100" dirty="0"/>
          </a:p>
        </p:txBody>
      </p:sp>
      <p:sp>
        <p:nvSpPr>
          <p:cNvPr id="44" name="Text 39"/>
          <p:cNvSpPr/>
          <p:nvPr/>
        </p:nvSpPr>
        <p:spPr>
          <a:xfrm>
            <a:off x="626364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 ваговими коефіцієнтами критеріїв</a:t>
            </a:r>
            <a:endParaRPr lang="en-US" sz="1000" dirty="0"/>
          </a:p>
        </p:txBody>
      </p:sp>
      <p:pic>
        <p:nvPicPr>
          <p:cNvPr id="45" name="Image 3" descr="D:\repos\kb-semantic-search-benchmark\thesis\scripts\_logo_hex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6" name="Text 40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оцінювання retrieval-якості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94360" y="112471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F59E0B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12471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nDCG@k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474720" y="11247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94360" y="15544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Нормалізована якість ранжування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187452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" y="187452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DCG@k  /  IDCG@k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94360" y="228600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DCG@k = Σᵢ (2^relᵢ − 1) / log₂(i+1) ;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IDCG@k — DCG ідеального ранжування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663440" y="96012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846320" y="112471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1E40AF"/>
          </a:solidFill>
          <a:ln/>
        </p:spPr>
      </p:sp>
      <p:sp>
        <p:nvSpPr>
          <p:cNvPr id="15" name="Text 13"/>
          <p:cNvSpPr/>
          <p:nvPr/>
        </p:nvSpPr>
        <p:spPr>
          <a:xfrm>
            <a:off x="4846320" y="112471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MRR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726680" y="11247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846320" y="15544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Reciprocal Rank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846320" y="187452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19" name="Text 17"/>
          <p:cNvSpPr/>
          <p:nvPr/>
        </p:nvSpPr>
        <p:spPr>
          <a:xfrm>
            <a:off x="4846320" y="187452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(1 / |Q|) · Σ (1 / rankq)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846320" y="228600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Середнє по запитах: 1 / (позиція першого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релевантного документа у видачі)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11480" y="288036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94360" y="304495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0891B2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304495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Recall@k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474720" y="304495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94360" y="34747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Повнота пошуку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94360" y="379476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" y="37947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|Rel ∩ Retrieved|  /  |Rel|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94360" y="420624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Частка знайдених релевантних документів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 усіх релевантних у колекції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663440" y="288036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846320" y="304495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059669"/>
          </a:solidFill>
          <a:ln/>
        </p:spPr>
      </p:sp>
      <p:sp>
        <p:nvSpPr>
          <p:cNvPr id="31" name="Text 29"/>
          <p:cNvSpPr/>
          <p:nvPr/>
        </p:nvSpPr>
        <p:spPr>
          <a:xfrm>
            <a:off x="4846320" y="304495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P@k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726680" y="304495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846320" y="34747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Precision@k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846320" y="379476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35" name="Text 33"/>
          <p:cNvSpPr/>
          <p:nvPr/>
        </p:nvSpPr>
        <p:spPr>
          <a:xfrm>
            <a:off x="4846320" y="37947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|Relk|  /  k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846320" y="420624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Частка релевантних документів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 перших k результатів видачі</a:t>
            </a:r>
            <a:endParaRPr lang="en-US" sz="950" dirty="0"/>
          </a:p>
        </p:txBody>
      </p:sp>
      <p:pic>
        <p:nvPicPr>
          <p:cNvPr id="37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 (МКВ)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3891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94360" y="1234440"/>
            <a:ext cx="548640" cy="54864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234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280160" y="106984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Парето-домінування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280160" y="1371600"/>
            <a:ext cx="3383280" cy="29260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10" name="Text 8"/>
          <p:cNvSpPr/>
          <p:nvPr/>
        </p:nvSpPr>
        <p:spPr>
          <a:xfrm>
            <a:off x="1280160" y="137160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{ aᵢ ∈ A | ∄ ak ∈ A : ak ≻ aᵢ 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280160" y="16916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Виявлення альтернатив, які не домінуються жодною іншою за усіма критеріями одночасно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11480" y="2167128"/>
            <a:ext cx="43891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94360" y="2441448"/>
            <a:ext cx="548640" cy="54864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2441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280160" y="227685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Нормалізація шкал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280160" y="2578608"/>
            <a:ext cx="3383280" cy="29260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17" name="Text 15"/>
          <p:cNvSpPr/>
          <p:nvPr/>
        </p:nvSpPr>
        <p:spPr>
          <a:xfrm>
            <a:off x="1280160" y="257860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yᵢⱼ = (xᵢⱼ − min xⱼ) / (max xⱼ − min xⱼ)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280160" y="28986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Приведення критеріїв до єдиної шкали [0; 1] з врахуванням напряму оптимізації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3374136"/>
            <a:ext cx="43891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94360" y="3648456"/>
            <a:ext cx="548640" cy="5486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1" name="Text 19"/>
          <p:cNvSpPr/>
          <p:nvPr/>
        </p:nvSpPr>
        <p:spPr>
          <a:xfrm>
            <a:off x="594360" y="364845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280160" y="3483864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Лінійна адитивна згортка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280160" y="3785616"/>
            <a:ext cx="3383280" cy="29260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24" name="Text 22"/>
          <p:cNvSpPr/>
          <p:nvPr/>
        </p:nvSpPr>
        <p:spPr>
          <a:xfrm>
            <a:off x="1280160" y="378561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U(aᵢ) = Σⱼ wⱼ · yᵢⱼ ,   де   Σⱼ wⱼ = 1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280160" y="410565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корисності з ваговими коефіцієнтами критеріїв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983480" y="960120"/>
            <a:ext cx="374904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120640" y="10515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ПРОФІЛІ ВАГ КРИТЕРІЇВ ЗА ДОМЕНАМИ  (k = 10)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20640" y="1371600"/>
          <a:ext cx="34747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502920"/>
                <a:gridCol w="502920"/>
                <a:gridCol w="594360"/>
                <a:gridCol w="457200"/>
                <a:gridCol w="59436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Домен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nDCG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Latency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Технічний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Юридичний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Медичний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Text 26"/>
          <p:cNvSpPr/>
          <p:nvPr/>
        </p:nvSpPr>
        <p:spPr>
          <a:xfrm>
            <a:off x="5120640" y="288036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РОЗПОДІЛ ВАГ ЗА ДОМЕНАМИ</a:t>
            </a:r>
            <a:endParaRPr lang="en-US" sz="900" dirty="0"/>
          </a:p>
        </p:txBody>
      </p:sp>
      <p:graphicFrame>
        <p:nvGraphicFramePr>
          <p:cNvPr id="30" name="Chart 0" descr=""/>
          <p:cNvGraphicFramePr/>
          <p:nvPr/>
        </p:nvGraphicFramePr>
        <p:xfrm>
          <a:off x="5074920" y="3154680"/>
          <a:ext cx="3566160" cy="1508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pic>
        <p:nvPicPr>
          <p:cNvPr id="31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5 · АРХІТЕКТУРА СИСТЕМИ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 системи семантичного пошуку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1E40AF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11480" y="1097280"/>
            <a:ext cx="1335024" cy="9144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7" name="Shape 5"/>
          <p:cNvSpPr/>
          <p:nvPr/>
        </p:nvSpPr>
        <p:spPr>
          <a:xfrm>
            <a:off x="804672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1E40AF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481328"/>
            <a:ext cx="329184" cy="32918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11480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02920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DOCX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TXT · MD</a:t>
            </a:r>
            <a:endParaRPr lang="en-US" sz="9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2224" y="1947672"/>
            <a:ext cx="329184" cy="219456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2157984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2157984" y="1097280"/>
            <a:ext cx="1335024" cy="9144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4" name="Shape 10"/>
          <p:cNvSpPr/>
          <p:nvPr/>
        </p:nvSpPr>
        <p:spPr>
          <a:xfrm>
            <a:off x="2551176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0891B2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0904" y="1481328"/>
            <a:ext cx="329184" cy="32918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2157984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Чанкінг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2249424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~600 слів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перекриття</a:t>
            </a:r>
            <a:endParaRPr lang="en-US" sz="95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38728" y="1947672"/>
            <a:ext cx="329184" cy="219456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3904488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Shape 14"/>
          <p:cNvSpPr/>
          <p:nvPr/>
        </p:nvSpPr>
        <p:spPr>
          <a:xfrm>
            <a:off x="3904488" y="1097280"/>
            <a:ext cx="1335024" cy="914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1" name="Shape 15"/>
          <p:cNvSpPr/>
          <p:nvPr/>
        </p:nvSpPr>
        <p:spPr>
          <a:xfrm>
            <a:off x="4297680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F59E0B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07408" y="1481328"/>
            <a:ext cx="329184" cy="32918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3904488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Ембеддінг</a:t>
            </a:r>
            <a:endParaRPr lang="en-US" sz="1300" dirty="0"/>
          </a:p>
        </p:txBody>
      </p:sp>
      <p:sp>
        <p:nvSpPr>
          <p:cNvPr id="24" name="Text 17"/>
          <p:cNvSpPr/>
          <p:nvPr/>
        </p:nvSpPr>
        <p:spPr>
          <a:xfrm>
            <a:off x="3995928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 · E5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 · Qwen3</a:t>
            </a:r>
            <a:endParaRPr lang="en-US" sz="950" dirty="0"/>
          </a:p>
        </p:txBody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85232" y="1947672"/>
            <a:ext cx="329184" cy="219456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5650992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5650992" y="1097280"/>
            <a:ext cx="1335024" cy="914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8" name="Shape 20"/>
          <p:cNvSpPr/>
          <p:nvPr/>
        </p:nvSpPr>
        <p:spPr>
          <a:xfrm>
            <a:off x="6044184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7C3AED"/>
            </a:solidFill>
            <a:prstDash val="solid"/>
          </a:ln>
        </p:spPr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53912" y="1481328"/>
            <a:ext cx="329184" cy="329184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5650992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FAISS-індекс</a:t>
            </a:r>
            <a:endParaRPr lang="en-US" sz="1300" dirty="0"/>
          </a:p>
        </p:txBody>
      </p:sp>
      <p:sp>
        <p:nvSpPr>
          <p:cNvPr id="31" name="Text 22"/>
          <p:cNvSpPr/>
          <p:nvPr/>
        </p:nvSpPr>
        <p:spPr>
          <a:xfrm>
            <a:off x="5742432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IndexFlatIP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L2-нормалізація</a:t>
            </a:r>
            <a:endParaRPr lang="en-US" sz="950" dirty="0"/>
          </a:p>
        </p:txBody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31736" y="1947672"/>
            <a:ext cx="329184" cy="219456"/>
          </a:xfrm>
          <a:prstGeom prst="rect">
            <a:avLst/>
          </a:prstGeom>
        </p:spPr>
      </p:pic>
      <p:sp>
        <p:nvSpPr>
          <p:cNvPr id="33" name="Shape 23"/>
          <p:cNvSpPr/>
          <p:nvPr/>
        </p:nvSpPr>
        <p:spPr>
          <a:xfrm>
            <a:off x="7397496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059669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4" name="Shape 24"/>
          <p:cNvSpPr/>
          <p:nvPr/>
        </p:nvSpPr>
        <p:spPr>
          <a:xfrm>
            <a:off x="7397496" y="1097280"/>
            <a:ext cx="1335024" cy="914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5" name="Shape 25"/>
          <p:cNvSpPr/>
          <p:nvPr/>
        </p:nvSpPr>
        <p:spPr>
          <a:xfrm>
            <a:off x="7790688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059669"/>
            </a:solidFill>
            <a:prstDash val="solid"/>
          </a:ln>
        </p:spPr>
      </p:sp>
      <p:pic>
        <p:nvPicPr>
          <p:cNvPr id="3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00416" y="1481328"/>
            <a:ext cx="329184" cy="329184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397496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Top-K</a:t>
            </a:r>
            <a:endParaRPr lang="en-US" sz="1300" dirty="0"/>
          </a:p>
        </p:txBody>
      </p:sp>
      <p:sp>
        <p:nvSpPr>
          <p:cNvPr id="38" name="Text 27"/>
          <p:cNvSpPr/>
          <p:nvPr/>
        </p:nvSpPr>
        <p:spPr>
          <a:xfrm>
            <a:off x="7488936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similarity</a:t>
            </a:r>
            <a:endParaRPr lang="en-US" sz="950" dirty="0"/>
          </a:p>
        </p:txBody>
      </p:sp>
      <p:sp>
        <p:nvSpPr>
          <p:cNvPr id="39" name="Shape 28"/>
          <p:cNvSpPr/>
          <p:nvPr/>
        </p:nvSpPr>
        <p:spPr>
          <a:xfrm>
            <a:off x="411480" y="3291840"/>
            <a:ext cx="2011680" cy="502920"/>
          </a:xfrm>
          <a:prstGeom prst="roundRect">
            <a:avLst>
              <a:gd name="adj" fmla="val 10909"/>
            </a:avLst>
          </a:prstGeom>
          <a:solidFill>
            <a:srgbClr val="EFF6FF"/>
          </a:solidFill>
          <a:ln w="9525">
            <a:solidFill>
              <a:srgbClr val="1E40AF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pic>
        <p:nvPicPr>
          <p:cNvPr id="40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1208" y="3401568"/>
            <a:ext cx="274320" cy="27432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868680" y="32918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 користувача</a:t>
            </a:r>
            <a:endParaRPr lang="en-US" sz="1100" dirty="0"/>
          </a:p>
        </p:txBody>
      </p:sp>
      <p:sp>
        <p:nvSpPr>
          <p:cNvPr id="42" name="Shape 30"/>
          <p:cNvSpPr/>
          <p:nvPr/>
        </p:nvSpPr>
        <p:spPr>
          <a:xfrm>
            <a:off x="6720840" y="3291840"/>
            <a:ext cx="2011680" cy="502920"/>
          </a:xfrm>
          <a:prstGeom prst="roundRect">
            <a:avLst>
              <a:gd name="adj" fmla="val 10909"/>
            </a:avLst>
          </a:prstGeom>
          <a:solidFill>
            <a:srgbClr val="EFF6FF"/>
          </a:solidFill>
          <a:ln w="9525">
            <a:solidFill>
              <a:srgbClr val="1E40AF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pic>
        <p:nvPicPr>
          <p:cNvPr id="43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30568" y="3401568"/>
            <a:ext cx="274320" cy="274320"/>
          </a:xfrm>
          <a:prstGeom prst="rect">
            <a:avLst/>
          </a:prstGeom>
        </p:spPr>
      </p:pic>
      <p:sp>
        <p:nvSpPr>
          <p:cNvPr id="44" name="Text 31"/>
          <p:cNvSpPr/>
          <p:nvPr/>
        </p:nvSpPr>
        <p:spPr>
          <a:xfrm>
            <a:off x="7178040" y="32918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Web UI</a:t>
            </a:r>
            <a:endParaRPr lang="en-US" sz="1100" dirty="0"/>
          </a:p>
        </p:txBody>
      </p:sp>
      <p:sp>
        <p:nvSpPr>
          <p:cNvPr id="45" name="Shape 32"/>
          <p:cNvSpPr/>
          <p:nvPr/>
        </p:nvSpPr>
        <p:spPr>
          <a:xfrm>
            <a:off x="411480" y="3977640"/>
            <a:ext cx="8321040" cy="457200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6" name="Text 33"/>
          <p:cNvSpPr/>
          <p:nvPr/>
        </p:nvSpPr>
        <p:spPr>
          <a:xfrm>
            <a:off x="411480" y="39776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Основні компоненти:  </a:t>
            </a:r>
            <a:pPr algn="ctr"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build_index.py</a:t>
            </a:r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ctr"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evaluate_benchmark.py</a:t>
            </a:r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ctr"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embedding_models.py</a:t>
            </a:r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ctr"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run_all_benchmarks.py</a:t>
            </a:r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ctr"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app.py</a:t>
            </a:r>
            <a:endParaRPr lang="en-US" sz="1000" dirty="0"/>
          </a:p>
        </p:txBody>
      </p:sp>
      <p:pic>
        <p:nvPicPr>
          <p:cNvPr id="47" name="Image 11" descr="D:\repos\kb-semantic-search-benchmark\thesis\scripts\_logo_hex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8" name="Text 34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6 · ПРОГРАМНЕ ЗАБЕЗПЕЧЕННЯ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Програмне забезпечення та технології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2651760" cy="370332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11480" y="960120"/>
            <a:ext cx="2651760" cy="502920"/>
          </a:xfrm>
          <a:prstGeom prst="rect">
            <a:avLst/>
          </a:prstGeom>
          <a:solidFill>
            <a:srgbClr val="1E40A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78992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/ EMBEDDING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94360" y="1853184"/>
            <a:ext cx="73152" cy="73152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164592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3.11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94360" y="2340864"/>
            <a:ext cx="73152" cy="73152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2" name="Text 9"/>
          <p:cNvSpPr/>
          <p:nvPr/>
        </p:nvSpPr>
        <p:spPr>
          <a:xfrm>
            <a:off x="777240" y="213360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sentence-transformers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94360" y="2828544"/>
            <a:ext cx="73152" cy="73152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4" name="Text 11"/>
          <p:cNvSpPr/>
          <p:nvPr/>
        </p:nvSpPr>
        <p:spPr>
          <a:xfrm>
            <a:off x="777240" y="262128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transformers (HF)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94360" y="3316224"/>
            <a:ext cx="73152" cy="73152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6" name="Text 13"/>
          <p:cNvSpPr/>
          <p:nvPr/>
        </p:nvSpPr>
        <p:spPr>
          <a:xfrm>
            <a:off x="777240" y="310896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(CPU)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94360" y="3803904"/>
            <a:ext cx="73152" cy="73152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8" name="Text 15"/>
          <p:cNvSpPr/>
          <p:nvPr/>
        </p:nvSpPr>
        <p:spPr>
          <a:xfrm>
            <a:off x="777240" y="359664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trust_remote_code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94360" y="4291584"/>
            <a:ext cx="73152" cy="73152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20" name="Text 17"/>
          <p:cNvSpPr/>
          <p:nvPr/>
        </p:nvSpPr>
        <p:spPr>
          <a:xfrm>
            <a:off x="777240" y="408432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Cambria Math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3246120" y="960120"/>
            <a:ext cx="2651760" cy="370332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3246120" y="960120"/>
            <a:ext cx="2651760" cy="50292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0712" y="1078992"/>
            <a:ext cx="274320" cy="27432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374904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/ DATA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3429000" y="1853184"/>
            <a:ext cx="73152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6" name="Text 22"/>
          <p:cNvSpPr/>
          <p:nvPr/>
        </p:nvSpPr>
        <p:spPr>
          <a:xfrm>
            <a:off x="3611880" y="164592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 (IndexFlatIP)</a:t>
            </a:r>
            <a:endParaRPr lang="en-US" sz="1150" dirty="0"/>
          </a:p>
        </p:txBody>
      </p:sp>
      <p:sp>
        <p:nvSpPr>
          <p:cNvPr id="27" name="Shape 23"/>
          <p:cNvSpPr/>
          <p:nvPr/>
        </p:nvSpPr>
        <p:spPr>
          <a:xfrm>
            <a:off x="3429000" y="2340864"/>
            <a:ext cx="73152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8" name="Text 24"/>
          <p:cNvSpPr/>
          <p:nvPr/>
        </p:nvSpPr>
        <p:spPr>
          <a:xfrm>
            <a:off x="3611880" y="213360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rank_bm25 (Okapi)</a:t>
            </a:r>
            <a:endParaRPr lang="en-US" sz="1150" dirty="0"/>
          </a:p>
        </p:txBody>
      </p:sp>
      <p:sp>
        <p:nvSpPr>
          <p:cNvPr id="29" name="Shape 25"/>
          <p:cNvSpPr/>
          <p:nvPr/>
        </p:nvSpPr>
        <p:spPr>
          <a:xfrm>
            <a:off x="3429000" y="2828544"/>
            <a:ext cx="73152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0" name="Text 26"/>
          <p:cNvSpPr/>
          <p:nvPr/>
        </p:nvSpPr>
        <p:spPr>
          <a:xfrm>
            <a:off x="3611880" y="262128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L2-нормалізація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3429000" y="3316224"/>
            <a:ext cx="73152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2" name="Text 28"/>
          <p:cNvSpPr/>
          <p:nvPr/>
        </p:nvSpPr>
        <p:spPr>
          <a:xfrm>
            <a:off x="3611880" y="310896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Чанкінг (~600 слів)</a:t>
            </a:r>
            <a:endParaRPr lang="en-US" sz="1150" dirty="0"/>
          </a:p>
        </p:txBody>
      </p:sp>
      <p:sp>
        <p:nvSpPr>
          <p:cNvPr id="33" name="Shape 29"/>
          <p:cNvSpPr/>
          <p:nvPr/>
        </p:nvSpPr>
        <p:spPr>
          <a:xfrm>
            <a:off x="3429000" y="3803904"/>
            <a:ext cx="73152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4" name="Text 30"/>
          <p:cNvSpPr/>
          <p:nvPr/>
        </p:nvSpPr>
        <p:spPr>
          <a:xfrm>
            <a:off x="3611880" y="359664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/ DOCX / TXT / MD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3429000" y="4291584"/>
            <a:ext cx="73152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6" name="Text 32"/>
          <p:cNvSpPr/>
          <p:nvPr/>
        </p:nvSpPr>
        <p:spPr>
          <a:xfrm>
            <a:off x="3611880" y="408432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JSONL (chunks, qrels)</a:t>
            </a:r>
            <a:endParaRPr lang="en-US" sz="1150" dirty="0"/>
          </a:p>
        </p:txBody>
      </p:sp>
      <p:sp>
        <p:nvSpPr>
          <p:cNvPr id="37" name="Shape 33"/>
          <p:cNvSpPr/>
          <p:nvPr/>
        </p:nvSpPr>
        <p:spPr>
          <a:xfrm>
            <a:off x="6080760" y="960120"/>
            <a:ext cx="2651760" cy="370332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8" name="Shape 34"/>
          <p:cNvSpPr/>
          <p:nvPr/>
        </p:nvSpPr>
        <p:spPr>
          <a:xfrm>
            <a:off x="6080760" y="960120"/>
            <a:ext cx="2651760" cy="50292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3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352" y="1078992"/>
            <a:ext cx="274320" cy="274320"/>
          </a:xfrm>
          <a:prstGeom prst="rect">
            <a:avLst/>
          </a:prstGeom>
        </p:spPr>
      </p:pic>
      <p:sp>
        <p:nvSpPr>
          <p:cNvPr id="40" name="Text 35"/>
          <p:cNvSpPr/>
          <p:nvPr/>
        </p:nvSpPr>
        <p:spPr>
          <a:xfrm>
            <a:off x="658368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/ EVAL / ANALYSIS</a:t>
            </a:r>
            <a:endParaRPr lang="en-US" sz="1100" dirty="0"/>
          </a:p>
        </p:txBody>
      </p:sp>
      <p:sp>
        <p:nvSpPr>
          <p:cNvPr id="41" name="Shape 36"/>
          <p:cNvSpPr/>
          <p:nvPr/>
        </p:nvSpPr>
        <p:spPr>
          <a:xfrm>
            <a:off x="6263640" y="185318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2" name="Text 37"/>
          <p:cNvSpPr/>
          <p:nvPr/>
        </p:nvSpPr>
        <p:spPr>
          <a:xfrm>
            <a:off x="6446520" y="164592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(Python)</a:t>
            </a:r>
            <a:endParaRPr lang="en-US" sz="1150" dirty="0"/>
          </a:p>
        </p:txBody>
      </p:sp>
      <p:sp>
        <p:nvSpPr>
          <p:cNvPr id="43" name="Shape 38"/>
          <p:cNvSpPr/>
          <p:nvPr/>
        </p:nvSpPr>
        <p:spPr>
          <a:xfrm>
            <a:off x="6263640" y="234086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4" name="Text 39"/>
          <p:cNvSpPr/>
          <p:nvPr/>
        </p:nvSpPr>
        <p:spPr>
          <a:xfrm>
            <a:off x="6446520" y="213360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NumPy, scikit-learn</a:t>
            </a:r>
            <a:endParaRPr lang="en-US" sz="1150" dirty="0"/>
          </a:p>
        </p:txBody>
      </p:sp>
      <p:sp>
        <p:nvSpPr>
          <p:cNvPr id="45" name="Shape 40"/>
          <p:cNvSpPr/>
          <p:nvPr/>
        </p:nvSpPr>
        <p:spPr>
          <a:xfrm>
            <a:off x="6263640" y="282854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6" name="Text 41"/>
          <p:cNvSpPr/>
          <p:nvPr/>
        </p:nvSpPr>
        <p:spPr>
          <a:xfrm>
            <a:off x="6446520" y="262128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CI (n=2000)</a:t>
            </a:r>
            <a:endParaRPr lang="en-US" sz="1150" dirty="0"/>
          </a:p>
        </p:txBody>
      </p:sp>
      <p:sp>
        <p:nvSpPr>
          <p:cNvPr id="47" name="Shape 42"/>
          <p:cNvSpPr/>
          <p:nvPr/>
        </p:nvSpPr>
        <p:spPr>
          <a:xfrm>
            <a:off x="6263640" y="331622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8" name="Text 43"/>
          <p:cNvSpPr/>
          <p:nvPr/>
        </p:nvSpPr>
        <p:spPr>
          <a:xfrm>
            <a:off x="6446520" y="310896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+ лінійна згортка</a:t>
            </a:r>
            <a:endParaRPr lang="en-US" sz="1150" dirty="0"/>
          </a:p>
        </p:txBody>
      </p:sp>
      <p:sp>
        <p:nvSpPr>
          <p:cNvPr id="49" name="Shape 44"/>
          <p:cNvSpPr/>
          <p:nvPr/>
        </p:nvSpPr>
        <p:spPr>
          <a:xfrm>
            <a:off x="6263640" y="380390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0" name="Text 45"/>
          <p:cNvSpPr/>
          <p:nvPr/>
        </p:nvSpPr>
        <p:spPr>
          <a:xfrm>
            <a:off x="6446520" y="359664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Власний benchmark harness</a:t>
            </a:r>
            <a:endParaRPr lang="en-US" sz="1150" dirty="0"/>
          </a:p>
        </p:txBody>
      </p:sp>
      <p:sp>
        <p:nvSpPr>
          <p:cNvPr id="51" name="Shape 46"/>
          <p:cNvSpPr/>
          <p:nvPr/>
        </p:nvSpPr>
        <p:spPr>
          <a:xfrm>
            <a:off x="6263640" y="429158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2" name="Text 47"/>
          <p:cNvSpPr/>
          <p:nvPr/>
        </p:nvSpPr>
        <p:spPr>
          <a:xfrm>
            <a:off x="6446520" y="408432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+ GitHub</a:t>
            </a:r>
            <a:endParaRPr lang="en-US" sz="1150" dirty="0"/>
          </a:p>
        </p:txBody>
      </p:sp>
      <p:pic>
        <p:nvPicPr>
          <p:cNvPr id="53" name="Image 3" descr="D:\repos\kb-semantic-search-benchmark\thesis\scripts\_logo_hex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54" name="Text 48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7 · ЗМІСТ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dataset: україномовні доменні колекції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Власноруч сформований </a:t>
            </a:r>
            <a:pPr algn="l" indent="0" marL="0">
              <a:buNone/>
            </a:pP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domain-specific україномовний benchmark</a:t>
            </a:r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 3 домени  ·  32 документи  ·  1 491 чанк  ·  300 запитів  ·  qrels вручну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371600"/>
            <a:ext cx="4114800" cy="103632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11480" y="1371600"/>
            <a:ext cx="91440" cy="103632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1554480"/>
            <a:ext cx="502920" cy="50292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1E40AF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645920"/>
            <a:ext cx="320040" cy="3200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325880" y="14630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325880" y="16916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програмна інженерія, ML, RAG, аномалії, 3D-друк, лідарні системи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1325880" y="19050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1325880" y="216103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2331720" y="19050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178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2331720" y="216103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чанки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3337560" y="19050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3337560" y="216103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411480" y="2499360"/>
            <a:ext cx="4114800" cy="103632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411480" y="2499360"/>
            <a:ext cx="91440" cy="10363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0" name="Shape 17"/>
          <p:cNvSpPr/>
          <p:nvPr/>
        </p:nvSpPr>
        <p:spPr>
          <a:xfrm>
            <a:off x="685800" y="2682240"/>
            <a:ext cx="502920" cy="50292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7C3AED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773680"/>
            <a:ext cx="320040" cy="32004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1325880" y="2590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Юридичний</a:t>
            </a:r>
            <a:endParaRPr lang="en-US" sz="1300" dirty="0"/>
          </a:p>
        </p:txBody>
      </p:sp>
      <p:sp>
        <p:nvSpPr>
          <p:cNvPr id="23" name="Text 19"/>
          <p:cNvSpPr/>
          <p:nvPr/>
        </p:nvSpPr>
        <p:spPr>
          <a:xfrm>
            <a:off x="1325880" y="28194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кодекси, нормативно-правові акти, законодавство</a:t>
            </a:r>
            <a:endParaRPr lang="en-US" sz="950" dirty="0"/>
          </a:p>
        </p:txBody>
      </p:sp>
      <p:sp>
        <p:nvSpPr>
          <p:cNvPr id="24" name="Text 20"/>
          <p:cNvSpPr/>
          <p:nvPr/>
        </p:nvSpPr>
        <p:spPr>
          <a:xfrm>
            <a:off x="1325880" y="30327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800" dirty="0"/>
          </a:p>
        </p:txBody>
      </p:sp>
      <p:sp>
        <p:nvSpPr>
          <p:cNvPr id="25" name="Text 21"/>
          <p:cNvSpPr/>
          <p:nvPr/>
        </p:nvSpPr>
        <p:spPr>
          <a:xfrm>
            <a:off x="1325880" y="328879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2331720" y="30327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1046</a:t>
            </a:r>
            <a:endParaRPr lang="en-US" sz="1800" dirty="0"/>
          </a:p>
        </p:txBody>
      </p:sp>
      <p:sp>
        <p:nvSpPr>
          <p:cNvPr id="27" name="Text 23"/>
          <p:cNvSpPr/>
          <p:nvPr/>
        </p:nvSpPr>
        <p:spPr>
          <a:xfrm>
            <a:off x="2331720" y="328879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чанки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3337560" y="30327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1800" dirty="0"/>
          </a:p>
        </p:txBody>
      </p:sp>
      <p:sp>
        <p:nvSpPr>
          <p:cNvPr id="29" name="Text 25"/>
          <p:cNvSpPr/>
          <p:nvPr/>
        </p:nvSpPr>
        <p:spPr>
          <a:xfrm>
            <a:off x="3337560" y="328879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900" dirty="0"/>
          </a:p>
        </p:txBody>
      </p:sp>
      <p:sp>
        <p:nvSpPr>
          <p:cNvPr id="30" name="Shape 26"/>
          <p:cNvSpPr/>
          <p:nvPr/>
        </p:nvSpPr>
        <p:spPr>
          <a:xfrm>
            <a:off x="411480" y="3627120"/>
            <a:ext cx="4114800" cy="103632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411480" y="3627120"/>
            <a:ext cx="91440" cy="1036320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32" name="Shape 28"/>
          <p:cNvSpPr/>
          <p:nvPr/>
        </p:nvSpPr>
        <p:spPr>
          <a:xfrm>
            <a:off x="685800" y="3810000"/>
            <a:ext cx="502920" cy="50292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E11D48"/>
            </a:solidFill>
            <a:prstDash val="solid"/>
          </a:ln>
        </p:spPr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901440"/>
            <a:ext cx="320040" cy="320040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1325880" y="37185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Медичний</a:t>
            </a:r>
            <a:endParaRPr lang="en-US" sz="1300" dirty="0"/>
          </a:p>
        </p:txBody>
      </p:sp>
      <p:sp>
        <p:nvSpPr>
          <p:cNvPr id="35" name="Text 30"/>
          <p:cNvSpPr/>
          <p:nvPr/>
        </p:nvSpPr>
        <p:spPr>
          <a:xfrm>
            <a:off x="1325880" y="39471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клінічні протоколи, медичні рекомендації</a:t>
            </a:r>
            <a:endParaRPr lang="en-US" sz="950" dirty="0"/>
          </a:p>
        </p:txBody>
      </p:sp>
      <p:sp>
        <p:nvSpPr>
          <p:cNvPr id="36" name="Text 31"/>
          <p:cNvSpPr/>
          <p:nvPr/>
        </p:nvSpPr>
        <p:spPr>
          <a:xfrm>
            <a:off x="1325880" y="416052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800" dirty="0"/>
          </a:p>
        </p:txBody>
      </p:sp>
      <p:sp>
        <p:nvSpPr>
          <p:cNvPr id="37" name="Text 32"/>
          <p:cNvSpPr/>
          <p:nvPr/>
        </p:nvSpPr>
        <p:spPr>
          <a:xfrm>
            <a:off x="1325880" y="441655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900" dirty="0"/>
          </a:p>
        </p:txBody>
      </p:sp>
      <p:sp>
        <p:nvSpPr>
          <p:cNvPr id="38" name="Text 33"/>
          <p:cNvSpPr/>
          <p:nvPr/>
        </p:nvSpPr>
        <p:spPr>
          <a:xfrm>
            <a:off x="2331720" y="416052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267</a:t>
            </a:r>
            <a:endParaRPr lang="en-US" sz="1800" dirty="0"/>
          </a:p>
        </p:txBody>
      </p:sp>
      <p:sp>
        <p:nvSpPr>
          <p:cNvPr id="39" name="Text 34"/>
          <p:cNvSpPr/>
          <p:nvPr/>
        </p:nvSpPr>
        <p:spPr>
          <a:xfrm>
            <a:off x="2331720" y="441655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чанки</a:t>
            </a:r>
            <a:endParaRPr lang="en-US" sz="900" dirty="0"/>
          </a:p>
        </p:txBody>
      </p:sp>
      <p:sp>
        <p:nvSpPr>
          <p:cNvPr id="40" name="Text 35"/>
          <p:cNvSpPr/>
          <p:nvPr/>
        </p:nvSpPr>
        <p:spPr>
          <a:xfrm>
            <a:off x="3337560" y="416052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1800" dirty="0"/>
          </a:p>
        </p:txBody>
      </p:sp>
      <p:sp>
        <p:nvSpPr>
          <p:cNvPr id="41" name="Text 36"/>
          <p:cNvSpPr/>
          <p:nvPr/>
        </p:nvSpPr>
        <p:spPr>
          <a:xfrm>
            <a:off x="3337560" y="441655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900" dirty="0"/>
          </a:p>
        </p:txBody>
      </p:sp>
      <p:sp>
        <p:nvSpPr>
          <p:cNvPr id="42" name="Shape 37"/>
          <p:cNvSpPr/>
          <p:nvPr/>
        </p:nvSpPr>
        <p:spPr>
          <a:xfrm>
            <a:off x="4709160" y="1371600"/>
            <a:ext cx="4023360" cy="3291840"/>
          </a:xfrm>
          <a:prstGeom prst="roundRect">
            <a:avLst>
              <a:gd name="adj" fmla="val 1667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43" name="Text 38"/>
          <p:cNvSpPr/>
          <p:nvPr/>
        </p:nvSpPr>
        <p:spPr>
          <a:xfrm>
            <a:off x="4892040" y="14630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РОЗПОДІЛ ЧАНКІВ ЗА ДОМЕНАМИ</a:t>
            </a:r>
            <a:endParaRPr lang="en-US" sz="9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4800600" y="1737360"/>
          <a:ext cx="384048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45" name="Text 39"/>
          <p:cNvSpPr/>
          <p:nvPr/>
        </p:nvSpPr>
        <p:spPr>
          <a:xfrm>
            <a:off x="4800600" y="2507285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1 491</a:t>
            </a:r>
            <a:endParaRPr lang="en-US" sz="2000" dirty="0"/>
          </a:p>
        </p:txBody>
      </p:sp>
      <p:sp>
        <p:nvSpPr>
          <p:cNvPr id="46" name="Text 40"/>
          <p:cNvSpPr/>
          <p:nvPr/>
        </p:nvSpPr>
        <p:spPr>
          <a:xfrm>
            <a:off x="4800600" y="2873045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чанків усього</a:t>
            </a:r>
            <a:endParaRPr lang="en-US" sz="900" dirty="0"/>
          </a:p>
        </p:txBody>
      </p:sp>
      <p:pic>
        <p:nvPicPr>
          <p:cNvPr id="47" name="Image 3" descr="D:\repos\kb-semantic-search-benchmark\thesis\scripts\_logo_hex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8" name="Text 41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7 · ЗМІСТ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Приклади benchmark-запитів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11480" y="960120"/>
            <a:ext cx="2651760" cy="502920"/>
          </a:xfrm>
          <a:prstGeom prst="rect">
            <a:avLst/>
          </a:prstGeom>
          <a:solidFill>
            <a:srgbClr val="1E40A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78992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41832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76072" y="164592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q1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виявлення аномалій у фінансових транзакціях »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576072" y="210312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1" name="Text 8"/>
          <p:cNvSpPr/>
          <p:nvPr/>
        </p:nvSpPr>
        <p:spPr>
          <a:xfrm>
            <a:off x="576072" y="216712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q3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комбінація Autoencoder та Isolation Forest для fraud detection »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76072" y="262432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3" name="Text 10"/>
          <p:cNvSpPr/>
          <p:nvPr/>
        </p:nvSpPr>
        <p:spPr>
          <a:xfrm>
            <a:off x="576072" y="268833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q6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прогноз відтоку клієнтів (churn prediction) »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76072" y="3145536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5" name="Text 12"/>
          <p:cNvSpPr/>
          <p:nvPr/>
        </p:nvSpPr>
        <p:spPr>
          <a:xfrm>
            <a:off x="576072" y="320954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q7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когортний аналіз для сегментації клієнтів »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76072" y="366674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7" name="Text 14"/>
          <p:cNvSpPr/>
          <p:nvPr/>
        </p:nvSpPr>
        <p:spPr>
          <a:xfrm>
            <a:off x="576072" y="373075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q8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етичні питання використання персональних даних »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246120" y="960120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3246120" y="960120"/>
            <a:ext cx="2651760" cy="502920"/>
          </a:xfrm>
          <a:prstGeom prst="rect">
            <a:avLst/>
          </a:prstGeom>
          <a:solidFill>
            <a:srgbClr val="7C3AED"/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0712" y="1078992"/>
            <a:ext cx="274320" cy="27432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776472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Юридичний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3410712" y="164592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L001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що таке цивільна дієздатність фізичної особи »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3410712" y="210312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4" name="Text 20"/>
          <p:cNvSpPr/>
          <p:nvPr/>
        </p:nvSpPr>
        <p:spPr>
          <a:xfrm>
            <a:off x="3410712" y="216712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L002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з якого віку настає повна цивільна дієздатність »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3410712" y="262432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6" name="Text 22"/>
          <p:cNvSpPr/>
          <p:nvPr/>
        </p:nvSpPr>
        <p:spPr>
          <a:xfrm>
            <a:off x="3410712" y="268833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L003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підстави обмеження цивільної дієздатності судом »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3410712" y="3145536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8" name="Text 24"/>
          <p:cNvSpPr/>
          <p:nvPr/>
        </p:nvSpPr>
        <p:spPr>
          <a:xfrm>
            <a:off x="3410712" y="320954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L004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поняття юридичної особи та порядок її реєстрації »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3410712" y="366674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0" name="Text 26"/>
          <p:cNvSpPr/>
          <p:nvPr/>
        </p:nvSpPr>
        <p:spPr>
          <a:xfrm>
            <a:off x="3410712" y="373075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L005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що входить до складу спадщини »</a:t>
            </a:r>
            <a:endParaRPr lang="en-US" sz="950" dirty="0"/>
          </a:p>
        </p:txBody>
      </p:sp>
      <p:sp>
        <p:nvSpPr>
          <p:cNvPr id="31" name="Shape 27"/>
          <p:cNvSpPr/>
          <p:nvPr/>
        </p:nvSpPr>
        <p:spPr>
          <a:xfrm>
            <a:off x="6080760" y="960120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2" name="Shape 28"/>
          <p:cNvSpPr/>
          <p:nvPr/>
        </p:nvSpPr>
        <p:spPr>
          <a:xfrm>
            <a:off x="6080760" y="960120"/>
            <a:ext cx="2651760" cy="502920"/>
          </a:xfrm>
          <a:prstGeom prst="rect">
            <a:avLst/>
          </a:prstGeom>
          <a:solidFill>
            <a:srgbClr val="E11D48"/>
          </a:solidFill>
          <a:ln/>
        </p:spPr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352" y="1078992"/>
            <a:ext cx="274320" cy="274320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6611112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Медичний</a:t>
            </a:r>
            <a:endParaRPr lang="en-US" sz="1300" dirty="0"/>
          </a:p>
        </p:txBody>
      </p:sp>
      <p:sp>
        <p:nvSpPr>
          <p:cNvPr id="35" name="Text 30"/>
          <p:cNvSpPr/>
          <p:nvPr/>
        </p:nvSpPr>
        <p:spPr>
          <a:xfrm>
            <a:off x="6245352" y="164592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M001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що таке серцево-судинна система »</a:t>
            </a:r>
            <a:endParaRPr lang="en-US" sz="950" dirty="0"/>
          </a:p>
        </p:txBody>
      </p:sp>
      <p:sp>
        <p:nvSpPr>
          <p:cNvPr id="36" name="Shape 31"/>
          <p:cNvSpPr/>
          <p:nvPr/>
        </p:nvSpPr>
        <p:spPr>
          <a:xfrm>
            <a:off x="6245352" y="210312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7" name="Text 32"/>
          <p:cNvSpPr/>
          <p:nvPr/>
        </p:nvSpPr>
        <p:spPr>
          <a:xfrm>
            <a:off x="6245352" y="216712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M002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будова та функції серця людини »</a:t>
            </a:r>
            <a:endParaRPr lang="en-US" sz="950" dirty="0"/>
          </a:p>
        </p:txBody>
      </p:sp>
      <p:sp>
        <p:nvSpPr>
          <p:cNvPr id="38" name="Shape 33"/>
          <p:cNvSpPr/>
          <p:nvPr/>
        </p:nvSpPr>
        <p:spPr>
          <a:xfrm>
            <a:off x="6245352" y="262432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9" name="Text 34"/>
          <p:cNvSpPr/>
          <p:nvPr/>
        </p:nvSpPr>
        <p:spPr>
          <a:xfrm>
            <a:off x="6245352" y="268833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M003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що таке артеріальний тиск і як він регулюється »</a:t>
            </a:r>
            <a:endParaRPr lang="en-US" sz="950" dirty="0"/>
          </a:p>
        </p:txBody>
      </p:sp>
      <p:sp>
        <p:nvSpPr>
          <p:cNvPr id="40" name="Shape 35"/>
          <p:cNvSpPr/>
          <p:nvPr/>
        </p:nvSpPr>
        <p:spPr>
          <a:xfrm>
            <a:off x="6245352" y="3145536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1" name="Text 36"/>
          <p:cNvSpPr/>
          <p:nvPr/>
        </p:nvSpPr>
        <p:spPr>
          <a:xfrm>
            <a:off x="6245352" y="320954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M004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велике і мале коло кровообігу — відмінності »</a:t>
            </a:r>
            <a:endParaRPr lang="en-US" sz="950" dirty="0"/>
          </a:p>
        </p:txBody>
      </p:sp>
      <p:sp>
        <p:nvSpPr>
          <p:cNvPr id="42" name="Shape 37"/>
          <p:cNvSpPr/>
          <p:nvPr/>
        </p:nvSpPr>
        <p:spPr>
          <a:xfrm>
            <a:off x="6245352" y="366674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3" name="Text 38"/>
          <p:cNvSpPr/>
          <p:nvPr/>
        </p:nvSpPr>
        <p:spPr>
          <a:xfrm>
            <a:off x="6245352" y="373075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M005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будова дихальної системи людини »</a:t>
            </a:r>
            <a:endParaRPr lang="en-US" sz="950" dirty="0"/>
          </a:p>
        </p:txBody>
      </p:sp>
      <p:sp>
        <p:nvSpPr>
          <p:cNvPr id="44" name="Shape 39"/>
          <p:cNvSpPr/>
          <p:nvPr/>
        </p:nvSpPr>
        <p:spPr>
          <a:xfrm>
            <a:off x="411480" y="4389120"/>
            <a:ext cx="8321040" cy="365760"/>
          </a:xfrm>
          <a:prstGeom prst="roundRect">
            <a:avLst>
              <a:gd name="adj" fmla="val 15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411480" y="438912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Типи запитів:  </a:t>
            </a:r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· factual · procedural · technical · topic · method · policy · comparison</a:t>
            </a:r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qrels — релевантні чанки сформовано вручну для кожного запиту</a:t>
            </a:r>
            <a:endParaRPr lang="en-US" sz="1000" dirty="0"/>
          </a:p>
        </p:txBody>
      </p:sp>
      <p:pic>
        <p:nvPicPr>
          <p:cNvPr id="46" name="Image 3" descr="D:\repos\kb-semantic-search-benchmark\thesis\scripts\_logo_hex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7" name="Text 41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18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8 · РЕЗУЛЬТАТИ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Результати експерименту: nDCG@10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05840"/>
            <a:ext cx="5760720" cy="3611880"/>
          </a:xfrm>
          <a:prstGeom prst="roundRect">
            <a:avLst>
              <a:gd name="adj" fmla="val 151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078992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  ПО ДОМЕНАХ (вище — краще)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02920" y="1371600"/>
          <a:ext cx="557784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6355080" y="1005840"/>
            <a:ext cx="237744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492240" y="109728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СЕРЕДНІЙ nDCG@10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6492240" y="1408176"/>
            <a:ext cx="2103120" cy="256032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1" name="Text 8"/>
          <p:cNvSpPr/>
          <p:nvPr/>
        </p:nvSpPr>
        <p:spPr>
          <a:xfrm>
            <a:off x="6492240" y="137160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903720" y="1463040"/>
            <a:ext cx="128016" cy="12801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3" name="Text 10"/>
          <p:cNvSpPr/>
          <p:nvPr/>
        </p:nvSpPr>
        <p:spPr>
          <a:xfrm>
            <a:off x="7068312" y="1371600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8138160" y="137160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0.4708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492240" y="1719072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3"/>
          <p:cNvSpPr/>
          <p:nvPr/>
        </p:nvSpPr>
        <p:spPr>
          <a:xfrm>
            <a:off x="6492240" y="1682496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903720" y="1773936"/>
            <a:ext cx="128016" cy="128016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18" name="Text 15"/>
          <p:cNvSpPr/>
          <p:nvPr/>
        </p:nvSpPr>
        <p:spPr>
          <a:xfrm>
            <a:off x="7068312" y="1682496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8138160" y="168249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0.4385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492240" y="2029968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Text 18"/>
          <p:cNvSpPr/>
          <p:nvPr/>
        </p:nvSpPr>
        <p:spPr>
          <a:xfrm>
            <a:off x="6492240" y="1993392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#3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903720" y="2084832"/>
            <a:ext cx="128016" cy="128016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3" name="Text 20"/>
          <p:cNvSpPr/>
          <p:nvPr/>
        </p:nvSpPr>
        <p:spPr>
          <a:xfrm>
            <a:off x="7068312" y="1993392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8138160" y="19933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0.4199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492240" y="2340864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3"/>
          <p:cNvSpPr/>
          <p:nvPr/>
        </p:nvSpPr>
        <p:spPr>
          <a:xfrm>
            <a:off x="6492240" y="2304288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#4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6903720" y="2395728"/>
            <a:ext cx="128016" cy="128016"/>
          </a:xfrm>
          <a:prstGeom prst="ellipse">
            <a:avLst/>
          </a:prstGeom>
          <a:solidFill>
            <a:srgbClr val="64748B"/>
          </a:solidFill>
          <a:ln/>
        </p:spPr>
      </p:sp>
      <p:sp>
        <p:nvSpPr>
          <p:cNvPr id="28" name="Text 25"/>
          <p:cNvSpPr/>
          <p:nvPr/>
        </p:nvSpPr>
        <p:spPr>
          <a:xfrm>
            <a:off x="7068312" y="2304288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8138160" y="230428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0.3319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492240" y="2651760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8"/>
          <p:cNvSpPr/>
          <p:nvPr/>
        </p:nvSpPr>
        <p:spPr>
          <a:xfrm>
            <a:off x="6492240" y="2615184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#5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6903720" y="2706624"/>
            <a:ext cx="128016" cy="128016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33" name="Text 30"/>
          <p:cNvSpPr/>
          <p:nvPr/>
        </p:nvSpPr>
        <p:spPr>
          <a:xfrm>
            <a:off x="7068312" y="2615184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8138160" y="2615184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0.2128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6355080" y="3017520"/>
            <a:ext cx="2377440" cy="1691640"/>
          </a:xfrm>
          <a:prstGeom prst="roundRect">
            <a:avLst>
              <a:gd name="adj" fmla="val 3243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6" name="Text 33"/>
          <p:cNvSpPr/>
          <p:nvPr/>
        </p:nvSpPr>
        <p:spPr>
          <a:xfrm>
            <a:off x="6492240" y="310896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95% CI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6492240" y="331012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2 000  ·  Технічний домен: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6492240" y="352044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BGE-M3:  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[0.606 ; 0.737]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BM25:    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[0.431 ; 0.541]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6492240" y="41148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інтервали не перетинаються — статистично значуща перевага семантичного пошуку над лексичним</a:t>
            </a:r>
            <a:endParaRPr lang="en-US" sz="900" dirty="0"/>
          </a:p>
        </p:txBody>
      </p:sp>
      <p:pic>
        <p:nvPicPr>
          <p:cNvPr id="40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1" name="Text 3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18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8 · РЕЗУЛЬТАТИ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Деталізовані метрики за доменами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033272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</a:t>
            </a:r>
            <a:endParaRPr lang="en-US" sz="11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02920" y="1271016"/>
          <a:ext cx="3895344" cy="140360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4654296" y="960120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4837176" y="1033272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MRR@10</a:t>
            </a:r>
            <a:endParaRPr lang="en-US" sz="1100" dirty="0"/>
          </a:p>
        </p:txBody>
      </p:sp>
      <p:graphicFrame>
        <p:nvGraphicFramePr>
          <p:cNvPr id="10" name="Chart 1" descr=""/>
          <p:cNvGraphicFramePr/>
          <p:nvPr/>
        </p:nvGraphicFramePr>
        <p:xfrm>
          <a:off x="4745736" y="1271016"/>
          <a:ext cx="3895344" cy="140360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Shape 7"/>
          <p:cNvSpPr/>
          <p:nvPr/>
        </p:nvSpPr>
        <p:spPr>
          <a:xfrm>
            <a:off x="411480" y="2939796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2" name="Text 8"/>
          <p:cNvSpPr/>
          <p:nvPr/>
        </p:nvSpPr>
        <p:spPr>
          <a:xfrm>
            <a:off x="594360" y="3012948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Recall@10</a:t>
            </a:r>
            <a:endParaRPr lang="en-US" sz="1100" dirty="0"/>
          </a:p>
        </p:txBody>
      </p:sp>
      <p:graphicFrame>
        <p:nvGraphicFramePr>
          <p:cNvPr id="13" name="Chart 2" descr=""/>
          <p:cNvGraphicFramePr/>
          <p:nvPr/>
        </p:nvGraphicFramePr>
        <p:xfrm>
          <a:off x="502920" y="3250692"/>
          <a:ext cx="3895344" cy="140360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" name="Shape 9"/>
          <p:cNvSpPr/>
          <p:nvPr/>
        </p:nvSpPr>
        <p:spPr>
          <a:xfrm>
            <a:off x="4654296" y="2939796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5" name="Text 10"/>
          <p:cNvSpPr/>
          <p:nvPr/>
        </p:nvSpPr>
        <p:spPr>
          <a:xfrm>
            <a:off x="4837176" y="3012948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P@10</a:t>
            </a:r>
            <a:endParaRPr lang="en-US" sz="1100" dirty="0"/>
          </a:p>
        </p:txBody>
      </p:sp>
      <p:graphicFrame>
        <p:nvGraphicFramePr>
          <p:cNvPr id="16" name="Chart 3" descr=""/>
          <p:cNvGraphicFramePr/>
          <p:nvPr/>
        </p:nvGraphicFramePr>
        <p:xfrm>
          <a:off x="4745736" y="3250692"/>
          <a:ext cx="3895344" cy="140360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pic>
        <p:nvPicPr>
          <p:cNvPr id="17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18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9 · АНАЛІЗ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моделі: результати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3931920" cy="960120"/>
          </a:xfrm>
          <a:prstGeom prst="roundRect">
            <a:avLst>
              <a:gd name="adj" fmla="val 5714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05156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МНОЖИНА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94360" y="1289304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{ BGE-M3,  E5-base,  BM25 }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94360" y="1673352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з 5 альтернатив не домінуються жодною іншою за усіма критеріями одночасно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11480" y="210312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11480" y="2103120"/>
            <a:ext cx="91440" cy="56007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1488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2468880"/>
            <a:ext cx="356616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у 3 доменах за nDCG, MRR, Recall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11480" y="275463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11480" y="2754630"/>
            <a:ext cx="91440" cy="56007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80035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3120390"/>
            <a:ext cx="356616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швидка альтернатива, ~70 мс vs ~228 мс у BGE-M3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11480" y="340614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11480" y="3406140"/>
            <a:ext cx="91440" cy="56007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4518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3771900"/>
            <a:ext cx="356616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на юридичному (nDCG=0.320), ~2× повільніший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11480" y="405765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11480" y="4057650"/>
            <a:ext cx="91440" cy="56007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410337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4423410"/>
            <a:ext cx="356616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найслабші результати; в окремих доменах поступається BM25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26280" y="960120"/>
            <a:ext cx="420624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663440" y="105156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U(aᵢ) ПО ДОМЕНАХ</a:t>
            </a:r>
            <a:endParaRPr lang="en-US" sz="900" dirty="0"/>
          </a:p>
        </p:txBody>
      </p:sp>
      <p:graphicFrame>
        <p:nvGraphicFramePr>
          <p:cNvPr id="27" name="Chart 0" descr=""/>
          <p:cNvGraphicFramePr/>
          <p:nvPr/>
        </p:nvGraphicFramePr>
        <p:xfrm>
          <a:off x="4617720" y="1325880"/>
          <a:ext cx="402336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pic>
        <p:nvPicPr>
          <p:cNvPr id="28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18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9 · АНАЛІЗ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Аналіз: якість пошуку vs швидкодія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530352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05156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 ДОМЕН  ·  nDCG@10  vs  ms / запит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02920" y="1325880"/>
          <a:ext cx="512064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899638" y="2103629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246762" y="1599223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721881" y="2861986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2583089" y="142405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4615138" y="1539764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188720" y="130759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⟵ Парето-фронт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5897880" y="9601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КЛЮЧОВІ ВИСНОВКИ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897880" y="12893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897880" y="1289304"/>
            <a:ext cx="73152" cy="61264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Text 14"/>
          <p:cNvSpPr/>
          <p:nvPr/>
        </p:nvSpPr>
        <p:spPr>
          <a:xfrm>
            <a:off x="6062472" y="132588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якості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6062472" y="152704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062472" y="1783080"/>
            <a:ext cx="25603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найвища nDCG (0.672 на Tech), ~228 мс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5897880" y="19751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5897880" y="1975104"/>
            <a:ext cx="73152" cy="612648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22" name="Text 19"/>
          <p:cNvSpPr/>
          <p:nvPr/>
        </p:nvSpPr>
        <p:spPr>
          <a:xfrm>
            <a:off x="6062472" y="201168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Найшвидший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6062472" y="221284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6062472" y="2468880"/>
            <a:ext cx="25603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&lt;3 мс, але якість обмежена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5897880" y="26609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5897880" y="2660904"/>
            <a:ext cx="73152" cy="612648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7" name="Text 24"/>
          <p:cNvSpPr/>
          <p:nvPr/>
        </p:nvSpPr>
        <p:spPr>
          <a:xfrm>
            <a:off x="6062472" y="269748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Альтернатива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062472" y="289864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6062472" y="3154680"/>
            <a:ext cx="25603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~3× швидше за BGE-M3, ~70 мс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5897880" y="33467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5897880" y="3346704"/>
            <a:ext cx="73152" cy="612648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32" name="Text 29"/>
          <p:cNvSpPr/>
          <p:nvPr/>
        </p:nvSpPr>
        <p:spPr>
          <a:xfrm>
            <a:off x="6062472" y="338328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на Legal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6062472" y="358444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6062472" y="3840480"/>
            <a:ext cx="25603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nDCG=0.320, але ~2× повільніший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5897880" y="40325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5897880" y="4032504"/>
            <a:ext cx="73152" cy="6126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7" name="Text 34"/>
          <p:cNvSpPr/>
          <p:nvPr/>
        </p:nvSpPr>
        <p:spPr>
          <a:xfrm>
            <a:off x="6062472" y="406908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Найслабший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6062472" y="427024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6062472" y="4526280"/>
            <a:ext cx="25603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поступається навіть BM25</a:t>
            </a:r>
            <a:endParaRPr lang="en-US" sz="950" dirty="0"/>
          </a:p>
        </p:txBody>
      </p:sp>
      <p:pic>
        <p:nvPicPr>
          <p:cNvPr id="40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1" name="Text 3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18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10 · ПУБЛІКАЦІЯ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Апробація результатів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8321040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11480" y="960120"/>
            <a:ext cx="1097280" cy="157734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1051560"/>
            <a:ext cx="1097280" cy="709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411480" y="1827657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КОНФЕРЕНЦІЯ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2095805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691640" y="10515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«Innovative Research in Science and Economy»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691640" y="132588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2-я Міжнародна науково-практична конференція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691640" y="160020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Стаття:  </a:t>
            </a:r>
            <a:pPr indent="0" marL="0">
              <a:buNone/>
            </a:pP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«Порівняльний аналіз ефективності моделей векторних ембеддінгів для задач семантичного пошуку в корпоративних базах знань»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691640" y="2103120"/>
            <a:ext cx="69494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Внесок:  </a:t>
            </a:r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Представлено benchmark-методологію та порівняння 4 моделей у трьох доменних колекціях; обґрунтовано перевагу BGE-M3 над класичним BM25.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11480" y="2628900"/>
            <a:ext cx="8321040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11480" y="2628900"/>
            <a:ext cx="1097280" cy="15773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" y="2720340"/>
            <a:ext cx="1097280" cy="709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200" dirty="0"/>
          </a:p>
        </p:txBody>
      </p:sp>
      <p:sp>
        <p:nvSpPr>
          <p:cNvPr id="17" name="Text 15"/>
          <p:cNvSpPr/>
          <p:nvPr/>
        </p:nvSpPr>
        <p:spPr>
          <a:xfrm>
            <a:off x="411480" y="3496437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КОНФЕРЕНЦІЯ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11480" y="3764585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691640" y="272034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«Радіоелектроніка та молодь у XXI столітті»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691640" y="299466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30-й Міжнародний молодіжний форум, ХНУРЕ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691640" y="326898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Тези:  </a:t>
            </a:r>
            <a:pPr indent="0" marL="0">
              <a:buNone/>
            </a:pP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«Підвищення якості семантичного пошуку в базах знань із використанням векторних подань»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691640" y="3771900"/>
            <a:ext cx="69494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Внесок:  </a:t>
            </a:r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Подано підхід до підвищення якості retrieval у корпоративних базах знань на основі контрастивно-навчених embedding-моделей.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11480" y="4297680"/>
            <a:ext cx="8321040" cy="4572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11480" y="42976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ЗАГАЛОМ:  </a:t>
            </a:r>
            <a:pPr algn="ctr"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наукові праці   ·   2 виступи на міжнародних конференціях   ·   у співавторстві з науковим керівником   ·   ХНУРЕ, 2026</a:t>
            </a:r>
            <a:endParaRPr lang="en-US" sz="1000" dirty="0"/>
          </a:p>
        </p:txBody>
      </p:sp>
      <p:pic>
        <p:nvPicPr>
          <p:cNvPr id="25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18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1E40AF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315200" y="3657600"/>
            <a:ext cx="3200400" cy="3200400"/>
          </a:xfrm>
          <a:prstGeom prst="ellipse">
            <a:avLst/>
          </a:prstGeom>
          <a:solidFill>
            <a:srgbClr val="F59E0B">
              <a:alpha val="2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11 · ПІДСУМКИ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6" name="Text 4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Підсумки та практичні рекомендації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411480" y="960120"/>
            <a:ext cx="8321040" cy="502920"/>
          </a:xfrm>
          <a:prstGeom prst="roundRect">
            <a:avLst>
              <a:gd name="adj" fmla="val 10909"/>
            </a:avLst>
          </a:prstGeom>
          <a:solidFill>
            <a:srgbClr val="F59E0B"/>
          </a:solidFill>
          <a:ln w="9525">
            <a:solidFill>
              <a:srgbClr val="F59E0B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078992"/>
            <a:ext cx="274320" cy="274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05840" y="960120"/>
            <a:ext cx="7635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ПОСТАВЛЕНУ МЕТУ ДОСЯГНУТО:  обґрунтовано доцільність застосування embedding-моделей для семантичного пошуку у корпоративних базах знань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11480" y="164592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1E293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94360" y="1810512"/>
            <a:ext cx="502920" cy="502920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911096"/>
            <a:ext cx="292608" cy="2926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188720" y="173736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1188720" y="2066544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Основна модель для впровадження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594360" y="2423160"/>
            <a:ext cx="37033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Найкраща якість, стабільність у різних доменах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4663440" y="164592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1E293B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846320" y="1810512"/>
            <a:ext cx="502920" cy="502920"/>
          </a:xfrm>
          <a:prstGeom prst="ellipse">
            <a:avLst/>
          </a:prstGeom>
          <a:solidFill>
            <a:srgbClr val="06B6D4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911096"/>
            <a:ext cx="292608" cy="29260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5440680" y="173736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5440680" y="2066544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Швидка альтернатива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4846320" y="2423160"/>
            <a:ext cx="37033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Прийнятна якість + ~3× швидше за BGE-M3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411480" y="304038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1E293B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594360" y="3204972"/>
            <a:ext cx="502920" cy="502920"/>
          </a:xfrm>
          <a:prstGeom prst="ellipse">
            <a:avLst/>
          </a:prstGeom>
          <a:solidFill>
            <a:srgbClr val="3B82F6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3305556"/>
            <a:ext cx="292608" cy="292608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188720" y="313182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600" dirty="0"/>
          </a:p>
        </p:txBody>
      </p:sp>
      <p:sp>
        <p:nvSpPr>
          <p:cNvPr id="26" name="Text 20"/>
          <p:cNvSpPr/>
          <p:nvPr/>
        </p:nvSpPr>
        <p:spPr>
          <a:xfrm>
            <a:off x="1188720" y="3461004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на юридичному домені</a:t>
            </a:r>
            <a:endParaRPr lang="en-US" sz="1000" dirty="0"/>
          </a:p>
        </p:txBody>
      </p:sp>
      <p:sp>
        <p:nvSpPr>
          <p:cNvPr id="27" name="Text 21"/>
          <p:cNvSpPr/>
          <p:nvPr/>
        </p:nvSpPr>
        <p:spPr>
          <a:xfrm>
            <a:off x="594360" y="3817620"/>
            <a:ext cx="37033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Найвища nDCG@10 на Legal (0.320), ~2× повільніший</a:t>
            </a:r>
            <a:endParaRPr lang="en-US" sz="1000" dirty="0"/>
          </a:p>
        </p:txBody>
      </p:sp>
      <p:sp>
        <p:nvSpPr>
          <p:cNvPr id="28" name="Shape 22"/>
          <p:cNvSpPr/>
          <p:nvPr/>
        </p:nvSpPr>
        <p:spPr>
          <a:xfrm>
            <a:off x="4663440" y="304038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1E293B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4846320" y="3204972"/>
            <a:ext cx="502920" cy="502920"/>
          </a:xfrm>
          <a:prstGeom prst="ellipse">
            <a:avLst/>
          </a:prstGeom>
          <a:solidFill>
            <a:srgbClr val="94A3B8"/>
          </a:solidFill>
          <a:ln/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904" y="3305556"/>
            <a:ext cx="292608" cy="292608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5440680" y="313182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600" dirty="0"/>
          </a:p>
        </p:txBody>
      </p:sp>
      <p:sp>
        <p:nvSpPr>
          <p:cNvPr id="32" name="Text 25"/>
          <p:cNvSpPr/>
          <p:nvPr/>
        </p:nvSpPr>
        <p:spPr>
          <a:xfrm>
            <a:off x="5440680" y="3461004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Конкурентний baseline</a:t>
            </a:r>
            <a:endParaRPr lang="en-US" sz="1000" dirty="0"/>
          </a:p>
        </p:txBody>
      </p:sp>
      <p:sp>
        <p:nvSpPr>
          <p:cNvPr id="33" name="Text 26"/>
          <p:cNvSpPr/>
          <p:nvPr/>
        </p:nvSpPr>
        <p:spPr>
          <a:xfrm>
            <a:off x="4846320" y="3817620"/>
            <a:ext cx="37033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Залишається сильним у певних доменах</a:t>
            </a:r>
            <a:endParaRPr lang="en-US" sz="1000" dirty="0"/>
          </a:p>
        </p:txBody>
      </p:sp>
      <p:sp>
        <p:nvSpPr>
          <p:cNvPr id="34" name="Text 27"/>
          <p:cNvSpPr/>
          <p:nvPr/>
        </p:nvSpPr>
        <p:spPr>
          <a:xfrm>
            <a:off x="0" y="436626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i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Дякую за увагу!</a:t>
            </a:r>
            <a:endParaRPr lang="en-US" sz="2400" dirty="0"/>
          </a:p>
        </p:txBody>
      </p:sp>
      <p:pic>
        <p:nvPicPr>
          <p:cNvPr id="35" name="Image 5" descr="D:\repos\kb-semantic-search-benchmark\thesis\scripts\_logo_hex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18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Дослідження моделей векторних ембеддінгів для семантичного пошуку</dc:title>
  <dc:subject>PptxGenJS Presentation</dc:subject>
  <dc:creator>Нестеренко В.В.</dc:creator>
  <cp:lastModifiedBy>Нестеренко В.В.</cp:lastModifiedBy>
  <cp:revision>1</cp:revision>
  <dcterms:created xsi:type="dcterms:W3CDTF">2026-05-07T17:18:12Z</dcterms:created>
  <dcterms:modified xsi:type="dcterms:W3CDTF">2026-05-07T17:18:12Z</dcterms:modified>
</cp:coreProperties>
</file>
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~25 сек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~70 сек  ·  слайд 2/18</a:t>
            </a:r>
            <a:endParaRPr lang="en-US" dirty="0"/>
          </a:p>
          <a:p>
            <a:r>
              <a:t>Актуальність роботи зумовлена тим, що обсяги корпоративної текстової інформації стрімко зростають, а традиційний лексичний пошук — за ключовими словами — погано працює з синонімією, перефразуванням і мультимовним контентом. Сучасні моделі векторних ембеддінгів дозволяють шукати за змістом, а не за збігом слів.</a:t>
            </a:r>
          </a:p>
          <a:p>
            <a:r>
              <a:t>Мета дослідження — визначити доцільність застосування сучасних embedding-моделей для підвищення ефективності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Об'єктом дослідження є процеси формування та використання векторних подань текстових даних у системах семантичного пошуку. Предметом — самі моделі векторних ембеддінгів для застосування в корпоративних базах знань.</a:t>
            </a:r>
          </a:p>
          <a:p>
            <a:r>
              <a:t>Для досягнення мети поставлено шість задач: проаналізувати предметну галузь; здійснити огляд сучасних embedding-моделей; сформувати україномовний benchmark-набір; реалізувати систему пошуку; оцінити якість моделей за стандартними метриками; та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~60 сек  ·  слайд 3/18</a:t>
            </a:r>
            <a:endParaRPr lang="en-US" dirty="0"/>
          </a:p>
          <a:p>
            <a:r>
              <a:t>Огляд літератури охоплює період з 2013 по 2025 рік — понад дванадцять років еволюції embedding-моделей. На таймлайні представлено ключові віхи: Word2Vec Міколова 2013 року заклав статистичні векторні подання; BERT 2018 року Девліна приніс контекстність через трансформери; Sentence-BERT 2019 року Реймерса оптимізував архітектуру під семантичну схожість речень. У 2022 році з'явилась модель E5 з контрастивним навчанням та мультимовністю. У 2024 році — BGE-M3 та nomic-embed, які підтримують довгий контекст до восьми тисяч токенів. І найновіша — Qwen3-Embedding 2025 року, побудована на декодерній архітектурі з підтримкою інструкцій.</a:t>
            </a:r>
          </a:p>
          <a:p>
            <a:r>
              <a:t>Усього опрацьовано 29 наукових джерел. Виявлено дослідницьку прогалину: на момент виконання роботи відсутні порівняльні дослідження сучасних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~50 сек  ·  слайд 4/18</a:t>
            </a:r>
            <a:endParaRPr lang="en-US" dirty="0"/>
          </a:p>
          <a:p>
            <a:r>
              <a:t>З огляду на виявлену прогалину сформульовано постановку задачі. Просто застосувати сучасну embedding-модель недостатньо — необхідно обґрунтовано вибрати модель, яка забезпечує оптимальний баланс між якістю пошуку, швидкодією, вимогами до ресурсів, мовною підтримкою та типом колекції документів.</a:t>
            </a:r>
          </a:p>
          <a:p>
            <a:r>
              <a:t>Очікувані результати роботи: перше — повноцінна система семантичного пошуку з підтримкою форматів PDF, DOCX, TXT та Markdown. Друге — власноруч сформований україномовний benchmark з трьох доменів. Третє — кількісне порівняння чотирьох embedding-моделей та лексичної baseline-моделі BM25. Четверте — багатокритеріальний вибір моделі за Парето-фронтом і лінійною згорткою. І п'яте — обґрунтовані практичні рекомендації для впровадження у виробничі системи.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~60 сек  ·  слайд 5/18</a:t>
            </a:r>
            <a:endParaRPr lang="en-US" dirty="0"/>
          </a:p>
          <a:p>
            <a:r>
              <a:t>Для дослідження обрано чотири сучасні моделі векторних ембеддінгів.</a:t>
            </a:r>
          </a:p>
          <a:p>
            <a:r>
              <a:t>Перша — BGE-M3 від BAAI: 568 мільйонів параметрів, контекстне вікно до 8192 токенів, енкодерна архітектура. Її особливість — три режими роботи: dense, sparse та multi-vector.</a:t>
            </a:r>
          </a:p>
          <a:p>
            <a:r>
              <a:t>Друга — multilingual E5-base від intfloat: 278 мільйонів параметрів, контекст 512 токенів. Особливість — обов'язкові префікси query та passage перед текстом для запитів і документів.</a:t>
            </a:r>
          </a:p>
          <a:p>
            <a:r>
              <a:t>Третя — nomic-embed v1.5: всього 137 мільйонів параметрів, але контекст до 8192 токенів і техніка Matryoshka representations, що дозволяє динамічно зменшувати розмірність вектора.</a:t>
            </a:r>
          </a:p>
          <a:p>
            <a:r>
              <a:t>Четверта — Qwen3-Embedding-0.6B від Alibaba: 596 мільйонів параметрів, контекст 32768 токенів. На відміну від інших трьох, побудована на декодерній LLM-архітектурі та підтримує інструкції.</a:t>
            </a:r>
          </a:p>
          <a:p>
            <a:r>
              <a:t>Як лексична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~50 сек  ·  слайд 6/18</a:t>
            </a:r>
            <a:endParaRPr lang="en-US" dirty="0"/>
          </a:p>
          <a:p>
            <a:r>
              <a:t>Методологія оцінювання базується на чотирьох метриках retrieval-якості, які є стандартом у сфері інформаційного пошуку: nDCG@10 — основна метрика якості ранжування; MRR@10 — позиція першого релевантного документа; Recall@10 — повнота пошуку; та Precision@10 — точність видачі. Окремо вимірюється швидкодія в мілісекундах на запит.</a:t>
            </a:r>
          </a:p>
          <a:p>
            <a:r>
              <a:t>Для забезпечення достовірності результатів застосовано три методи аналізу. Перший — бутстреп-довірчі інтервали: 2000 повторних вибірок із поверненням, що дозволяє оцінити 95% довірчий інтервал для nDCG@10. Другий — Парето-домінування для виявлення недомінованих альтернатив. Третій — лінійна адитивна згортка для обчислення інтегральної оцінки корисності з ваговими коефіцієнтами критеріїв.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~60 сек  ·  слайд 7/18</a:t>
            </a:r>
            <a:endParaRPr lang="en-US" dirty="0"/>
          </a:p>
          <a:p>
            <a:r>
              <a:t>Розгляну формули метрик детальніше. nDCG@k — нормалізована якість ранжування, обчислюється як DCG поділене на ідеальне DCG. Сама DCG враховує і факт релевантності, і позицію документа — кожен документ ділиться на логарифм його позиції плюс один.</a:t>
            </a:r>
          </a:p>
          <a:p>
            <a:r>
              <a:t>MRR — це середнє значення оберненої позиції першого релевантного документа по всіх запитах. Якщо релевантний документ на першому місці — MRR дорівнює одиниці; на десятому — одній десятій.</a:t>
            </a:r>
          </a:p>
          <a:p>
            <a:r>
              <a:t>Recall@k — частка релевантних документів, знайдених у топ-k результатів, серед усіх релевантних у колекції.</a:t>
            </a:r>
          </a:p>
          <a:p>
            <a:r>
              <a:t>Precision@k — частка релевантних документів серед перших k результатів видачі.</a:t>
            </a:r>
          </a:p>
          <a:p>
            <a:r>
              <a:t>Усі чотири метрики приймають значення від нуля до одиниці, і чим вище — тим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~60 сек  ·  слайд 8/18</a:t>
            </a:r>
            <a:endParaRPr lang="en-US" dirty="0"/>
          </a:p>
          <a:p>
            <a:r>
              <a:t>Багатокритеріальний вибір моделі реалізовано у три кроки.</a:t>
            </a:r>
          </a:p>
          <a:p>
            <a:r>
              <a:t>Крок перший — Парето-домінування. Альтернатива є Парето-оптимальною, якщо не існує іншої альтернативи, яка домінує над нею за всіма критеріями одночасно. Це дозволяє відсіяти заздалегідь гірші варіанти.</a:t>
            </a:r>
          </a:p>
          <a:p>
            <a:r>
              <a:t>Крок другий — нормалізація шкал. Критерії мають різні одиниці виміру: nDCG в межах від нуля до одиниці, а швидкодія в мілісекундах. Тому всі критерії приводяться до спільної шкали від нуля до одиниці з урахуванням напряму оптимізації — максимізувати чи мінімізувати.</a:t>
            </a:r>
          </a:p>
          <a:p>
            <a:r>
              <a:t>Крок третій — лінійна адитивна згортка. Інтегральна оцінка корисності U від альтернативи дорівнює сумі добутків ваг на нормалізовані значення критеріїв. Сума ваг дорівнює одиниці. Користувач задає ваги залежно від своїх пріоритетів — наприклад, якість важливіша за швидкість або навпаки.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~50 сек  ·  слайд 9/18</a:t>
            </a:r>
            <a:endParaRPr lang="en-US" dirty="0"/>
          </a:p>
          <a:p>
            <a:r>
              <a:t>Архітектура системи побудована у вигляді pipeline. На вході — документи у форматах PDF, DOCX, TXT або Markdown. Документи розбиваються на чанки приблизно по 600 слів з перекриттям, що зберігає контекстну зв'язність.</a:t>
            </a:r>
          </a:p>
          <a:p>
            <a:r>
              <a:t>Далі кожен чанк перетворюється на вектор за допомогою однієї з чотирьох embedding-моделей. Вектори L2-нормалізуються та індексуються у FAISS — використовується точний індекс IndexFlatIP, який обчислює внутрішній добуток, що для нормалізованих векторів еквівалентне косинусній мірі.</a:t>
            </a:r>
          </a:p>
          <a:p>
            <a:r>
              <a:t>Запит користувача проходить ту саму обробку, і за косинусною схожістю повертаються топ-K найрелевантніших чанків. Усе це обгорнуто у Flask веб-застосунок. Основні модулі — build_index, evaluate_benchmark, embedding_models та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~35 сек  ·  слайд 10/18</a:t>
            </a:r>
            <a:endParaRPr lang="en-US" dirty="0"/>
          </a:p>
          <a:p>
            <a:r>
              <a:t>Програмне забезпечення реалізоване на Python 3.11. Для ML-частини використано бібліотеки sentence-transformers, transformers від Hugging Face та PyTorch у CPU-режимі.</a:t>
            </a:r>
          </a:p>
          <a:p>
            <a:r>
              <a:t>Для retrieval — бібліотеки FAISS з точним індексом IndexFlatIP та rank_bm25 для лексичної baseline. Дані зберігаються у форматі JSONL — це і чанки, і релевантність qrels.</a:t>
            </a:r>
          </a:p>
          <a:p>
            <a:r>
              <a:t>Веб-частина побудована на Flask. Аналіз результатів виконано через NumPy, scikit-learn та власну реалізацію бутстреп-довірчих інтервалів. Версіонування — Git і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~45 сек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~30 сек  ·  слайд 12/18</a:t>
            </a:r>
            <a:endParaRPr lang="en-US" dirty="0"/>
          </a:p>
          <a:p>
            <a:r>
              <a:t>Приклади запитів для ілюстрації характеру benchmark-у. У технічному домені — запити на кшталт «виявлення аномалій у фінансових транзакціях» чи «прогноз відтоку клієнтів». У юридичному — «з якого віку настає повна цивільна дієздатність» або «що входить до складу спадщини». У медичному — «будова та функції серця людини», «велике і мале коло кровообігу». Тобто реальні питання, які могли б ставити користувачі корпоративних інформаційних систем.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~70 сек  ·  слайд 13/18</a:t>
            </a:r>
            <a:endParaRPr lang="en-US" dirty="0"/>
          </a:p>
          <a:p>
            <a:r>
              <a:t>Перейдемо до головних результатів експерименту. У таблиці — середнє значення nDCG@10 по всіх трьох доменах.</a:t>
            </a:r>
          </a:p>
          <a:p>
            <a:r>
              <a:t>Перше місце посідає BGE-M3 з результатом 0.4708. Друге — Qwen3 з результатом 0.4385. Третє — E5-base з 0.4199. Четверте — лексична baseline BM25 з результатом 0.3319. На останньому місці — nomic з результатом 0.2128, що навіть нижче BM25.</a:t>
            </a:r>
          </a:p>
          <a:p>
            <a:r>
              <a:t>Ключовий висновок: три з чотирьох embedding-моделей перевершують лексичну baseline BM25.</a:t>
            </a:r>
          </a:p>
          <a:p>
            <a:r>
              <a:t>Достовірність підтверджена бутстреп-аналізом: 2000 повторних вибірок з поверненням. На технічному домені 95% довірчий інтервал для BGE-M3 склав від 0.606 до 0.737, а для BM25 — від 0.431 до 0.541. Інтервали не перетинаються, отже перевага семантичного пошуку над лексичним є статистично значущою.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~40 сек  ·  слайд 14/18</a:t>
            </a:r>
            <a:endParaRPr lang="en-US" dirty="0"/>
          </a:p>
          <a:p>
            <a:r>
              <a:t>На цьому слайді — деталізовані метрики у розрізі трьох доменів. Чотири підграфіки відповідають чотирьом метрикам якості: nDCG@10, MRR@10, Recall@10 та Precision@10.</a:t>
            </a:r>
          </a:p>
          <a:p>
            <a:r>
              <a:t>Видно, що лідерство BGE-M3 є послідовним за всіма чотирма метриками — це додатковий доказ робастності результату. На юридичному домені усі моделі демонструють нижчі значення — він обʼєктивно складніший для семантичного пошуку через формальний стиль текстів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~60 сек  ·  слайд 15/18</a:t>
            </a:r>
            <a:endParaRPr lang="en-US" dirty="0"/>
          </a:p>
          <a:p>
            <a:r>
              <a:t>Тепер — багатокритеріальний вибір моделі. Парето-оптимальна множина складається з трьох альтернатив: BGE-M3, E5-base та BM25. Тобто три з п'яти моделей не домінуються жодною іншою за всіма критеріями одночасно.</a:t>
            </a:r>
          </a:p>
          <a:p>
            <a:r>
              <a:t>BGE-M3 — лідер у всіх трьох доменах за nDCG, MRR та Recall.</a:t>
            </a:r>
          </a:p>
          <a:p>
            <a:r>
              <a:t>E5-base — швидка альтернатива: близько 70 мілісекунд на запит проти 228 мілісекунд у BGE-M3, тобто приблизно у три рази швидше при прийнятній якості.</a:t>
            </a:r>
          </a:p>
          <a:p>
            <a:r>
              <a:t>Qwen3 виявився лідером на юридичному домені з nDCG 0.320, але приблизно у два рази повільніший.</a:t>
            </a:r>
          </a:p>
          <a:p>
            <a:r>
              <a:t>Nomic — найслабші результати; в окремих доменах поступається навіть BM25 за якістю.</a:t>
            </a:r>
          </a:p>
          <a:p>
            <a:r>
              <a:t>Діаграма знизу показує інтегральні оцінки U по трьох доменах, обчислені за лінійною згорткою з рівними вагами.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~70 сек  ·  слайд 16/18</a:t>
            </a:r>
            <a:endParaRPr lang="en-US" dirty="0"/>
          </a:p>
          <a:p>
            <a:r>
              <a:t>На цьому графіку — компроміс між якістю та швидкодією на технічному домені. По осі X — час відповіді в мілісекундах, по осі Y — nDCG@10. Парето-фронт виділено пунктирною лінією.</a:t>
            </a:r>
          </a:p>
          <a:p>
            <a:r>
              <a:t>BGE-M3 — Парето-оптимальна, лідер за якістю: nDCG 0.672, приблизно 228 мілісекунд на запит. Це основний вибір для впровадження.</a:t>
            </a:r>
          </a:p>
          <a:p>
            <a:r>
              <a:t>E5-base — також Парето-оптимальна, sweet spot: близько 70 мілісекунд, тобто у три рази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— приблизно 0.49 nDCG.</a:t>
            </a:r>
          </a:p>
          <a:p>
            <a:r>
              <a:t>Qwen3 — спеціалізована модель, домінується на технічному домені, але краща на юридичному.</a:t>
            </a:r>
          </a:p>
          <a:p>
            <a:r>
              <a:t>Nomic — не рекомендується: повністю домінується іншими моделями, поступається BM25 за якістю при більших вимогах до ресурсів.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~40 сек  ·  слайд 17/18</a:t>
            </a:r>
            <a:endParaRPr lang="en-US" dirty="0"/>
          </a:p>
          <a:p>
            <a:r>
              <a:t>Апробація результатів дослідження. Опубліковано дві наукові праці у співавторстві з науковим керівником.</a:t>
            </a:r>
          </a:p>
          <a:p>
            <a:r>
              <a:t>Перша — стаття на 2-й Міжнародній науково-практичній конференції «Innovative Research in Science and Economy» 2026 року, де представлено benchmark-методологію та порівняння чотирьох моделей.</a:t>
            </a:r>
          </a:p>
          <a:p>
            <a:r>
              <a:t>Друга — тези на 30-му Міжнародному молодіжному форумі «Радіоелектроніка та молодь у XXI столітті» в ХНУРЕ, де подано підхід до підвищення якості семантичного пошуку на основі контрастивно-навчених embedding-моделей.</a:t>
            </a:r>
          </a:p>
          <a:p>
            <a:r>
              <a:t>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~60 сек  ·  слайд 18/18</a:t>
            </a:r>
            <a:endParaRPr lang="en-US" dirty="0"/>
          </a:p>
          <a:p>
            <a:r>
              <a:t>Підсумовуючи: у роботі обґрунтовано доцільність застосування сучасних embedding-моделей для семантичного пошуку у корпоративних базах знань. Сформульовано практичні рекомендації щодо вибору моделі.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 з прийнятною якістю та триразовою перевагою за швидкодією.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бґрунтовано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1710</Words>
  <Application>Microsoft Office PowerPoint</Application>
  <PresentationFormat>On-screen Show (16:9)</PresentationFormat>
  <Paragraphs>439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26</cp:revision>
  <dcterms:created xsi:type="dcterms:W3CDTF">2026-05-07T21:01:42Z</dcterms:created>
  <dcterms:modified xsi:type="dcterms:W3CDTF">2026-05-07T21:21:12Z</dcterms:modified>
</cp:coreProperties>
</file>
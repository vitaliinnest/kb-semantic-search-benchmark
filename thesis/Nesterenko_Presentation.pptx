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0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BGE-M3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BGE-M3</c:v>
                  </c:pt>
                  <c:pt idx="1">
                    <c:v>E5-base</c:v>
                  </c:pt>
                  <c:pt idx="2">
                    <c:v>nomic</c:v>
                  </c:pt>
                  <c:pt idx="3">
                    <c:v>Qwen3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E5-base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BGE-M3</c:v>
                  </c:pt>
                  <c:pt idx="1">
                    <c:v>E5-base</c:v>
                  </c:pt>
                  <c:pt idx="2">
                    <c:v>nomic</c:v>
                  </c:pt>
                  <c:pt idx="3">
                    <c:v>Qwen3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/>
                </c:pt>
                <c:pt idx="1">
                  <c:v>278</c:v>
                </c:pt>
                <c:pt idx="2">
                  <c:v/>
                </c:pt>
                <c:pt idx="3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nomic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BGE-M3</c:v>
                  </c:pt>
                  <c:pt idx="1">
                    <c:v>E5-base</c:v>
                  </c:pt>
                  <c:pt idx="2">
                    <c:v>nomic</c:v>
                  </c:pt>
                  <c:pt idx="3">
                    <c:v>Qwen3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/>
                </c:pt>
                <c:pt idx="1">
                  <c:v/>
                </c:pt>
                <c:pt idx="2">
                  <c:v>137</c:v>
                </c:pt>
                <c:pt idx="3">
                  <c:v/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BGE-M3</c:v>
                  </c:pt>
                  <c:pt idx="1">
                    <c:v>E5-base</c:v>
                  </c:pt>
                  <c:pt idx="2">
                    <c:v>nomic</c:v>
                  </c:pt>
                  <c:pt idx="3">
                    <c:v>Qwen3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596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BGE-M3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BGE-M3</c:v>
                  </c:pt>
                  <c:pt idx="1">
                    <c:v>E5-base</c:v>
                  </c:pt>
                  <c:pt idx="2">
                    <c:v>nomic</c:v>
                  </c:pt>
                  <c:pt idx="3">
                    <c:v>Qwen3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8192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E5-base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BGE-M3</c:v>
                  </c:pt>
                  <c:pt idx="1">
                    <c:v>E5-base</c:v>
                  </c:pt>
                  <c:pt idx="2">
                    <c:v>nomic</c:v>
                  </c:pt>
                  <c:pt idx="3">
                    <c:v>Qwen3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/>
                </c:pt>
                <c:pt idx="1">
                  <c:v>512</c:v>
                </c:pt>
                <c:pt idx="2">
                  <c:v/>
                </c:pt>
                <c:pt idx="3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nomic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BGE-M3</c:v>
                  </c:pt>
                  <c:pt idx="1">
                    <c:v>E5-base</c:v>
                  </c:pt>
                  <c:pt idx="2">
                    <c:v>nomic</c:v>
                  </c:pt>
                  <c:pt idx="3">
                    <c:v>Qwen3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/>
                </c:pt>
                <c:pt idx="1">
                  <c:v/>
                </c:pt>
                <c:pt idx="2">
                  <c:v>8192</c:v>
                </c:pt>
                <c:pt idx="3">
                  <c:v/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Qwen3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BGE-M3</c:v>
                  </c:pt>
                  <c:pt idx="1">
                    <c:v>E5-base</c:v>
                  </c:pt>
                  <c:pt idx="2">
                    <c:v>nomic</c:v>
                  </c:pt>
                  <c:pt idx="3">
                    <c:v>Qwen3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32768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</c:v>
                </c:pt>
                <c:pt idx="1">
                  <c:v>0.3</c:v>
                </c:pt>
                <c:pt idx="2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</c:v>
                </c:pt>
                <c:pt idx="1">
                  <c:v>0.3</c:v>
                </c:pt>
                <c:pt idx="2">
                  <c:v>0.15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0.25</c:v>
                </c:pt>
                <c:pt idx="1">
                  <c:v>0.2</c:v>
                </c:pt>
                <c:pt idx="2">
                  <c:v>0.35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P@k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0.05</c:v>
                </c:pt>
                <c:pt idx="1">
                  <c:v>0.1</c:v>
                </c:pt>
                <c:pt idx="2">
                  <c:v>0.1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Latency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0.2</c:v>
                </c:pt>
                <c:pt idx="1">
                  <c:v>0.1</c:v>
                </c:pt>
                <c:pt idx="2">
                  <c:v>0.15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47556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Чанки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40AF"/>
              </a:solidFill>
              <a:effectLst/>
            </c:spPr>
          </c:dPt>
          <c:dPt>
            <c:idx val="1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bubble3D val="0"/>
            <c:spPr>
              <a:solidFill>
                <a:srgbClr val="E11D4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E293B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E293B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E293B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Технічний (178)</c:v>
                </c:pt>
                <c:pt idx="1">
                  <c:v>Юридичний (1046)</c:v>
                </c:pt>
                <c:pt idx="2">
                  <c:v>Медичний (267)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178</c:v>
                </c:pt>
                <c:pt idx="1">
                  <c:v>1046</c:v>
                </c:pt>
                <c:pt idx="2">
                  <c:v>267</c:v>
                </c:pt>
              </c:numCache>
            </c:numRef>
          </c:val>
        </c:ser>
        <c:firstSliceAng val="0"/>
        <c:holeSize val="60"/>
      </c:doughnutChart>
      <c:spPr>
        <a:solidFill>
          <a:srgbClr val="F8FA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7556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BGE-M3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0.6722</c:v>
                </c:pt>
                <c:pt idx="1">
                  <c:v>0.3065</c:v>
                </c:pt>
                <c:pt idx="2">
                  <c:v>0.4339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0.6325</c:v>
                </c:pt>
                <c:pt idx="1">
                  <c:v>0.3199</c:v>
                </c:pt>
                <c:pt idx="2">
                  <c:v>0.3629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E5-base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0.6121</c:v>
                </c:pt>
                <c:pt idx="1">
                  <c:v>0.2567</c:v>
                </c:pt>
                <c:pt idx="2">
                  <c:v>0.3909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BM25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0.4861</c:v>
                </c:pt>
                <c:pt idx="1">
                  <c:v>0.1875</c:v>
                </c:pt>
                <c:pt idx="2">
                  <c:v>0.3222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nomic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0.3765</c:v>
                </c:pt>
                <c:pt idx="1">
                  <c:v>0.0951</c:v>
                </c:pt>
                <c:pt idx="2">
                  <c:v>0.1668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9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BGE-M3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0.6722</c:v>
                </c:pt>
                <c:pt idx="1">
                  <c:v>0.3065</c:v>
                </c:pt>
                <c:pt idx="2">
                  <c:v>0.4339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0.6325</c:v>
                </c:pt>
                <c:pt idx="1">
                  <c:v>0.3199</c:v>
                </c:pt>
                <c:pt idx="2">
                  <c:v>0.3629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E5-base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0.6121</c:v>
                </c:pt>
                <c:pt idx="1">
                  <c:v>0.2567</c:v>
                </c:pt>
                <c:pt idx="2">
                  <c:v>0.3909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BM25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0.4861</c:v>
                </c:pt>
                <c:pt idx="1">
                  <c:v>0.1875</c:v>
                </c:pt>
                <c:pt idx="2">
                  <c:v>0.3222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nomic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0.3765</c:v>
                </c:pt>
                <c:pt idx="1">
                  <c:v>0.0951</c:v>
                </c:pt>
                <c:pt idx="2">
                  <c:v>0.1668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47556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BGE-M3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0.6993</c:v>
                </c:pt>
                <c:pt idx="1">
                  <c:v>0.3831</c:v>
                </c:pt>
                <c:pt idx="2">
                  <c:v>0.5054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0.666</c:v>
                </c:pt>
                <c:pt idx="1">
                  <c:v>0.4022</c:v>
                </c:pt>
                <c:pt idx="2">
                  <c:v>0.4256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E5-base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0.645</c:v>
                </c:pt>
                <c:pt idx="1">
                  <c:v>0.3318</c:v>
                </c:pt>
                <c:pt idx="2">
                  <c:v>0.4647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BM25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0.4808</c:v>
                </c:pt>
                <c:pt idx="1">
                  <c:v>0.2533</c:v>
                </c:pt>
                <c:pt idx="2">
                  <c:v>0.4003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nomic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0.425</c:v>
                </c:pt>
                <c:pt idx="1">
                  <c:v>0.1432</c:v>
                </c:pt>
                <c:pt idx="2">
                  <c:v>0.2167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BGE-M3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0.815</c:v>
                </c:pt>
                <c:pt idx="1">
                  <c:v>0.375</c:v>
                </c:pt>
                <c:pt idx="2">
                  <c:v>0.545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0.76</c:v>
                </c:pt>
                <c:pt idx="1">
                  <c:v>0.385</c:v>
                </c:pt>
                <c:pt idx="2">
                  <c:v>0.4717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E5-base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0.7458</c:v>
                </c:pt>
                <c:pt idx="1">
                  <c:v>0.33</c:v>
                </c:pt>
                <c:pt idx="2">
                  <c:v>0.505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BM25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0.7542</c:v>
                </c:pt>
                <c:pt idx="1">
                  <c:v>0.2333</c:v>
                </c:pt>
                <c:pt idx="2">
                  <c:v>0.3983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nomic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0.4783</c:v>
                </c:pt>
                <c:pt idx="1">
                  <c:v>0.125</c:v>
                </c:pt>
                <c:pt idx="2">
                  <c:v>0.2333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BGE-M3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0.143</c:v>
                </c:pt>
                <c:pt idx="1">
                  <c:v>0.106</c:v>
                </c:pt>
                <c:pt idx="2">
                  <c:v>0.14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0.138</c:v>
                </c:pt>
                <c:pt idx="1">
                  <c:v>0.11</c:v>
                </c:pt>
                <c:pt idx="2">
                  <c:v>0.129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E5-base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0.139</c:v>
                </c:pt>
                <c:pt idx="1">
                  <c:v>0.089</c:v>
                </c:pt>
                <c:pt idx="2">
                  <c:v>0.134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BM25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0.134</c:v>
                </c:pt>
                <c:pt idx="1">
                  <c:v>0.064</c:v>
                </c:pt>
                <c:pt idx="2">
                  <c:v>0.1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nomic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0.09</c:v>
                </c:pt>
                <c:pt idx="1">
                  <c:v>0.027</c:v>
                </c:pt>
                <c:pt idx="2">
                  <c:v>0.054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BGE-M3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0.904</c:v>
                </c:pt>
                <c:pt idx="1">
                  <c:v>0.872</c:v>
                </c:pt>
                <c:pt idx="2">
                  <c:v>0.912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0.825</c:v>
                </c:pt>
                <c:pt idx="1">
                  <c:v>0.914</c:v>
                </c:pt>
                <c:pt idx="2">
                  <c:v>0.802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E5-base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0.875</c:v>
                </c:pt>
                <c:pt idx="1">
                  <c:v>0.844</c:v>
                </c:pt>
                <c:pt idx="2">
                  <c:v>0.901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BM25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0.795</c:v>
                </c:pt>
                <c:pt idx="1">
                  <c:v>0.741</c:v>
                </c:pt>
                <c:pt idx="2">
                  <c:v>0.817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nomic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Технічний</c:v>
                  </c:pt>
                  <c:pt idx="1">
                    <c:v>Юридичний</c:v>
                  </c:pt>
                  <c:pt idx="2">
                    <c:v>Медичний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0.611</c:v>
                </c:pt>
                <c:pt idx="1">
                  <c:v>0.503</c:v>
                </c:pt>
                <c:pt idx="2">
                  <c:v>0.568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75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nDCG@10</c:v>
                </c:pt>
              </c:strCache>
            </c:strRef>
          </c:tx>
          <c:spPr>
            <a:solidFill>
              <a:srgbClr val="1E40AF"/>
            </a:solidFill>
            <a:ln>
              <a:noFill/>
            </a:ln>
            <a:effectLst/>
          </c:spPr>
          <c:marker>
            <c:symbol val="circle"/>
            <c:size val="14"/>
            <c:spPr>
              <a:solidFill>
                <a:srgbClr val="1E40AF"/>
              </a:solidFill>
              <a:ln w="9525" cap="flat">
                <a:solidFill>
                  <a:srgbClr val="1E40AF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0.4</c:v>
                </c:pt>
                <c:pt idx="1">
                  <c:v>70.9</c:v>
                </c:pt>
                <c:pt idx="2">
                  <c:v>124.8</c:v>
                </c:pt>
                <c:pt idx="3">
                  <c:v>222.5</c:v>
                </c:pt>
                <c:pt idx="4">
                  <c:v>463.4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0.4861</c:v>
                </c:pt>
                <c:pt idx="1">
                  <c:v>0.6121</c:v>
                </c:pt>
                <c:pt idx="2">
                  <c:v>0.3765</c:v>
                </c:pt>
                <c:pt idx="3">
                  <c:v>0.6722</c:v>
                </c:pt>
                <c:pt idx="4">
                  <c:v>0.6325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475569"/>
                    </a:solidFill>
                    <a:latin typeface="Calibri"/>
                  </a:defRPr>
                </a:pPr>
                <a:r>
                  <a:rPr sz="900" b="0" i="0" u="none" strike="noStrike">
                    <a:solidFill>
                      <a:srgbClr val="475569"/>
                    </a:solidFill>
                    <a:latin typeface="Calibri"/>
                  </a:rPr>
                  <a:t>ms / запит (нижче — краще)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475569"/>
                    </a:solidFill>
                    <a:latin typeface="Calibri"/>
                  </a:defRPr>
                </a:pPr>
                <a:r>
                  <a:rPr sz="900" b="0" i="0" u="none" strike="noStrike">
                    <a:solidFill>
                      <a:srgbClr val="475569"/>
                    </a:solidFill>
                    <a:latin typeface="Calibri"/>
                  </a:rPr>
                  <a:t>nDCG@10 (вище — краще)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F8FA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5" Type="http://schemas.openxmlformats.org/officeDocument/2006/relationships/image" Target="../media/image-1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4" Type="http://schemas.openxmlformats.org/officeDocument/2006/relationships/chart" Target="/ppt/charts/chart9.xml"/><Relationship Id="rId5" Type="http://schemas.openxmlformats.org/officeDocument/2006/relationships/image" Target="../media/image-14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1E3A8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1E40A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-365760"/>
            <a:ext cx="1645920" cy="16459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365760" y="3840480"/>
            <a:ext cx="1280160" cy="1280160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457200"/>
            <a:ext cx="3840480" cy="310896"/>
          </a:xfrm>
          <a:prstGeom prst="roundRect">
            <a:avLst>
              <a:gd name="adj" fmla="val 47059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572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МАГІСТЕРСЬКА КВАЛІФІКАЦІЙНА РОБОТА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96012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Дослідження моделей векторних ембеддінгів для семантичного пошуку текстових даних у корпоративних базах знань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30175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Виконав: 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Нестеренко Віталій Вячеславович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Група: 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ІПЗм-24-1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8862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Науковий керівник:  </a:t>
            </a: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к.т.н., доцент Русакова Наталія Євгенівна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4069080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06640" y="4023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травня 2026   ·   Харків</a:t>
            </a:r>
            <a:endParaRPr lang="en-US" sz="1100" dirty="0"/>
          </a:p>
        </p:txBody>
      </p:sp>
      <p:pic>
        <p:nvPicPr>
          <p:cNvPr id="14" name="Image 1" descr="D:\repos\kb-semantic-search-benchmark\thesis\scripts\_logo_xn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686300"/>
            <a:ext cx="1645920" cy="365760"/>
          </a:xfrm>
          <a:prstGeom prst="rect">
            <a:avLst/>
          </a:prstGeom>
        </p:spPr>
      </p:pic>
      <p:pic>
        <p:nvPicPr>
          <p:cNvPr id="15" name="Image 2" descr="D:\repos\kb-semantic-search-benchmark\thesis\scripts\_logo_kafed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4704588"/>
            <a:ext cx="1645920" cy="329184"/>
          </a:xfrm>
          <a:prstGeom prst="rect">
            <a:avLst/>
          </a:prstGeom>
        </p:spPr>
      </p:pic>
      <p:pic>
        <p:nvPicPr>
          <p:cNvPr id="16" name="Image 3" descr="D:\repos\kb-semantic-search-benchmark\thesis\scripts\_logo_he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4686300"/>
            <a:ext cx="6400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1 · ДОСЛІДЖЕННЯ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Актуальність, мета та задачі дослідження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777240"/>
          </a:xfrm>
          <a:prstGeom prst="roundRect">
            <a:avLst>
              <a:gd name="adj" fmla="val 7059"/>
            </a:avLst>
          </a:prstGeom>
          <a:solidFill>
            <a:srgbClr val="1E40AF"/>
          </a:solidFill>
          <a:ln w="9525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972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005840"/>
            <a:ext cx="736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МЕТА: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визначення доцільності застосування сучасних моделей векторних ембеддінгів для підвищення ефективності семантичного пошуку текстових документів у корпоративних базах знань шляхом порівняльного експериментального дослідження.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1874520"/>
            <a:ext cx="416052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" y="19293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6072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процеси формування та використання векторних подань текстових даних у системах семантичного пошуку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874520"/>
            <a:ext cx="416052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19472" y="19293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919472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моделі векторних ембеддінгів для семантичного пошуку у корпоративних базах знань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ЗАДАЧІ ДОСЛІДЖЕННЯ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11480" y="2926080"/>
            <a:ext cx="2682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6072" y="3108960"/>
            <a:ext cx="411480" cy="41148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7" name="Text 14"/>
          <p:cNvSpPr/>
          <p:nvPr/>
        </p:nvSpPr>
        <p:spPr>
          <a:xfrm>
            <a:off x="576072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97280" y="3017520"/>
            <a:ext cx="190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предметної галузі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30880" y="2926080"/>
            <a:ext cx="2682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395472" y="3108960"/>
            <a:ext cx="411480" cy="41148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1" name="Text 18"/>
          <p:cNvSpPr/>
          <p:nvPr/>
        </p:nvSpPr>
        <p:spPr>
          <a:xfrm>
            <a:off x="3395472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916680" y="3017520"/>
            <a:ext cx="190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Огляд embedding-моделей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50280" y="2926080"/>
            <a:ext cx="2682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14872" y="3108960"/>
            <a:ext cx="411480" cy="41148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5" name="Text 22"/>
          <p:cNvSpPr/>
          <p:nvPr/>
        </p:nvSpPr>
        <p:spPr>
          <a:xfrm>
            <a:off x="6214872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736080" y="3017520"/>
            <a:ext cx="190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Формування benchmark dataset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11480" y="3840480"/>
            <a:ext cx="2682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76072" y="4023360"/>
            <a:ext cx="411480" cy="41148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9" name="Text 26"/>
          <p:cNvSpPr/>
          <p:nvPr/>
        </p:nvSpPr>
        <p:spPr>
          <a:xfrm>
            <a:off x="576072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97280" y="3931920"/>
            <a:ext cx="190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 системи пошуку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230880" y="3840480"/>
            <a:ext cx="2682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395472" y="4023360"/>
            <a:ext cx="411480" cy="41148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3" name="Text 30"/>
          <p:cNvSpPr/>
          <p:nvPr/>
        </p:nvSpPr>
        <p:spPr>
          <a:xfrm>
            <a:off x="3395472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3916680" y="3931920"/>
            <a:ext cx="190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Оцінка якості моделей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050280" y="3840480"/>
            <a:ext cx="2682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214872" y="4023360"/>
            <a:ext cx="411480" cy="41148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7" name="Text 34"/>
          <p:cNvSpPr/>
          <p:nvPr/>
        </p:nvSpPr>
        <p:spPr>
          <a:xfrm>
            <a:off x="6214872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736080" y="3931920"/>
            <a:ext cx="190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оптимальної моделі</a:t>
            </a:r>
            <a:endParaRPr lang="en-US" sz="1100" dirty="0"/>
          </a:p>
        </p:txBody>
      </p:sp>
      <p:pic>
        <p:nvPicPr>
          <p:cNvPr id="39" name="Image 1" descr="D:\repos\kb-semantic-search-benchmark\thesis\scripts\_logo_h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2 · ОГЛЯД ЛІТЕРАТУРИ (АНАЛОГІВ)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Огляд літератури: еволюція embedding-моделей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2697480"/>
            <a:ext cx="7589520" cy="228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74036"/>
            <a:ext cx="274320" cy="274320"/>
          </a:xfrm>
          <a:prstGeom prst="ellipse">
            <a:avLst/>
          </a:prstGeom>
          <a:solidFill>
            <a:srgbClr val="64748B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32004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Mikolov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-91440" y="341071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Статистичні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векторні подання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37944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57984" y="2574036"/>
            <a:ext cx="274320" cy="274320"/>
          </a:xfrm>
          <a:prstGeom prst="ellipse">
            <a:avLst/>
          </a:prstGeom>
          <a:solidFill>
            <a:srgbClr val="0891B2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17904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17904" y="32004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26464" y="341071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Трансформери,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контекстність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55848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75888" y="2574036"/>
            <a:ext cx="274320" cy="274320"/>
          </a:xfrm>
          <a:prstGeom prst="ellipse">
            <a:avLst/>
          </a:prstGeom>
          <a:solidFill>
            <a:srgbClr val="0891B2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35808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35808" y="32004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44368" y="341071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Семантичні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векторизатори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73752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93792" y="2574036"/>
            <a:ext cx="274320" cy="274320"/>
          </a:xfrm>
          <a:prstGeom prst="ellipse">
            <a:avLst/>
          </a:prstGeom>
          <a:solidFill>
            <a:srgbClr val="1E40A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53712" y="32004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62272" y="341071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91656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11696" y="2574036"/>
            <a:ext cx="274320" cy="274320"/>
          </a:xfrm>
          <a:prstGeom prst="ellipse">
            <a:avLst/>
          </a:prstGeom>
          <a:solidFill>
            <a:srgbClr val="1E40A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1616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/ nomic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71616" y="32004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/ Nussbaum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80176" y="341071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Multi-functionality,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90956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29600" y="2574036"/>
            <a:ext cx="274320" cy="274320"/>
          </a:xfrm>
          <a:prstGeom prst="ellipse">
            <a:avLst/>
          </a:prstGeom>
          <a:solidFill>
            <a:srgbClr val="F59E0B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89520" y="32004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98080" y="341071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Decoder-based,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instruction-aware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960120"/>
            <a:ext cx="8321040" cy="868680"/>
          </a:xfrm>
          <a:prstGeom prst="roundRect">
            <a:avLst>
              <a:gd name="adj" fmla="val 6316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502920" cy="50292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280160" y="1005840"/>
            <a:ext cx="7269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Дослідницька прогалина: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відсутність порівняльних досліджень embedding-моделей на україномовних доменно-специфічних колекціях.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Опрацьовано 29 наукових джерел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(Lewis 2020 — RAG, Robertson 2009 — BM25, Thakur 2021 — BEIR, Muennighoff 2023 — MTEB).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411480" y="4297680"/>
            <a:ext cx="832104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1480" y="42976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Хронологічний охоплюваний період:  </a:t>
            </a:r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– 2025  </a:t>
            </a:r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статистичні → контекстні → багатофункціональні   ·  </a:t>
            </a:r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років еволюції</a:t>
            </a:r>
            <a:endParaRPr lang="en-US" sz="1050" dirty="0"/>
          </a:p>
        </p:txBody>
      </p:sp>
      <p:pic>
        <p:nvPicPr>
          <p:cNvPr id="41" name="Image 1" descr="D:\repos\kb-semantic-search-benchmark\thesis\scripts\_logo_h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3 · ПОСТАНОВКА ЗАДАЧІ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задачі дослідження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3337560" cy="3703320"/>
          </a:xfrm>
          <a:prstGeom prst="roundRect">
            <a:avLst>
              <a:gd name="adj" fmla="val 2740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Недостатньо просто застосувати сучасну embedding-модель — необхідно обґрунтовано визначити модель, що забезпечує оптимальний баланс між: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487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77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 семантичного пошуку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944368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34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швидкодія на CPU/GPU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40156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91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вимоги до пам'яті та ресурсів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858768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49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мовна підтримка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315968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06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колекції документів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77640" y="960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ОЧІКУВАНІ РЕЗУЛЬТАТИ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77640" y="132588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77640" y="1325880"/>
            <a:ext cx="6400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160520" y="13258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09160" y="13258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Реалізована система семантичного пошуку (PDF / DOCX / TXT / MD)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77640" y="201168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77640" y="2011680"/>
            <a:ext cx="64008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4160520" y="20116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709160" y="20116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Власноруч сформований UA benchmark dataset (3 домени)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77640" y="269748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977640" y="2697480"/>
            <a:ext cx="64008" cy="5943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9" name="Text 27"/>
          <p:cNvSpPr/>
          <p:nvPr/>
        </p:nvSpPr>
        <p:spPr>
          <a:xfrm>
            <a:off x="4160520" y="26974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709160" y="26974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Кількісне порівняння 4 embedding-моделей + BM25 baseline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977640" y="338328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977640" y="3383280"/>
            <a:ext cx="64008" cy="594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4160520" y="33832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709160" y="33832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Багатокритеріальний вибір моделі (Парето + лінійна згортка)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977640" y="406908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977640" y="4069080"/>
            <a:ext cx="64008" cy="5943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7" name="Text 35"/>
          <p:cNvSpPr/>
          <p:nvPr/>
        </p:nvSpPr>
        <p:spPr>
          <a:xfrm>
            <a:off x="4160520" y="40690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709160" y="40690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Обґрунтовані практичні рекомендації для впровадження</a:t>
            </a:r>
            <a:endParaRPr lang="en-US" sz="1200" dirty="0"/>
          </a:p>
        </p:txBody>
      </p:sp>
      <p:pic>
        <p:nvPicPr>
          <p:cNvPr id="39" name="Image 0" descr="D:\repos\kb-semantic-search-benchmark\thesis\scripts\_logo_h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4 · МЕТОДОЛОГІЯ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Сучасні моделі векторних ембеддінгів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91440" cy="1783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05156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" y="132588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5544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00200" y="15544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" y="1755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токенів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17556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8 192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" y="1956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00200" y="19568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" y="2359152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sparse + multi-vector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960120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960120"/>
            <a:ext cx="91440" cy="1783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3447288" y="105156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E5-base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47288" y="132588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intfloat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47288" y="15544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34840" y="15544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47288" y="1755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токенів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34840" y="17556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47288" y="1956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34840" y="19568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(ML-E5)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47288" y="2359152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префікси query: / passage: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2880360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2880360"/>
            <a:ext cx="91440" cy="1783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" y="297180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 v1.5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2648" y="324612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 AI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" y="3474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00200" y="3474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" y="3675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токенів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600200" y="36758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8 192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2648" y="38770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600200" y="38770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" y="4279392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Matryoshka representations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46120" y="2880360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46120" y="2880360"/>
            <a:ext cx="91440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3447288" y="297180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Qwen3-Embed-0.6B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447288" y="324612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447288" y="3474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434840" y="3474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596M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447288" y="3675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токенів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434840" y="36758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32 768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447288" y="38770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434840" y="38770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(LLM)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447288" y="4279392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instruction-aware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080760" y="960120"/>
            <a:ext cx="2651760" cy="3703320"/>
          </a:xfrm>
          <a:prstGeom prst="roundRect">
            <a:avLst>
              <a:gd name="adj" fmla="val 206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263640" y="1033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 МОДЕЛІ</a:t>
            </a:r>
            <a:endParaRPr lang="en-US" sz="900" dirty="0"/>
          </a:p>
        </p:txBody>
      </p:sp>
      <p:graphicFrame>
        <p:nvGraphicFramePr>
          <p:cNvPr id="51" name="Chart 0" descr=""/>
          <p:cNvGraphicFramePr/>
          <p:nvPr/>
        </p:nvGraphicFramePr>
        <p:xfrm>
          <a:off x="6172200" y="1289304"/>
          <a:ext cx="246888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2" name="Text 49"/>
          <p:cNvSpPr/>
          <p:nvPr/>
        </p:nvSpPr>
        <p:spPr>
          <a:xfrm>
            <a:off x="626364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ТОКЕНІВ (ЛОГАРИФМІЧНА ШКАЛА)</a:t>
            </a:r>
            <a:endParaRPr lang="en-US" sz="900" dirty="0"/>
          </a:p>
        </p:txBody>
      </p:sp>
      <p:graphicFrame>
        <p:nvGraphicFramePr>
          <p:cNvPr id="53" name="Chart 1" descr=""/>
          <p:cNvGraphicFramePr/>
          <p:nvPr/>
        </p:nvGraphicFramePr>
        <p:xfrm>
          <a:off x="6172200" y="2990088"/>
          <a:ext cx="246888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54" name="Image 0" descr="D:\repos\kb-semantic-search-benchmark\thesis\scripts\_logo_he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4 · МЕТОДОЛОГІЯ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Методологія дослідження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ОЦІНЮВАННЯ RETRIEVAL-ЯКОСТІ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56911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156911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63040"/>
            <a:ext cx="15691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</a:t>
            </a:r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@10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1386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 ранжування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(основна)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99462" y="1325880"/>
            <a:ext cx="156911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99462" y="1325880"/>
            <a:ext cx="1569110" cy="914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2099462" y="1463040"/>
            <a:ext cx="15691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@10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190902" y="2103120"/>
            <a:ext cx="1386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позиція першого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релевантного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87445" y="1325880"/>
            <a:ext cx="156911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87445" y="1325880"/>
            <a:ext cx="156911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3787445" y="1463040"/>
            <a:ext cx="15691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@10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878885" y="2103120"/>
            <a:ext cx="1386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повнота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пошуку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75427" y="1325880"/>
            <a:ext cx="156911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75427" y="1325880"/>
            <a:ext cx="156911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5475427" y="1463040"/>
            <a:ext cx="15691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@10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566867" y="2103120"/>
            <a:ext cx="1386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точність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видачі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63410" y="1325880"/>
            <a:ext cx="156911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63410" y="1325880"/>
            <a:ext cx="1569110" cy="914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4" name="Text 22"/>
          <p:cNvSpPr/>
          <p:nvPr/>
        </p:nvSpPr>
        <p:spPr>
          <a:xfrm>
            <a:off x="7163410" y="1463040"/>
            <a:ext cx="15691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pPr algn="ctr"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54850" y="2103120"/>
            <a:ext cx="1386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 відповіді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(швидкодія)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 АНАЛІЗУ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20040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33832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474720"/>
            <a:ext cx="320040" cy="3200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88720" y="3364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CI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9436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довірчий інтервал для nDCG@10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94360" y="4233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2 000 повторень з повторами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246120" y="320040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429000" y="33832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3474720"/>
            <a:ext cx="320040" cy="32004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4023360" y="3364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Парето-домінування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342900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Виявлення Парето-оптимальних альтернатив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3429000" y="4233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багатокритеріальному просторі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080760" y="320040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6263640" y="33832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474720"/>
            <a:ext cx="320040" cy="32004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858000" y="3364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Лінійна адитивна згортка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626364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Інтегральна оцінка U(aᵢ)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6263640" y="4233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ваговими коефіцієнтами критеріїв</a:t>
            </a:r>
            <a:endParaRPr lang="en-US" sz="1000" dirty="0"/>
          </a:p>
        </p:txBody>
      </p:sp>
      <p:pic>
        <p:nvPicPr>
          <p:cNvPr id="45" name="Image 3" descr="D:\repos\kb-semantic-search-benchmark\thesis\scripts\_logo_he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4 · МЕТОДОЛОГІЯ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оцінювання retrieval-якості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06908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24712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247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nDCG@k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11247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… 1, ↑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Нормалізована якість ранжування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874520"/>
            <a:ext cx="3703320" cy="38404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8745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DCG@k  /  IDCG@k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2860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DCG@k = Σᵢ (2^relᵢ − 1) / log₂(i+1) 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IDCG@k — DCG ідеального ранжування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06908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124712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1247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26680" y="11247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… 1, ↑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1554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Reciprocal Rank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874520"/>
            <a:ext cx="3703320" cy="38404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8745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 / |Q|) · Σ (1 / rankq)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2860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Середнє по запитах: 1 / (позиція першого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релевантного документа у видачі)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880360"/>
            <a:ext cx="406908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044952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0449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74720" y="30449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… 1, ↑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3474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Повнота пошуку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3794760"/>
            <a:ext cx="3703320" cy="38404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7947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|Rel ∩ Retrieved|  /  |Rel|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" y="42062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Частка знайдених релевантних документів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 усіх релевантних у колекції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880360"/>
            <a:ext cx="406908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044952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0449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P@k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726680" y="30449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… 1, ↑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3474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3794760"/>
            <a:ext cx="3703320" cy="38404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37947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|Relk|  /  k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46320" y="42062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Частка релевантних документів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 перших k результатів видачі</a:t>
            </a:r>
            <a:endParaRPr lang="en-US" sz="950" dirty="0"/>
          </a:p>
        </p:txBody>
      </p:sp>
      <p:pic>
        <p:nvPicPr>
          <p:cNvPr id="37" name="Image 0" descr="D:\repos\kb-semantic-search-benchmark\thesis\scripts\_logo_h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4 · МЕТОДОЛОГІЯ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Багатокритеріальний вибір моделі (МКВ)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389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34440"/>
            <a:ext cx="548640" cy="5486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069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Парето-домінування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80160" y="1371600"/>
            <a:ext cx="338328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{ aᵢ ∈ A | ∄ ak ∈ A : ak ≻ aᵢ 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Виявлення альтернатив, які не домінуються жодною іншою за усіма критеріями одночасно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167128"/>
            <a:ext cx="4389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441448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2276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Нормалізація шкал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0160" y="2578608"/>
            <a:ext cx="338328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25786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yᵢⱼ = (xᵢⱼ − min xⱼ) / (max xⱼ − min xⱼ)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28986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Приведення критеріїв до єдиної шкали [0; 1] з врахуванням напряму оптимізації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374136"/>
            <a:ext cx="4389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648456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34838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Лінійна адитивна згортка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280160" y="3785616"/>
            <a:ext cx="338328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4" name="Text 22"/>
          <p:cNvSpPr/>
          <p:nvPr/>
        </p:nvSpPr>
        <p:spPr>
          <a:xfrm>
            <a:off x="1280160" y="37856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U(aᵢ) = Σⱼ wⱼ · yᵢⱼ ,   де   Σⱼ wⱼ = 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80160" y="41056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Інтегральна оцінка корисності з ваговими коефіцієнтами критеріїв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960120"/>
            <a:ext cx="3749040" cy="3703320"/>
          </a:xfrm>
          <a:prstGeom prst="roundRect">
            <a:avLst>
              <a:gd name="adj" fmla="val 14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ПРОФІЛІ ВАГ КРИТЕРІЇВ ЗА ДОМЕНАМИ  (k = 10)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371600"/>
          <a:ext cx="34747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502920"/>
                <a:gridCol w="502920"/>
                <a:gridCol w="594360"/>
                <a:gridCol w="457200"/>
                <a:gridCol w="5943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Домен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Технічний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Юридичний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Медичний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120640" y="2880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 ВАГ ЗА ДОМЕНАМИ</a:t>
            </a:r>
            <a:endParaRPr lang="en-US" sz="9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5074920" y="3154680"/>
          <a:ext cx="356616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31" name="Image 0" descr="D:\repos\kb-semantic-search-benchmark\thesis\scripts\_logo_h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5 · АРХІТЕКТУРА СИСТЕМИ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системи семантичного пошуку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335024" cy="192024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97280"/>
            <a:ext cx="1335024" cy="914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371600"/>
            <a:ext cx="548640" cy="54864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E40A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8132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19659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2860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DOCX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· MD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24" y="1947672"/>
            <a:ext cx="329184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157984" y="1097280"/>
            <a:ext cx="1335024" cy="192024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157984" y="1097280"/>
            <a:ext cx="1335024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0"/>
          <p:cNvSpPr/>
          <p:nvPr/>
        </p:nvSpPr>
        <p:spPr>
          <a:xfrm>
            <a:off x="2551176" y="1371600"/>
            <a:ext cx="548640" cy="54864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904" y="148132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57984" y="19659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Чанкінг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2249424" y="22860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слів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перекриття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947672"/>
            <a:ext cx="329184" cy="21945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904488" y="1097280"/>
            <a:ext cx="1335024" cy="192024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3904488" y="1097280"/>
            <a:ext cx="1335024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5"/>
          <p:cNvSpPr/>
          <p:nvPr/>
        </p:nvSpPr>
        <p:spPr>
          <a:xfrm>
            <a:off x="4297680" y="1371600"/>
            <a:ext cx="548640" cy="54864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1481328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04488" y="19659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Ембеддінг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995928" y="22860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· E5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 · Qwen3</a:t>
            </a:r>
            <a:endParaRPr lang="en-US" sz="9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5232" y="1947672"/>
            <a:ext cx="329184" cy="219456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5650992" y="1097280"/>
            <a:ext cx="1335024" cy="192024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50992" y="1097280"/>
            <a:ext cx="1335024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Shape 20"/>
          <p:cNvSpPr/>
          <p:nvPr/>
        </p:nvSpPr>
        <p:spPr>
          <a:xfrm>
            <a:off x="6044184" y="1371600"/>
            <a:ext cx="548640" cy="54864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912" y="148132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650992" y="19659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FAISS-індекс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5742432" y="22860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IndexFlatIP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L2-нормалізація</a:t>
            </a:r>
            <a:endParaRPr lang="en-US" sz="9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1736" y="1947672"/>
            <a:ext cx="329184" cy="219456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7397496" y="1097280"/>
            <a:ext cx="1335024" cy="192024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7397496" y="1097280"/>
            <a:ext cx="1335024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Shape 25"/>
          <p:cNvSpPr/>
          <p:nvPr/>
        </p:nvSpPr>
        <p:spPr>
          <a:xfrm>
            <a:off x="7790688" y="1371600"/>
            <a:ext cx="548640" cy="54864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0416" y="1481328"/>
            <a:ext cx="329184" cy="32918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397496" y="19659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300" dirty="0"/>
          </a:p>
        </p:txBody>
      </p:sp>
      <p:sp>
        <p:nvSpPr>
          <p:cNvPr id="38" name="Text 27"/>
          <p:cNvSpPr/>
          <p:nvPr/>
        </p:nvSpPr>
        <p:spPr>
          <a:xfrm>
            <a:off x="7488936" y="22860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950" dirty="0"/>
          </a:p>
        </p:txBody>
      </p:sp>
      <p:sp>
        <p:nvSpPr>
          <p:cNvPr id="39" name="Shape 28"/>
          <p:cNvSpPr/>
          <p:nvPr/>
        </p:nvSpPr>
        <p:spPr>
          <a:xfrm>
            <a:off x="411480" y="329184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9525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208" y="3401568"/>
            <a:ext cx="274320" cy="27432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868680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 користувача</a:t>
            </a:r>
            <a:endParaRPr lang="en-US" sz="1100" dirty="0"/>
          </a:p>
        </p:txBody>
      </p:sp>
      <p:sp>
        <p:nvSpPr>
          <p:cNvPr id="42" name="Shape 30"/>
          <p:cNvSpPr/>
          <p:nvPr/>
        </p:nvSpPr>
        <p:spPr>
          <a:xfrm>
            <a:off x="6720840" y="329184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9525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0568" y="3401568"/>
            <a:ext cx="274320" cy="27432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7178040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UI</a:t>
            </a:r>
            <a:endParaRPr lang="en-US" sz="1100" dirty="0"/>
          </a:p>
        </p:txBody>
      </p:sp>
      <p:sp>
        <p:nvSpPr>
          <p:cNvPr id="45" name="Shape 32"/>
          <p:cNvSpPr/>
          <p:nvPr/>
        </p:nvSpPr>
        <p:spPr>
          <a:xfrm>
            <a:off x="411480" y="3977640"/>
            <a:ext cx="83210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33"/>
          <p:cNvSpPr/>
          <p:nvPr/>
        </p:nvSpPr>
        <p:spPr>
          <a:xfrm>
            <a:off x="411480" y="39776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Основні компоненти:  </a:t>
            </a:r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build_index.py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evaluate_benchmark.py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embedding_models.py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run_all_benchmarks.py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000" dirty="0"/>
          </a:p>
        </p:txBody>
      </p:sp>
      <p:pic>
        <p:nvPicPr>
          <p:cNvPr id="47" name="Image 11" descr="D:\repos\kb-semantic-search-benchmark\thesis\scripts\_logo_hex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6 · ПРОГРАМНЕ ЗАБЕЗПЕЧЕННЯ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Програмне забезпечення та технології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651760" cy="37033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2651760" cy="502920"/>
          </a:xfrm>
          <a:prstGeom prst="rect">
            <a:avLst/>
          </a:prstGeom>
          <a:solidFill>
            <a:srgbClr val="1E40A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0789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960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EMBEDDING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853184"/>
            <a:ext cx="73152" cy="7315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4592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" y="2340864"/>
            <a:ext cx="73152" cy="7315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13360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4360" y="2828544"/>
            <a:ext cx="73152" cy="7315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262128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(HF)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4360" y="3316224"/>
            <a:ext cx="73152" cy="7315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10896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(CPU)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94360" y="3803904"/>
            <a:ext cx="73152" cy="7315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35966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trust_remote_code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4360" y="4291584"/>
            <a:ext cx="73152" cy="7315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08432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Cambria Math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46120" y="960120"/>
            <a:ext cx="2651760" cy="37033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960120"/>
            <a:ext cx="2651760" cy="502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07899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749040" y="960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/ DATA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429000" y="1853184"/>
            <a:ext cx="73152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2"/>
          <p:cNvSpPr/>
          <p:nvPr/>
        </p:nvSpPr>
        <p:spPr>
          <a:xfrm>
            <a:off x="3611880" y="164592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(IndexFlatIP)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3429000" y="2340864"/>
            <a:ext cx="73152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4"/>
          <p:cNvSpPr/>
          <p:nvPr/>
        </p:nvSpPr>
        <p:spPr>
          <a:xfrm>
            <a:off x="3611880" y="213360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rank_bm25 (Okapi)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3429000" y="2828544"/>
            <a:ext cx="73152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6"/>
          <p:cNvSpPr/>
          <p:nvPr/>
        </p:nvSpPr>
        <p:spPr>
          <a:xfrm>
            <a:off x="3611880" y="262128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L2-нормалізація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3429000" y="3316224"/>
            <a:ext cx="73152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28"/>
          <p:cNvSpPr/>
          <p:nvPr/>
        </p:nvSpPr>
        <p:spPr>
          <a:xfrm>
            <a:off x="3611880" y="310896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Чанкінг (~600 слів)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3429000" y="3803904"/>
            <a:ext cx="73152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0"/>
          <p:cNvSpPr/>
          <p:nvPr/>
        </p:nvSpPr>
        <p:spPr>
          <a:xfrm>
            <a:off x="3611880" y="35966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TXT / MD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3429000" y="4291584"/>
            <a:ext cx="73152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2"/>
          <p:cNvSpPr/>
          <p:nvPr/>
        </p:nvSpPr>
        <p:spPr>
          <a:xfrm>
            <a:off x="3611880" y="408432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(chunks, qrels)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6080760" y="960120"/>
            <a:ext cx="2651760" cy="37033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6080760" y="960120"/>
            <a:ext cx="2651760" cy="5029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078992"/>
            <a:ext cx="274320" cy="27432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583680" y="960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EVAL / ANALYSIS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6263640" y="1853184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37"/>
          <p:cNvSpPr/>
          <p:nvPr/>
        </p:nvSpPr>
        <p:spPr>
          <a:xfrm>
            <a:off x="6446520" y="164592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</a:t>
            </a:r>
            <a:endParaRPr lang="en-US" sz="1150" dirty="0"/>
          </a:p>
        </p:txBody>
      </p:sp>
      <p:sp>
        <p:nvSpPr>
          <p:cNvPr id="43" name="Shape 38"/>
          <p:cNvSpPr/>
          <p:nvPr/>
        </p:nvSpPr>
        <p:spPr>
          <a:xfrm>
            <a:off x="6263640" y="2340864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39"/>
          <p:cNvSpPr/>
          <p:nvPr/>
        </p:nvSpPr>
        <p:spPr>
          <a:xfrm>
            <a:off x="6446520" y="213360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scikit-learn</a:t>
            </a:r>
            <a:endParaRPr lang="en-US" sz="1150" dirty="0"/>
          </a:p>
        </p:txBody>
      </p:sp>
      <p:sp>
        <p:nvSpPr>
          <p:cNvPr id="45" name="Shape 40"/>
          <p:cNvSpPr/>
          <p:nvPr/>
        </p:nvSpPr>
        <p:spPr>
          <a:xfrm>
            <a:off x="6263640" y="2828544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1"/>
          <p:cNvSpPr/>
          <p:nvPr/>
        </p:nvSpPr>
        <p:spPr>
          <a:xfrm>
            <a:off x="6446520" y="262128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CI (n=2000)</a:t>
            </a:r>
            <a:endParaRPr lang="en-US" sz="1150" dirty="0"/>
          </a:p>
        </p:txBody>
      </p:sp>
      <p:sp>
        <p:nvSpPr>
          <p:cNvPr id="47" name="Shape 42"/>
          <p:cNvSpPr/>
          <p:nvPr/>
        </p:nvSpPr>
        <p:spPr>
          <a:xfrm>
            <a:off x="6263640" y="3316224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3"/>
          <p:cNvSpPr/>
          <p:nvPr/>
        </p:nvSpPr>
        <p:spPr>
          <a:xfrm>
            <a:off x="6446520" y="310896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+ лінійна згортка</a:t>
            </a:r>
            <a:endParaRPr lang="en-US" sz="1150" dirty="0"/>
          </a:p>
        </p:txBody>
      </p:sp>
      <p:sp>
        <p:nvSpPr>
          <p:cNvPr id="49" name="Shape 44"/>
          <p:cNvSpPr/>
          <p:nvPr/>
        </p:nvSpPr>
        <p:spPr>
          <a:xfrm>
            <a:off x="6263640" y="3803904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5"/>
          <p:cNvSpPr/>
          <p:nvPr/>
        </p:nvSpPr>
        <p:spPr>
          <a:xfrm>
            <a:off x="6446520" y="35966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Власний benchmark harness</a:t>
            </a:r>
            <a:endParaRPr lang="en-US" sz="1150" dirty="0"/>
          </a:p>
        </p:txBody>
      </p:sp>
      <p:sp>
        <p:nvSpPr>
          <p:cNvPr id="51" name="Shape 46"/>
          <p:cNvSpPr/>
          <p:nvPr/>
        </p:nvSpPr>
        <p:spPr>
          <a:xfrm>
            <a:off x="6263640" y="4291584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Text 47"/>
          <p:cNvSpPr/>
          <p:nvPr/>
        </p:nvSpPr>
        <p:spPr>
          <a:xfrm>
            <a:off x="6446520" y="408432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150" dirty="0"/>
          </a:p>
        </p:txBody>
      </p:sp>
      <p:pic>
        <p:nvPicPr>
          <p:cNvPr id="53" name="Image 3" descr="D:\repos\kb-semantic-search-benchmark\thesis\scripts\_logo_he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7 · ЗМІСТ ЕКСПЕРИМЕНТУ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dataset: україномовні доменні колекції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Власноруч сформований </a:t>
            </a:r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україномовний benchmark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3 домени  ·  32 документи  ·  1 491 чанк  ·  300 запитів  ·  qrels вручну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114800" cy="103632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91440" cy="10363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E40A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Технічний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програмна інженерія, ML, RAG, аномалії, 3D-друк, лідарні системи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325880" y="1905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25880" y="21610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331720" y="1905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331720" y="21610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чанки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37560" y="1905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337560" y="21610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запити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11480" y="2499360"/>
            <a:ext cx="4114800" cy="103632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11480" y="2499360"/>
            <a:ext cx="91440" cy="1036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7"/>
          <p:cNvSpPr/>
          <p:nvPr/>
        </p:nvSpPr>
        <p:spPr>
          <a:xfrm>
            <a:off x="685800" y="2682240"/>
            <a:ext cx="502920" cy="50292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7368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325880" y="2590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Юридичний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325880" y="2819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кодекси, нормативно-правові акти, законодавство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1325880" y="3032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1325880" y="32887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331720" y="3032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1046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2331720" y="32887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чанки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337560" y="3032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3337560" y="32887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запити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411480" y="3627120"/>
            <a:ext cx="4114800" cy="103632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11480" y="3627120"/>
            <a:ext cx="91440" cy="10363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2" name="Shape 28"/>
          <p:cNvSpPr/>
          <p:nvPr/>
        </p:nvSpPr>
        <p:spPr>
          <a:xfrm>
            <a:off x="685800" y="3810000"/>
            <a:ext cx="502920" cy="50292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01440"/>
            <a:ext cx="320040" cy="32004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325880" y="3718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Медичний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1325880" y="3947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клінічні протоколи, медичні рекомендації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1325880" y="4160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7" name="Text 32"/>
          <p:cNvSpPr/>
          <p:nvPr/>
        </p:nvSpPr>
        <p:spPr>
          <a:xfrm>
            <a:off x="1325880" y="44165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2331720" y="4160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</a:t>
            </a:r>
            <a:endParaRPr lang="en-US" sz="1800" dirty="0"/>
          </a:p>
        </p:txBody>
      </p:sp>
      <p:sp>
        <p:nvSpPr>
          <p:cNvPr id="39" name="Text 34"/>
          <p:cNvSpPr/>
          <p:nvPr/>
        </p:nvSpPr>
        <p:spPr>
          <a:xfrm>
            <a:off x="2331720" y="44165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чанки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3337560" y="4160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800" dirty="0"/>
          </a:p>
        </p:txBody>
      </p:sp>
      <p:sp>
        <p:nvSpPr>
          <p:cNvPr id="41" name="Text 36"/>
          <p:cNvSpPr/>
          <p:nvPr/>
        </p:nvSpPr>
        <p:spPr>
          <a:xfrm>
            <a:off x="3337560" y="44165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запити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4709160" y="1371600"/>
            <a:ext cx="4023360" cy="3291840"/>
          </a:xfrm>
          <a:prstGeom prst="roundRect">
            <a:avLst>
              <a:gd name="adj" fmla="val 1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43" name="Text 38"/>
          <p:cNvSpPr/>
          <p:nvPr/>
        </p:nvSpPr>
        <p:spPr>
          <a:xfrm>
            <a:off x="489204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 ЧАНКІВ ЗА ДОМЕНАМИ</a:t>
            </a:r>
            <a:endParaRPr lang="en-US" sz="900" dirty="0"/>
          </a:p>
        </p:txBody>
      </p:sp>
      <p:graphicFrame>
        <p:nvGraphicFramePr>
          <p:cNvPr id="44" name="Chart 0" descr=""/>
          <p:cNvGraphicFramePr/>
          <p:nvPr/>
        </p:nvGraphicFramePr>
        <p:xfrm>
          <a:off x="4800600" y="1737360"/>
          <a:ext cx="3840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5" name="Text 39"/>
          <p:cNvSpPr/>
          <p:nvPr/>
        </p:nvSpPr>
        <p:spPr>
          <a:xfrm>
            <a:off x="4800600" y="2507285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1 491</a:t>
            </a:r>
            <a:endParaRPr lang="en-US" sz="2000" dirty="0"/>
          </a:p>
        </p:txBody>
      </p:sp>
      <p:sp>
        <p:nvSpPr>
          <p:cNvPr id="46" name="Text 40"/>
          <p:cNvSpPr/>
          <p:nvPr/>
        </p:nvSpPr>
        <p:spPr>
          <a:xfrm>
            <a:off x="4800600" y="287304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чанків усього</a:t>
            </a:r>
            <a:endParaRPr lang="en-US" sz="900" dirty="0"/>
          </a:p>
        </p:txBody>
      </p:sp>
      <p:pic>
        <p:nvPicPr>
          <p:cNvPr id="47" name="Image 3" descr="D:\repos\kb-semantic-search-benchmark\thesis\scripts\_logo_he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7 · ЗМІСТ ЕКСПЕРИМЕНТУ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Приклади benchmark-запитів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651760" cy="33375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2651760" cy="502920"/>
          </a:xfrm>
          <a:prstGeom prst="rect">
            <a:avLst/>
          </a:prstGeom>
          <a:solidFill>
            <a:srgbClr val="1E40A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0789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960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Технічний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" y="164592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виявлення аномалій у фінансових транзакціях »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6072" y="2103120"/>
            <a:ext cx="232257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8"/>
          <p:cNvSpPr/>
          <p:nvPr/>
        </p:nvSpPr>
        <p:spPr>
          <a:xfrm>
            <a:off x="576072" y="216712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комбінація Autoencoder та Isolation Forest для fraud detection »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6072" y="2624328"/>
            <a:ext cx="232257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0"/>
          <p:cNvSpPr/>
          <p:nvPr/>
        </p:nvSpPr>
        <p:spPr>
          <a:xfrm>
            <a:off x="576072" y="268833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q6 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прогноз відтоку клієнтів (churn prediction) »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76072" y="3145536"/>
            <a:ext cx="232257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576072" y="320954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q7 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когортний аналіз для сегментації клієнтів »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76072" y="3666744"/>
            <a:ext cx="232257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4"/>
          <p:cNvSpPr/>
          <p:nvPr/>
        </p:nvSpPr>
        <p:spPr>
          <a:xfrm>
            <a:off x="576072" y="373075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q8 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етичні питання використання персональних даних »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46120" y="960120"/>
            <a:ext cx="2651760" cy="33375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46120" y="960120"/>
            <a:ext cx="2651760" cy="50292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078992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776472" y="960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Юридичний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410712" y="164592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L001 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що таке цивільна дієздатність фізичної особи »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410712" y="2103120"/>
            <a:ext cx="232257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0"/>
          <p:cNvSpPr/>
          <p:nvPr/>
        </p:nvSpPr>
        <p:spPr>
          <a:xfrm>
            <a:off x="3410712" y="216712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L002 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з якого віку настає повна цивільна дієздатність »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410712" y="2624328"/>
            <a:ext cx="232257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2"/>
          <p:cNvSpPr/>
          <p:nvPr/>
        </p:nvSpPr>
        <p:spPr>
          <a:xfrm>
            <a:off x="3410712" y="268833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L003 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підстави обмеження цивільної дієздатності судом »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410712" y="3145536"/>
            <a:ext cx="232257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4"/>
          <p:cNvSpPr/>
          <p:nvPr/>
        </p:nvSpPr>
        <p:spPr>
          <a:xfrm>
            <a:off x="3410712" y="320954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L004 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поняття юридичної особи та порядок її реєстрації »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410712" y="3666744"/>
            <a:ext cx="232257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6"/>
          <p:cNvSpPr/>
          <p:nvPr/>
        </p:nvSpPr>
        <p:spPr>
          <a:xfrm>
            <a:off x="3410712" y="373075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L005 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що входить до складу спадщини »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080760" y="960120"/>
            <a:ext cx="2651760" cy="33375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080760" y="960120"/>
            <a:ext cx="2651760" cy="502920"/>
          </a:xfrm>
          <a:prstGeom prst="rect">
            <a:avLst/>
          </a:prstGeom>
          <a:solidFill>
            <a:srgbClr val="E11D48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078992"/>
            <a:ext cx="274320" cy="27432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611112" y="960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Медичний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6245352" y="164592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M001 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що таке серцево-судинна система »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6245352" y="2103120"/>
            <a:ext cx="232257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2"/>
          <p:cNvSpPr/>
          <p:nvPr/>
        </p:nvSpPr>
        <p:spPr>
          <a:xfrm>
            <a:off x="6245352" y="216712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M002 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будова та функції серця людини »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6245352" y="2624328"/>
            <a:ext cx="232257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4"/>
          <p:cNvSpPr/>
          <p:nvPr/>
        </p:nvSpPr>
        <p:spPr>
          <a:xfrm>
            <a:off x="6245352" y="268833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M003 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що таке артеріальний тиск і як він регулюється »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6245352" y="3145536"/>
            <a:ext cx="232257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6"/>
          <p:cNvSpPr/>
          <p:nvPr/>
        </p:nvSpPr>
        <p:spPr>
          <a:xfrm>
            <a:off x="6245352" y="320954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M004 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велике і мале коло кровообігу — відмінності »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6245352" y="3666744"/>
            <a:ext cx="232257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38"/>
          <p:cNvSpPr/>
          <p:nvPr/>
        </p:nvSpPr>
        <p:spPr>
          <a:xfrm>
            <a:off x="6245352" y="373075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M005 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будова дихальної системи людини »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411480" y="4389120"/>
            <a:ext cx="832104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411480" y="43891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 запитів:  </a:t>
            </a:r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· factual · procedural · technical · topic · method · policy · comparison</a:t>
            </a:r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qrels — релевантні чанки сформовано вручну для кожного запиту</a:t>
            </a:r>
            <a:endParaRPr lang="en-US" sz="1000" dirty="0"/>
          </a:p>
        </p:txBody>
      </p:sp>
      <p:pic>
        <p:nvPicPr>
          <p:cNvPr id="46" name="Image 3" descr="D:\repos\kb-semantic-search-benchmark\thesis\scripts\_logo_he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8 · РЕЗУЛЬТАТИ ЕКСПЕРИМЕНТУ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 експерименту: nDCG@10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5760720" cy="3611880"/>
          </a:xfrm>
          <a:prstGeom prst="roundRect">
            <a:avLst>
              <a:gd name="adj" fmla="val 151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78992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 ПО ДОМЕНАХ (вище — краще)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371600"/>
          <a:ext cx="55778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355080" y="1005840"/>
            <a:ext cx="23774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1097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СЕРЕДНІЙ nDCG@10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92240" y="1408176"/>
            <a:ext cx="210312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13716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03720" y="146304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7068312" y="13716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138160" y="13716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0.4708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92240" y="1719072"/>
            <a:ext cx="21031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168249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0" y="1773936"/>
            <a:ext cx="128016" cy="128016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8" name="Text 15"/>
          <p:cNvSpPr/>
          <p:nvPr/>
        </p:nvSpPr>
        <p:spPr>
          <a:xfrm>
            <a:off x="7068312" y="168249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138160" y="16824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0.4385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492240" y="2029968"/>
            <a:ext cx="21031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199339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903720" y="2084832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0"/>
          <p:cNvSpPr/>
          <p:nvPr/>
        </p:nvSpPr>
        <p:spPr>
          <a:xfrm>
            <a:off x="7068312" y="19933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E5-base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8160" y="19933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0.4199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492240" y="2340864"/>
            <a:ext cx="21031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6492240" y="230428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903720" y="2395728"/>
            <a:ext cx="128016" cy="12801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8" name="Text 25"/>
          <p:cNvSpPr/>
          <p:nvPr/>
        </p:nvSpPr>
        <p:spPr>
          <a:xfrm>
            <a:off x="7068312" y="230428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138160" y="23042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0.3319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492240" y="2651760"/>
            <a:ext cx="21031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6492240" y="261518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903720" y="2706624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0"/>
          <p:cNvSpPr/>
          <p:nvPr/>
        </p:nvSpPr>
        <p:spPr>
          <a:xfrm>
            <a:off x="7068312" y="26151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138160" y="261518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0.2128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355080" y="3017520"/>
            <a:ext cx="2377440" cy="1691640"/>
          </a:xfrm>
          <a:prstGeom prst="roundRect">
            <a:avLst>
              <a:gd name="adj" fmla="val 3243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492240" y="31089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CI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492240" y="33101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2 000  ·  Технічний домен: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492240" y="35204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BGE-M3: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[0.606 ; 0.737]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BM25: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[0.431 ; 0.541]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492240" y="4114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інтервали не перетинаються — статистично значуща перевага семантичного пошуку над лексичним</a:t>
            </a:r>
            <a:endParaRPr lang="en-US" sz="900" dirty="0"/>
          </a:p>
        </p:txBody>
      </p:sp>
      <p:pic>
        <p:nvPicPr>
          <p:cNvPr id="40" name="Image 0" descr="D:\repos\kb-semantic-search-benchmark\thesis\scripts\_logo_h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8 · РЕЗУЛЬТАТИ ЕКСПЕРИМЕНТУ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Деталізовані метрики за доменами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078224" cy="1815084"/>
          </a:xfrm>
          <a:prstGeom prst="roundRect">
            <a:avLst>
              <a:gd name="adj" fmla="val 302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33272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271016"/>
          <a:ext cx="3895344" cy="14036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654296" y="960120"/>
            <a:ext cx="4078224" cy="1815084"/>
          </a:xfrm>
          <a:prstGeom prst="roundRect">
            <a:avLst>
              <a:gd name="adj" fmla="val 302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37176" y="1033272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MRR@10</a:t>
            </a:r>
            <a:endParaRPr lang="en-US" sz="11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745736" y="1271016"/>
          <a:ext cx="3895344" cy="14036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411480" y="2939796"/>
            <a:ext cx="4078224" cy="1815084"/>
          </a:xfrm>
          <a:prstGeom prst="roundRect">
            <a:avLst>
              <a:gd name="adj" fmla="val 302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94360" y="3012948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</a:t>
            </a:r>
            <a:endParaRPr lang="en-US" sz="1100" dirty="0"/>
          </a:p>
        </p:txBody>
      </p:sp>
      <p:graphicFrame>
        <p:nvGraphicFramePr>
          <p:cNvPr id="13" name="Chart 2" descr=""/>
          <p:cNvGraphicFramePr/>
          <p:nvPr/>
        </p:nvGraphicFramePr>
        <p:xfrm>
          <a:off x="502920" y="3250692"/>
          <a:ext cx="3895344" cy="14036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Shape 9"/>
          <p:cNvSpPr/>
          <p:nvPr/>
        </p:nvSpPr>
        <p:spPr>
          <a:xfrm>
            <a:off x="4654296" y="2939796"/>
            <a:ext cx="4078224" cy="1815084"/>
          </a:xfrm>
          <a:prstGeom prst="roundRect">
            <a:avLst>
              <a:gd name="adj" fmla="val 302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837176" y="3012948"/>
            <a:ext cx="3712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P@10</a:t>
            </a:r>
            <a:endParaRPr lang="en-US" sz="1100" dirty="0"/>
          </a:p>
        </p:txBody>
      </p:sp>
      <p:graphicFrame>
        <p:nvGraphicFramePr>
          <p:cNvPr id="16" name="Chart 3" descr=""/>
          <p:cNvGraphicFramePr/>
          <p:nvPr/>
        </p:nvGraphicFramePr>
        <p:xfrm>
          <a:off x="4745736" y="3250692"/>
          <a:ext cx="3895344" cy="14036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pic>
        <p:nvPicPr>
          <p:cNvPr id="17" name="Image 0" descr="D:\repos\kb-semantic-search-benchmark\thesis\scripts\_logo_he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9 · АНАЛІЗ РЕЗУЛЬТАТІВ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Багатокритеріальний вибір моделі: результати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51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ПАРЕТО-ОПТИМАЛЬНА МНОЖИНА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2893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{ BGE-M3,  E5-base,  BM25 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6733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з 5 альтернатив не домінуються жодною іншою за усіма критеріями одночасно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103120"/>
            <a:ext cx="3931920" cy="560070"/>
          </a:xfrm>
          <a:prstGeom prst="roundRect">
            <a:avLst>
              <a:gd name="adj" fmla="val 97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103120"/>
            <a:ext cx="91440" cy="56007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356616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лідер у 3 доменах за nDCG, MRR, Recall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754630"/>
            <a:ext cx="3931920" cy="560070"/>
          </a:xfrm>
          <a:prstGeom prst="roundRect">
            <a:avLst>
              <a:gd name="adj" fmla="val 97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754630"/>
            <a:ext cx="91440" cy="56007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0035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E5-base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120390"/>
            <a:ext cx="356616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швидка альтернатива, ~70 мс vs ~228 мс у BGE-M3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406140"/>
            <a:ext cx="3931920" cy="560070"/>
          </a:xfrm>
          <a:prstGeom prst="roundRect">
            <a:avLst>
              <a:gd name="adj" fmla="val 97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406140"/>
            <a:ext cx="91440" cy="56007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518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771900"/>
            <a:ext cx="356616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лідер на юридичному (nDCG=0.320), ~2× повільніший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057650"/>
            <a:ext cx="3931920" cy="560070"/>
          </a:xfrm>
          <a:prstGeom prst="roundRect">
            <a:avLst>
              <a:gd name="adj" fmla="val 97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4057650"/>
            <a:ext cx="91440" cy="56007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0337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423410"/>
            <a:ext cx="356616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найслабші результати; в окремих доменах поступається BM25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960120"/>
            <a:ext cx="4206240" cy="3703320"/>
          </a:xfrm>
          <a:prstGeom prst="roundRect">
            <a:avLst>
              <a:gd name="adj" fmla="val 14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1051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ІНТЕГРАЛЬНА ОЦІНКА U(aᵢ) ПО ДОМЕНАХ</a:t>
            </a:r>
            <a:endParaRPr lang="en-US" sz="9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4617720" y="132588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28" name="Image 0" descr="D:\repos\kb-semantic-search-benchmark\thesis\scripts\_logo_h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9 · АНАЛІЗ РЕЗУЛЬТАТІВ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Аналіз: якість пошуку vs швидкодія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303520" cy="3703320"/>
          </a:xfrm>
          <a:prstGeom prst="roundRect">
            <a:avLst>
              <a:gd name="adj" fmla="val 14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515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ТЕХНІЧНИЙ ДОМЕН  ·  nDCG@10  vs  ms / запит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32588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99638" y="2103629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246762" y="1599223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E5-base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21881" y="286198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83089" y="14240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615138" y="15397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88720" y="1307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⟵ Парето-фронт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897880" y="960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ВИСНОВКИ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97880" y="1289304"/>
            <a:ext cx="283464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97880" y="1289304"/>
            <a:ext cx="73152" cy="6126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6062472" y="13167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Лідер якості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062472" y="14721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62472" y="16916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найвища nDCG (0.672 на Tech), ~228 мс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97880" y="1975104"/>
            <a:ext cx="283464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97880" y="1975104"/>
            <a:ext cx="73152" cy="6126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19"/>
          <p:cNvSpPr/>
          <p:nvPr/>
        </p:nvSpPr>
        <p:spPr>
          <a:xfrm>
            <a:off x="6062472" y="20025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Найшвидший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062472" y="21579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062472" y="23774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 мс, але якість обмежена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897880" y="2660904"/>
            <a:ext cx="283464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897880" y="2660904"/>
            <a:ext cx="73152" cy="6126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4"/>
          <p:cNvSpPr/>
          <p:nvPr/>
        </p:nvSpPr>
        <p:spPr>
          <a:xfrm>
            <a:off x="6062472" y="26883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Альтернатива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062472" y="28437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E5-base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062472" y="3063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~3× швидше за BGE-M3, ~70 мс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897880" y="3346704"/>
            <a:ext cx="283464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897880" y="3346704"/>
            <a:ext cx="73152" cy="6126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2" name="Text 29"/>
          <p:cNvSpPr/>
          <p:nvPr/>
        </p:nvSpPr>
        <p:spPr>
          <a:xfrm>
            <a:off x="6062472" y="33741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Лідер на Legal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062472" y="35295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062472" y="3749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nDCG=0.320, але ~2× повільніший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897880" y="4032504"/>
            <a:ext cx="2834640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897880" y="4032504"/>
            <a:ext cx="73152" cy="6126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4"/>
          <p:cNvSpPr/>
          <p:nvPr/>
        </p:nvSpPr>
        <p:spPr>
          <a:xfrm>
            <a:off x="6062472" y="40599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Найслабший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062472" y="42153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062472" y="44348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поступається навіть BM25</a:t>
            </a:r>
            <a:endParaRPr lang="en-US" sz="900" dirty="0"/>
          </a:p>
        </p:txBody>
      </p:sp>
      <p:pic>
        <p:nvPicPr>
          <p:cNvPr id="40" name="Image 0" descr="D:\repos\kb-semantic-search-benchmark\thesis\scripts\_logo_h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10 · ПУБЛІКАЦІЯ РЕЗУЛЬТАТІВ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Апробація результатів дослідження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15773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1097280" cy="15773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51560"/>
            <a:ext cx="1097280" cy="709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11480" y="1827657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КОНФЕРЕНЦІЯ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2095805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10515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«Innovative Research in Science and Economy»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1325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2-я Міжнародна науково-практична конференція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91640" y="16002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Стаття:  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«Порівняльний аналіз ефективності моделей векторних ембеддінгів для задач семантичного пошуку в корпоративних базах знань»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91640" y="2103120"/>
            <a:ext cx="69494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Внесок: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Представлено benchmark-методологію та порівняння 4 моделей у трьох доменних колекціях; обґрунтовано перевагу BGE-M3 над класичним BM25.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628900"/>
            <a:ext cx="8321040" cy="15773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628900"/>
            <a:ext cx="1097280" cy="15773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720340"/>
            <a:ext cx="1097280" cy="709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411480" y="3496437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КОНФЕРЕНЦІЯ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3764585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27203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«Радіоелектроніка та молодь у XXI столітті»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299466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30-й Міжнародний молодіжний форум, ХНУРЕ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91640" y="32689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Тези:  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«Підвищення якості семантичного пошуку в базах знань із використанням векторних подань»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3771900"/>
            <a:ext cx="69494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Внесок: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Подано підхід до підвищення якості retrieval у корпоративних базах знань на основі контрастивно-навчених embedding-моделей.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4297680"/>
            <a:ext cx="832104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42976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ЗАГАЛОМ:  </a:t>
            </a:r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наукові праці   ·   2 виступи на міжнародних конференціях   ·   у співавторстві з науковим керівником   ·   ХНУРЕ, 2026</a:t>
            </a:r>
            <a:endParaRPr lang="en-US" sz="1000" dirty="0"/>
          </a:p>
        </p:txBody>
      </p:sp>
      <p:pic>
        <p:nvPicPr>
          <p:cNvPr id="25" name="Image 0" descr="D:\repos\kb-semantic-search-benchmark\thesis\scripts\_logo_h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40A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3200400" cy="3200400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11 · ПІДСУМКИ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42062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292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Підсумки та практичні рекомендації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8321040" cy="50292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7899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96012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ПОСТАВЛЕНУ МЕТУ ДОСЯГНУТО:  обґрунтовано доцільність застосування embedding-моделей для семантичного пошуку у корпоративних базах знань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1645920"/>
            <a:ext cx="4069080" cy="1257300"/>
          </a:xfrm>
          <a:prstGeom prst="roundRect">
            <a:avLst>
              <a:gd name="adj" fmla="val 4364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1810512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91109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1737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188720" y="206654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 модель для впровадження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94360" y="2423160"/>
            <a:ext cx="37033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Найкраща якість, стабільність у різних доменах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1645920"/>
            <a:ext cx="4069080" cy="1257300"/>
          </a:xfrm>
          <a:prstGeom prst="roundRect">
            <a:avLst>
              <a:gd name="adj" fmla="val 4364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46320" y="1810512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91109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40680" y="1737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E5-base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440680" y="206654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Швидка альтернатива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846320" y="2423160"/>
            <a:ext cx="37033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Прийнятна якість + ~3× швидше за BGE-M3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11480" y="3040380"/>
            <a:ext cx="4069080" cy="1257300"/>
          </a:xfrm>
          <a:prstGeom prst="roundRect">
            <a:avLst>
              <a:gd name="adj" fmla="val 4364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94360" y="3204972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305556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88720" y="31318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188720" y="346100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Лідер на юридичному домені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94360" y="3817620"/>
            <a:ext cx="37033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Найвища nDCG@10 на Legal (0.320), ~2× повільніший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663440" y="3040380"/>
            <a:ext cx="4069080" cy="1257300"/>
          </a:xfrm>
          <a:prstGeom prst="roundRect">
            <a:avLst>
              <a:gd name="adj" fmla="val 4364"/>
            </a:avLst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846320" y="3204972"/>
            <a:ext cx="502920" cy="502920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3305556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40680" y="31318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5440680" y="346100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Конкурентний baseline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4846320" y="3817620"/>
            <a:ext cx="37033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Залишається сильним у певних доменах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0" y="43662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Дякую за увагу!</a:t>
            </a:r>
            <a:endParaRPr lang="en-US" sz="2400" dirty="0"/>
          </a:p>
        </p:txBody>
      </p:sp>
      <p:pic>
        <p:nvPicPr>
          <p:cNvPr id="35" name="Image 5" descr="D:\repos\kb-semantic-search-benchmark\thesis\scripts\_logo_he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686300"/>
            <a:ext cx="502920" cy="33832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955280" y="48508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Дослідження моделей векторних ембеддінгів для семантичного пошуку</dc:title>
  <dc:subject>PptxGenJS Presentation</dc:subject>
  <dc:creator>Нестеренко В.В.</dc:creator>
  <cp:lastModifiedBy>Нестеренко В.В.</cp:lastModifiedBy>
  <cp:revision>1</cp:revision>
  <dcterms:created xsi:type="dcterms:W3CDTF">2026-05-07T19:37:39Z</dcterms:created>
  <dcterms:modified xsi:type="dcterms:W3CDTF">2026-05-07T19:37:39Z</dcterms:modified>
</cp:coreProperties>
</file>
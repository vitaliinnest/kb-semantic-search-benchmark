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278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137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512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8192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32768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8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</c:v>
                </c:pt>
                <c:pt idx="1">
                  <c:v>0.3831</c:v>
                </c:pt>
                <c:pt idx="2">
                  <c:v>0.5054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</c:v>
                </c:pt>
                <c:pt idx="1">
                  <c:v>0.4022</c:v>
                </c:pt>
                <c:pt idx="2">
                  <c:v>0.4256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</c:v>
                </c:pt>
                <c:pt idx="1">
                  <c:v>0.3318</c:v>
                </c:pt>
                <c:pt idx="2">
                  <c:v>0.4647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</c:v>
                </c:pt>
                <c:pt idx="1">
                  <c:v>0.2533</c:v>
                </c:pt>
                <c:pt idx="2">
                  <c:v>0.4003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0.425</c:v>
                </c:pt>
                <c:pt idx="1">
                  <c:v>0.1432</c:v>
                </c:pt>
                <c:pt idx="2">
                  <c:v>0.2167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0.815</c:v>
                </c:pt>
                <c:pt idx="1">
                  <c:v>0.375</c:v>
                </c:pt>
                <c:pt idx="2">
                  <c:v>0.545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</c:v>
                </c:pt>
                <c:pt idx="2">
                  <c:v>0.4717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0.7542</c:v>
                </c:pt>
                <c:pt idx="1">
                  <c:v>0.2333</c:v>
                </c:pt>
                <c:pt idx="2">
                  <c:v>0.3983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0.143</c:v>
                </c:pt>
                <c:pt idx="1">
                  <c:v>0.106</c:v>
                </c:pt>
                <c:pt idx="2">
                  <c:v>0.14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</c:v>
                </c:pt>
                <c:pt idx="1">
                  <c:v>0.089</c:v>
                </c:pt>
                <c:pt idx="2">
                  <c:v>0.134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</c:v>
                </c:pt>
                <c:pt idx="1">
                  <c:v>0.064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0.027</c:v>
                </c:pt>
                <c:pt idx="2">
                  <c:v>0.054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</c:v>
                </c:pt>
                <c:pt idx="1">
                  <c:v>0.872</c:v>
                </c:pt>
                <c:pt idx="2">
                  <c:v>0.912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0.825</c:v>
                </c:pt>
                <c:pt idx="1">
                  <c:v>0.914</c:v>
                </c:pt>
                <c:pt idx="2">
                  <c:v>0.802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0.844</c:v>
                </c:pt>
                <c:pt idx="2">
                  <c:v>0.901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</c:v>
                </c:pt>
                <c:pt idx="1">
                  <c:v>0.741</c:v>
                </c:pt>
                <c:pt idx="2">
                  <c:v>0.817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0.611</c:v>
                </c:pt>
                <c:pt idx="1">
                  <c:v>0.503</c:v>
                </c:pt>
                <c:pt idx="2">
                  <c:v>0.568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75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E40AF"/>
            </a:solidFill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0.4861</c:v>
                </c:pt>
                <c:pt idx="1">
                  <c:v>0.6121</c:v>
                </c:pt>
                <c:pt idx="2">
                  <c:v>0.3765</c:v>
                </c:pt>
                <c:pt idx="3">
                  <c:v>0.6722</c:v>
                </c:pt>
                <c:pt idx="4">
                  <c:v>0.6325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ms / запит (нижче — краще)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nDCG@10 (вище — краще)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chart" Target="/ppt/charts/chart8.xml"/><Relationship Id="rId5" Type="http://schemas.openxmlformats.org/officeDocument/2006/relationships/image" Target="../media/image-14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834640"/>
            <a:ext cx="73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406908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406640" y="40233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   ·   Харків</a:t>
            </a:r>
            <a:endParaRPr lang="en-US" sz="1100" dirty="0"/>
          </a:p>
        </p:txBody>
      </p:sp>
      <p:pic>
        <p:nvPicPr>
          <p:cNvPr id="14" name="Image 1" descr="D:\repos\kb-semantic-search-benchmark\thesis\scripts\_logo_xn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1645920" cy="365760"/>
          </a:xfrm>
          <a:prstGeom prst="rect">
            <a:avLst/>
          </a:prstGeom>
        </p:spPr>
      </p:pic>
      <p:pic>
        <p:nvPicPr>
          <p:cNvPr id="15" name="Image 2" descr="D:\repos\kb-semantic-search-benchmark\thesis\scripts\_logo_kafed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720" y="4704588"/>
            <a:ext cx="1645920" cy="329184"/>
          </a:xfrm>
          <a:prstGeom prst="rect">
            <a:avLst/>
          </a:prstGeom>
        </p:spPr>
      </p:pic>
      <p:pic>
        <p:nvPicPr>
          <p:cNvPr id="1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4686300"/>
            <a:ext cx="6400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29768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11480" y="42976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48716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774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44368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346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401568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2918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85876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749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315968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2062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6172200" y="1289304"/>
          <a:ext cx="24688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 descr=""/>
          <p:cNvGraphicFramePr/>
          <p:nvPr/>
        </p:nvGraphicFramePr>
        <p:xfrm>
          <a:off x="6172200" y="2990088"/>
          <a:ext cx="24688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4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pPr algn="ctr"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 = 10)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4747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02920"/>
                <a:gridCol w="502920"/>
                <a:gridCol w="594360"/>
                <a:gridCol w="457200"/>
                <a:gridCol w="5943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074920" y="3154680"/>
          <a:ext cx="35661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31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097280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4360" y="18531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94360" y="234086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4360" y="282854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94360" y="331622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94360" y="380390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4360" y="42915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0" name="Text 17"/>
          <p:cNvSpPr/>
          <p:nvPr/>
        </p:nvSpPr>
        <p:spPr>
          <a:xfrm>
            <a:off x="77724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8531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2"/>
          <p:cNvSpPr/>
          <p:nvPr/>
        </p:nvSpPr>
        <p:spPr>
          <a:xfrm>
            <a:off x="361188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34086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4"/>
          <p:cNvSpPr/>
          <p:nvPr/>
        </p:nvSpPr>
        <p:spPr>
          <a:xfrm>
            <a:off x="361188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82854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0" name="Text 26"/>
          <p:cNvSpPr/>
          <p:nvPr/>
        </p:nvSpPr>
        <p:spPr>
          <a:xfrm>
            <a:off x="361188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31622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2" name="Text 28"/>
          <p:cNvSpPr/>
          <p:nvPr/>
        </p:nvSpPr>
        <p:spPr>
          <a:xfrm>
            <a:off x="361188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80390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4" name="Text 30"/>
          <p:cNvSpPr/>
          <p:nvPr/>
        </p:nvSpPr>
        <p:spPr>
          <a:xfrm>
            <a:off x="361188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2915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6" name="Text 32"/>
          <p:cNvSpPr/>
          <p:nvPr/>
        </p:nvSpPr>
        <p:spPr>
          <a:xfrm>
            <a:off x="361188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8531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2" name="Text 37"/>
          <p:cNvSpPr/>
          <p:nvPr/>
        </p:nvSpPr>
        <p:spPr>
          <a:xfrm>
            <a:off x="644652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34086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4" name="Text 39"/>
          <p:cNvSpPr/>
          <p:nvPr/>
        </p:nvSpPr>
        <p:spPr>
          <a:xfrm>
            <a:off x="644652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828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6" name="Text 41"/>
          <p:cNvSpPr/>
          <p:nvPr/>
        </p:nvSpPr>
        <p:spPr>
          <a:xfrm>
            <a:off x="644652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31622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8" name="Text 43"/>
          <p:cNvSpPr/>
          <p:nvPr/>
        </p:nvSpPr>
        <p:spPr>
          <a:xfrm>
            <a:off x="644652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80390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0" name="Text 45"/>
          <p:cNvSpPr/>
          <p:nvPr/>
        </p:nvSpPr>
        <p:spPr>
          <a:xfrm>
            <a:off x="644652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2915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2" name="Text 47"/>
          <p:cNvSpPr/>
          <p:nvPr/>
        </p:nvSpPr>
        <p:spPr>
          <a:xfrm>
            <a:off x="644652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виявлення аномалій у фінансових транзакціях 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комбінація Autoencoder та Isolation Forest для fraud detection 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57607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q6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прогноз відтоку клієнтів (churn prediction) 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57607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q7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когортний аналіз для сегментації клієнтів 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q8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етичні питання використання персональних даних 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цивільна дієздатність фізичної особи 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341071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з якого віку настає повна цивільна дієздатність 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2"/>
          <p:cNvSpPr/>
          <p:nvPr/>
        </p:nvSpPr>
        <p:spPr>
          <a:xfrm>
            <a:off x="341071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підстави обмеження цивільної дієздатності судом 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4"/>
          <p:cNvSpPr/>
          <p:nvPr/>
        </p:nvSpPr>
        <p:spPr>
          <a:xfrm>
            <a:off x="341071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поняття юридичної особи та порядок її реєстрації 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Text 26"/>
          <p:cNvSpPr/>
          <p:nvPr/>
        </p:nvSpPr>
        <p:spPr>
          <a:xfrm>
            <a:off x="341071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входить до складу спадщини 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серцево-судинна система 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2"/>
          <p:cNvSpPr/>
          <p:nvPr/>
        </p:nvSpPr>
        <p:spPr>
          <a:xfrm>
            <a:off x="624535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та функції серця людини 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Text 34"/>
          <p:cNvSpPr/>
          <p:nvPr/>
        </p:nvSpPr>
        <p:spPr>
          <a:xfrm>
            <a:off x="624535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артеріальний тиск і як він регулюється 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6"/>
          <p:cNvSpPr/>
          <p:nvPr/>
        </p:nvSpPr>
        <p:spPr>
          <a:xfrm>
            <a:off x="624535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велике і мале коло кровообігу — відмінності 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3" name="Text 38"/>
          <p:cNvSpPr/>
          <p:nvPr/>
        </p:nvSpPr>
        <p:spPr>
          <a:xfrm>
            <a:off x="624535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дихальної системи людини »</a:t>
            </a:r>
            <a:endParaRPr lang="en-US" sz="950" dirty="0"/>
          </a:p>
        </p:txBody>
      </p:sp>
      <p:sp>
        <p:nvSpPr>
          <p:cNvPr id="44" name="Shape 39"/>
          <p:cNvSpPr/>
          <p:nvPr/>
        </p:nvSpPr>
        <p:spPr>
          <a:xfrm>
            <a:off x="411480" y="438912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 запитів:  </a:t>
            </a:r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· factual · procedural · technical · topic · method · policy · comparison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qrels — релевантні чанки сформовано вручну для кожного запиту</a:t>
            </a:r>
            <a:endParaRPr lang="en-US" sz="1000" dirty="0"/>
          </a:p>
        </p:txBody>
      </p:sp>
      <p:pic>
        <p:nvPicPr>
          <p:cNvPr id="4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71600"/>
          <a:ext cx="5577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408176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Text 8"/>
          <p:cNvSpPr/>
          <p:nvPr/>
        </p:nvSpPr>
        <p:spPr>
          <a:xfrm>
            <a:off x="6492240" y="13716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6304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0"/>
          <p:cNvSpPr/>
          <p:nvPr/>
        </p:nvSpPr>
        <p:spPr>
          <a:xfrm>
            <a:off x="7068312" y="13716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71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7190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6492240" y="16824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73936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068312" y="16824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824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20299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6492240" y="19933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84832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3" name="Text 20"/>
          <p:cNvSpPr/>
          <p:nvPr/>
        </p:nvSpPr>
        <p:spPr>
          <a:xfrm>
            <a:off x="7068312" y="19933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933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340864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6492240" y="230428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95728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8" name="Text 25"/>
          <p:cNvSpPr/>
          <p:nvPr/>
        </p:nvSpPr>
        <p:spPr>
          <a:xfrm>
            <a:off x="7068312" y="23042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3042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5176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6492240" y="26151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706624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3" name="Text 30"/>
          <p:cNvSpPr/>
          <p:nvPr/>
        </p:nvSpPr>
        <p:spPr>
          <a:xfrm>
            <a:off x="7068312" y="26151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6151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9164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1148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4745736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 descr=""/>
          <p:cNvGraphicFramePr/>
          <p:nvPr/>
        </p:nvGraphicFramePr>
        <p:xfrm>
          <a:off x="502920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 descr=""/>
          <p:cNvGraphicFramePr/>
          <p:nvPr/>
        </p:nvGraphicFramePr>
        <p:xfrm>
          <a:off x="4745736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pic>
        <p:nvPicPr>
          <p:cNvPr id="1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4617720" y="132588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28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2588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99638" y="210362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46762" y="1599223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721881" y="286198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583089" y="14240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5397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стеля якості ~0.49 nDCG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домінується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pPr algn="ctr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 та практичні рекомендації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ПОСТАВЛЕНУ МЕТУ ДОСЯГНУТО:  обґрунтовано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Найкраща якість, стабільність у різних доменах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Залишається сильним у певних доменах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0" y="43662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400" dirty="0"/>
          </a:p>
        </p:txBody>
      </p:sp>
      <p:pic>
        <p:nvPicPr>
          <p:cNvPr id="39" name="Image 5" descr="D:\repos\kb-semantic-search-benchmark\thesis\scripts\_logo_hex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Нестеренко В.В.</cp:lastModifiedBy>
  <cp:revision>1</cp:revision>
  <dcterms:created xsi:type="dcterms:W3CDTF">2026-05-07T20:51:20Z</dcterms:created>
  <dcterms:modified xsi:type="dcterms:W3CDTF">2026-05-07T20:51:20Z</dcterms:modified>
</cp:coreProperties>
</file>
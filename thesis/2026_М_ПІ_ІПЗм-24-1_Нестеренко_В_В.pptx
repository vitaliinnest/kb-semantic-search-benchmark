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4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0889" autoAdjust="0"/>
  </p:normalViewPr>
  <p:slideViewPr>
    <p:cSldViewPr snapToGrid="0" snapToObjects="1">
      <p:cViewPr varScale="1">
        <p:scale>
          <a:sx n="130" d="100"/>
          <a:sy n="130" d="100"/>
        </p:scale>
        <p:origin x="13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0:26  ·  слайд 1/17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0:26 – 1:07  ·  слайд 2/17</a:t>
            </a:r>
            <a:endParaRPr lang="en-US" dirty="0"/>
          </a:p>
          <a:p>
            <a:endParaRPr lang="en-US" dirty="0"/>
          </a:p>
          <a:p>
            <a:r>
              <a:t>Розпочнемо з актуальності. 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1:07 – 1:35  ·  слайд 3/17</a:t>
            </a:r>
            <a:endParaRPr lang="en-US" dirty="0"/>
          </a:p>
          <a:p>
            <a:r>
              <a:t>Які підходи вже досліджено в літературі? 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1:35 – 2:13  ·  слайд 4/17</a:t>
            </a:r>
            <a:endParaRPr lang="en-US" dirty="0"/>
          </a:p>
          <a:p>
            <a:endParaRPr lang="en-US" dirty="0"/>
          </a:p>
          <a:p>
            <a:r>
              <a:t>Виявлена прогалина веде до постановки задачі. 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2:13 – 2:47  ·  слайд 5/17</a:t>
            </a:r>
            <a:endParaRPr lang="en-US" dirty="0"/>
          </a:p>
          <a:p>
            <a:r>
              <a:t>Розглянемо, які саме моделі дослідимо. Для дослідження обрано чотири моделі різних архітектур. BGE-M3 — 568 мільйонів параметрів, контекст 8192 токенів, мультифункціональна (dense, sparse, multi-vector). E5-base — 278 мільйонів параметрів, контекст 512, з обов'язковими префіксами query та passage. Nomic-embed v1.5 — найменша, 137 мільйонів, з технікою Matryoshka. Qwen3-Embedding-0.6B — 596 мільйонів, контекст 32 тисячі токенів, єдина побудована на декодерній LLM-архітектурі.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2:47 – 3:22  ·  слайд 6/17</a:t>
            </a:r>
            <a:endParaRPr lang="en-US" dirty="0"/>
          </a:p>
          <a:p>
            <a:endParaRPr lang="en-US" dirty="0"/>
          </a:p>
          <a:p>
            <a:r>
              <a:t>Як порівнюватимемо ці п'ять моделей? Оцінювання базується на чотирьох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статистичної значущості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3:22 – 3:53  ·  слайд 7/17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3:53 – 4:37  ·  слайд 8/17</a:t>
            </a:r>
            <a:endParaRPr lang="en-US" dirty="0"/>
          </a:p>
          <a:p>
            <a:r>
              <a:t>Окремих метрик недостатньо — потрібно об'єднати їх в одне число. 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4:37 – 5:17  ·  слайд 9/17</a:t>
            </a:r>
            <a:endParaRPr lang="en-US" dirty="0"/>
          </a:p>
          <a:p>
            <a:endParaRPr lang="en-US" dirty="0"/>
          </a:p>
          <a:p>
            <a:r>
              <a:t>Як це реалізовано архітектурно? 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5:17 – 5:37  ·  слайд 10/17</a:t>
            </a:r>
            <a:endParaRPr lang="en-US" dirty="0"/>
          </a:p>
          <a:p>
            <a:r>
              <a:t>Технологічний стек, на якому це побудовано. 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5:37 – 6:28  ·  слайд 11/17</a:t>
            </a:r>
            <a:endParaRPr lang="en-US" dirty="0"/>
          </a:p>
          <a:p>
            <a:r>
              <a:t>На якому датасеті випробували методологію? 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6:28 – 6:45  ·  слайд 12/17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6:45 – 7:11  ·  слайд 13/17</a:t>
            </a:r>
            <a:endParaRPr lang="en-US" dirty="0"/>
          </a:p>
          <a:p>
            <a:r>
              <a:t>За окремими доменами картина така. 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7:11 – 7:51  ·  слайд 14/17</a:t>
            </a:r>
            <a:endParaRPr lang="en-US" dirty="0"/>
          </a:p>
          <a:p>
            <a:r>
              <a:t>Переходимо до інтегральної оцінки. Результати багатокритеріального вибору. Парето-оптимальна множина — BGE-M3, E5-base та BM25: три з п'яти моделей не домінуються жодною. BGE-M3 — лідер за nDCG, MRR, Recall на технічному і медичному доменах.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7:51 – 8:41  ·  слайд 15/17</a:t>
            </a:r>
            <a:endParaRPr lang="en-US" dirty="0"/>
          </a:p>
          <a:p>
            <a:r>
              <a:t>Той самий аналіз — у вигляді графіка. 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Парето-оптимальна: ~70 мілісекунд, утричі швидше за BGE-M3 при якості на ~10% нижчій.</a:t>
            </a:r>
          </a:p>
          <a:p>
            <a:r>
              <a:t>BM25 — Парето-оптимальна як baseline: менше 3 мілісекунд, найвища nDCG —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8:41 – 9:28  ·  слайд 16/17</a:t>
            </a:r>
            <a:endParaRPr lang="en-US" dirty="0"/>
          </a:p>
          <a:p>
            <a:r>
              <a:t>Підсумовуючи: на основі багатокритеріального аналізу обґрунтовано рекомендації щодо вибору embedding-моделі для україномовного семантичного пошуку у корпоративних базах знань.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альтернатива: якість на ~10% нижча за BGE-M3, але утричі швидше.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опорним методом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⏱ 9:28 – 10:00  ·  </a:t>
            </a:r>
            <a:r>
              <a:rPr dirty="0" err="1"/>
              <a:t>слайд</a:t>
            </a:r>
            <a:r>
              <a:rPr dirty="0"/>
              <a:t> 17/17</a:t>
            </a:r>
            <a:endParaRPr lang="en-US" dirty="0"/>
          </a:p>
          <a:p>
            <a:r>
              <a:rPr lang="ru-RU" dirty="0" err="1"/>
              <a:t>Теоретичні</a:t>
            </a:r>
            <a:r>
              <a:rPr lang="ru-RU" dirty="0"/>
              <a:t> і </a:t>
            </a:r>
            <a:r>
              <a:rPr lang="ru-RU" dirty="0" err="1"/>
              <a:t>практичні</a:t>
            </a:r>
            <a:r>
              <a:rPr lang="ru-RU" dirty="0"/>
              <a:t> </a:t>
            </a:r>
            <a:r>
              <a:rPr lang="ru-RU" dirty="0" err="1"/>
              <a:t>результати</a:t>
            </a:r>
            <a:r>
              <a:rPr lang="ru-RU" dirty="0"/>
              <a:t> </a:t>
            </a:r>
            <a:r>
              <a:rPr lang="ru-RU" dirty="0" err="1"/>
              <a:t>апробовані</a:t>
            </a:r>
            <a:r>
              <a:rPr lang="ru-RU" dirty="0"/>
              <a:t> на </a:t>
            </a:r>
            <a:r>
              <a:rPr lang="ru-RU" dirty="0" err="1"/>
              <a:t>двох</a:t>
            </a:r>
            <a:r>
              <a:rPr lang="ru-RU" dirty="0"/>
              <a:t> </a:t>
            </a:r>
            <a:r>
              <a:rPr lang="ru-RU" dirty="0" err="1"/>
              <a:t>міжнародних</a:t>
            </a:r>
            <a:r>
              <a:rPr lang="ru-RU" dirty="0"/>
              <a:t> </a:t>
            </a:r>
            <a:r>
              <a:rPr lang="ru-RU" dirty="0" err="1"/>
              <a:t>конференціях</a:t>
            </a:r>
            <a:r>
              <a:rPr lang="ru-RU" dirty="0"/>
              <a:t> і </a:t>
            </a:r>
            <a:r>
              <a:rPr lang="ru-RU" dirty="0" err="1"/>
              <a:t>опубліковані</a:t>
            </a:r>
            <a:r>
              <a:rPr lang="ru-RU" dirty="0"/>
              <a:t> у </a:t>
            </a:r>
            <a:r>
              <a:rPr lang="ru-RU" dirty="0" err="1"/>
              <a:t>двох</a:t>
            </a:r>
            <a:r>
              <a:rPr lang="ru-RU" dirty="0"/>
              <a:t> </a:t>
            </a:r>
            <a:r>
              <a:rPr lang="ru-RU" dirty="0" err="1"/>
              <a:t>збірниках</a:t>
            </a:r>
            <a:r>
              <a:rPr lang="ru-RU" dirty="0"/>
              <a:t> тез.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chart" Target="../charts/chart6.xml"/><Relationship Id="rId6" Type="http://schemas.openxmlformats.org/officeDocument/2006/relationships/chart" Target="../charts/chart7.xml"/><Relationship Id="rId7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8.xml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визначити найбільш придатну embedding-модель для україномовного семантичного пошуку у корпоративних базах знань на основі експериментального порівняння та багатокритеріального аналізу.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обрати модель методом багатокритеріального аналізу за балансом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 (nDCG@10)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nDCG, MRR, Recall на технічному і медичному доменах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найвища nDCG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~3× швидше за BGE-M3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опорна модель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найвища nDCG ~0.49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Поза Парето на Tech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повільніша і нижча nDCG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Домінується іншими моделями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результати дослідження</a:t>
            </a:r>
            <a:endParaRPr lang="uk-UA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Обґрунтовано рекомендації щодо вибору embedding-моделі для україномовного семантичного пошуку у корпоративних базах знань методом багатокритеріального аналізу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на ~10% нижча за BGE-M3, ~3× швидше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693466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82B0C7-C83A-421B-B8E6-44C0B75292E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8b6b9b2-9153-4bc5-8b95-d349cce7ec1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2963</Words>
  <Application>Microsoft Office PowerPoint</Application>
  <PresentationFormat>On-screen Show (16:9)</PresentationFormat>
  <Paragraphs>466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35</cp:revision>
  <dcterms:created xsi:type="dcterms:W3CDTF">2026-05-07T21:01:42Z</dcterms:created>
  <dcterms:modified xsi:type="dcterms:W3CDTF">2026-05-17T18:16:29Z</dcterms:modified>
</cp:coreProperties>
</file>
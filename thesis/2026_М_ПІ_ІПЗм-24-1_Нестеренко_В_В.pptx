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4" r:id="rId18"/>
    <p:sldId id="272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622" autoAdjust="0"/>
  </p:normalViewPr>
  <p:slideViewPr>
    <p:cSldViewPr snapToGrid="0" snapToObjects="1">
      <p:cViewPr varScale="1">
        <p:scale>
          <a:sx n="157" d="100"/>
          <a:sy n="157" d="100"/>
        </p:scale>
        <p:origin x="610" y="11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F83-4DD8-B773-A9C507FB410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278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F83-4DD8-B773-A9C507FB410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137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F83-4DD8-B773-A9C507FB410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F83-4DD8-B773-A9C507FB410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62-4700-908D-E5B980CD3B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1">
                  <c:v>512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62-4700-908D-E5B980CD3B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2">
                  <c:v>8192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62-4700-908D-E5B980CD3B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BGE-M3</c:v>
                </c:pt>
                <c:pt idx="1">
                  <c:v>E5-base</c:v>
                </c:pt>
                <c:pt idx="2">
                  <c:v>nomic</c:v>
                </c:pt>
                <c:pt idx="3">
                  <c:v>Qwen3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3">
                  <c:v>32768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62-4700-908D-E5B980CD3B4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5A-4EF2-97DD-E9731D1D6D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5A-4EF2-97DD-E9731D1D6D5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5A-4EF2-97DD-E9731D1D6D5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5A-4EF2-97DD-E9731D1D6D5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5A-4EF2-97DD-E9731D1D6D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943-4127-A631-8D360886C94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943-4127-A631-8D360886C94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943-4127-A631-8D360886C94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943-4127-A631-8D360886C94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943-4127-A631-8D360886C94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2877350372187083"/>
          <c:y val="0.92613188976377958"/>
          <c:w val="0.54245299255625834"/>
          <c:h val="7.3868110236220474E-2"/>
        </c:manualLayout>
      </c:layout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0.67220000000000002</c:v>
                </c:pt>
                <c:pt idx="1">
                  <c:v>0.30649999999999999</c:v>
                </c:pt>
                <c:pt idx="2">
                  <c:v>0.43390000000000001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BD-4532-ACC4-EE902408296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0.63249999999999995</c:v>
                </c:pt>
                <c:pt idx="1">
                  <c:v>0.31990000000000002</c:v>
                </c:pt>
                <c:pt idx="2">
                  <c:v>0.3629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1BD-4532-ACC4-EE9024082964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0.61209999999999998</c:v>
                </c:pt>
                <c:pt idx="1">
                  <c:v>0.25669999999999998</c:v>
                </c:pt>
                <c:pt idx="2">
                  <c:v>0.39090000000000003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1BD-4532-ACC4-EE9024082964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0.48609999999999998</c:v>
                </c:pt>
                <c:pt idx="1">
                  <c:v>0.1875</c:v>
                </c:pt>
                <c:pt idx="2">
                  <c:v>0.32219999999999999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1BD-4532-ACC4-EE9024082964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9.5100000000000004E-2</c:v>
                </c:pt>
                <c:pt idx="2">
                  <c:v>0.1668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1BD-4532-ACC4-EE90240829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0.69930000000000003</c:v>
                </c:pt>
                <c:pt idx="1">
                  <c:v>0.3831</c:v>
                </c:pt>
                <c:pt idx="2">
                  <c:v>0.50539999999999996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33-4F30-82BB-1B0A7ED6A74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0.66600000000000004</c:v>
                </c:pt>
                <c:pt idx="1">
                  <c:v>0.4022</c:v>
                </c:pt>
                <c:pt idx="2">
                  <c:v>0.42559999999999998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33-4F30-82BB-1B0A7ED6A74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0.64500000000000002</c:v>
                </c:pt>
                <c:pt idx="1">
                  <c:v>0.33179999999999998</c:v>
                </c:pt>
                <c:pt idx="2">
                  <c:v>0.4647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33-4F30-82BB-1B0A7ED6A74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0.48080000000000001</c:v>
                </c:pt>
                <c:pt idx="1">
                  <c:v>0.25330000000000003</c:v>
                </c:pt>
                <c:pt idx="2">
                  <c:v>0.40029999999999999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33-4F30-82BB-1B0A7ED6A74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0.42499999999999999</c:v>
                </c:pt>
                <c:pt idx="1">
                  <c:v>0.14319999999999999</c:v>
                </c:pt>
                <c:pt idx="2">
                  <c:v>0.2167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E33-4F30-82BB-1B0A7ED6A74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0.81499999999999995</c:v>
                </c:pt>
                <c:pt idx="1">
                  <c:v>0.375</c:v>
                </c:pt>
                <c:pt idx="2">
                  <c:v>0.54500000000000004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F8-4013-B006-5F01937E39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0.38500000000000001</c:v>
                </c:pt>
                <c:pt idx="2">
                  <c:v>0.47170000000000001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DF8-4013-B006-5F01937E39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0.74580000000000002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DF8-4013-B006-5F01937E39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0.75419999999999998</c:v>
                </c:pt>
                <c:pt idx="1">
                  <c:v>0.23330000000000001</c:v>
                </c:pt>
                <c:pt idx="2">
                  <c:v>0.39829999999999999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DF8-4013-B006-5F01937E39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DF8-4013-B006-5F01937E39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0.14299999999999999</c:v>
                </c:pt>
                <c:pt idx="1">
                  <c:v>0.106</c:v>
                </c:pt>
                <c:pt idx="2">
                  <c:v>0.14000000000000001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535-4DB2-9772-1A1C6FC68D2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0.13800000000000001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535-4DB2-9772-1A1C6FC68D2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0.13900000000000001</c:v>
                </c:pt>
                <c:pt idx="1">
                  <c:v>8.8999999999999996E-2</c:v>
                </c:pt>
                <c:pt idx="2">
                  <c:v>0.13400000000000001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535-4DB2-9772-1A1C6FC68D2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0.13400000000000001</c:v>
                </c:pt>
                <c:pt idx="1">
                  <c:v>6.4000000000000001E-2</c:v>
                </c:pt>
                <c:pt idx="2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535-4DB2-9772-1A1C6FC68D2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2.7E-2</c:v>
                </c:pt>
                <c:pt idx="2">
                  <c:v>5.3999999999999999E-2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535-4DB2-9772-1A1C6FC68D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0.90400000000000003</c:v>
                </c:pt>
                <c:pt idx="1">
                  <c:v>0.872</c:v>
                </c:pt>
                <c:pt idx="2">
                  <c:v>0.91200000000000003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60B-4BF9-84F2-58BA6706632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0.82499999999999996</c:v>
                </c:pt>
                <c:pt idx="1">
                  <c:v>0.91400000000000003</c:v>
                </c:pt>
                <c:pt idx="2">
                  <c:v>0.80200000000000005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60B-4BF9-84F2-58BA6706632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0.84399999999999997</c:v>
                </c:pt>
                <c:pt idx="2">
                  <c:v>0.90100000000000002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60B-4BF9-84F2-58BA6706632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0.79500000000000004</c:v>
                </c:pt>
                <c:pt idx="1">
                  <c:v>0.74099999999999999</c:v>
                </c:pt>
                <c:pt idx="2">
                  <c:v>0.81699999999999995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860B-4BF9-84F2-58BA6706632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1E293B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0.61099999999999999</c:v>
                </c:pt>
                <c:pt idx="1">
                  <c:v>0.503</c:v>
                </c:pt>
                <c:pt idx="2">
                  <c:v>0.56799999999999995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860B-4BF9-84F2-58BA6706632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6161317903443886"/>
          <c:y val="0.92906699162604656"/>
          <c:w val="0.67677339338264531"/>
          <c:h val="7.0933008373953249E-2"/>
        </c:manualLayout>
      </c:layout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70.900000000000006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0.48609999999999998</c:v>
                </c:pt>
                <c:pt idx="1">
                  <c:v>0.61209999999999998</c:v>
                </c:pt>
                <c:pt idx="2">
                  <c:v>0.3765</c:v>
                </c:pt>
                <c:pt idx="3">
                  <c:v>0.67220000000000002</c:v>
                </c:pt>
                <c:pt idx="4">
                  <c:v>0.63249999999999995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2F12-4E1E-8CBB-62E4699DED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ms / 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запит (нижче — краще)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crossBetween val="midCat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lang="en-US" sz="900" b="0" i="0" u="none" strike="noStrike">
                    <a:solidFill>
                      <a:srgbClr val="475569"/>
                    </a:solidFill>
                    <a:latin typeface="Calibri"/>
                  </a:rPr>
                  <a:t>nDCG@10 (</a:t>
                </a:r>
                <a:r>
                  <a:rPr lang="ru-RU" sz="900" b="0" i="0" u="none" strike="noStrike">
                    <a:solidFill>
                      <a:srgbClr val="475569"/>
                    </a:solidFill>
                    <a:latin typeface="Calibri"/>
                  </a:rPr>
                  <a:t>вище — краще)</a:t>
                </a:r>
              </a:p>
            </c:rich>
          </c:tx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4047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0:00 – 0:25  ·  слайд 1/18</a:t>
            </a:r>
            <a:endParaRPr lang="en-US" dirty="0"/>
          </a:p>
          <a:p>
            <a:r>
              <a:t>Шановні члени екзаменаційної комісії, шановний головуючий! Вашій увазі представляється кваліфікаційна магістерська робота на тему «Дослідження моделей векторних ембеддінгів для семантичного пошуку текстових даних у корпоративних базах знань». Виконав здобувач групи ІПЗм-24-1 Нестеренко Віталій Вячеславович. Науковий керівник — кандидат технічних наук, доцент Русакова Наталія Євгенівна.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0:25 – 1:13  ·  слайд 2/18</a:t>
            </a:r>
            <a:endParaRPr lang="en-US" dirty="0"/>
          </a:p>
          <a:p/>
          <a:p>
            <a:r>
              <a:t>Обсяги корпоративної текстової інформації стрімко зростають, а традиційний лексичний пошук погано працює з синонімією, перефразуванням і мультимовним контентом. Сучасні embedding-моделі дозволяють шукати за змістом, а не за збігом слів.</a:t>
            </a:r>
          </a:p>
          <a:p>
            <a:r>
              <a:t>Мета — визначити доцільність застосування сучасних embedding-моделей для семантичного пошуку у корпоративних базах знань шляхом порівняльного експериментального дослідження.</a:t>
            </a:r>
          </a:p>
          <a:p>
            <a:r>
              <a:t>Об'єкт дослідження — процеси векторних подань тексту; предмет — самі embedding-моделі для корпоративних баз знань.</a:t>
            </a:r>
          </a:p>
          <a:p>
            <a:r>
              <a:t>Поставлено шість задач: проаналізувати предметну галузь; здійснити огляд embedding-моделей; сформувати україномовний benchmark; реалізувати систему пошуку; оцінити моделі за стандартними метриками; обґрунтовано обрати оптимальну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1:13 – 1:37  ·  слайд 3/18</a:t>
            </a:r>
            <a:endParaRPr lang="en-US" dirty="0"/>
          </a:p>
          <a:p>
            <a:r>
              <a:t>Огляд літератури охоплює період 2013–2025 — від статистичних подань Word2Vec через контекстний BERT і Sentence-BERT, до сучасних мультимовних моделей: E5, BGE-M3, nomic та Qwen3-Embedding. Усього опрацьовано 29 джерел. Виявлено ключову дослідницьку прогалину: відсутність порівняльних досліджень embedding-моделей саме на україномовних доменно-специфічних колекціях.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1:37 – 2:10  ·  слайд 4/18</a:t>
            </a:r>
            <a:endParaRPr lang="en-US" dirty="0"/>
          </a:p>
          <a:p/>
          <a:p>
            <a:r>
              <a:t>Постановка задачі: просто застосувати embedding-модель недостатньо — треба обґрунтовано обрати ту, що забезпечує баланс між якістю пошуку, швидкодією, ресурсами, мовною підтримкою та типом колекції.</a:t>
            </a:r>
          </a:p>
          <a:p>
            <a:r>
              <a:t>П'ять очікуваних результатів: повноцінна система семантичного пошуку з підтримкою PDF, DOCX, TXT, Markdown; україномовний benchmark з трьох доменів; кількісне порівняння чотирьох embedding-моделей та BM25; багатокритеріальний вибір за Парето-фронтом і лінійною згорткою; обґрунтовані рекомендації для впровадження.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2:10 – 2:46  ·  слайд 5/18</a:t>
            </a:r>
            <a:endParaRPr lang="en-US" dirty="0"/>
          </a:p>
          <a:p>
            <a:r>
              <a:t>Для дослідження обрано чотири сучасні моделі. BGE-M3 від BAAI — 568 мільйонів параметрів, контекст 8192 токенів, мультифункціональна (dense, sparse, multi-vector). E5-base від intfloat — 278 мільйонів параметрів, контекст 512, з обов'язковими префіксами query та passage. Nomic-embed v1.5 — найменша, 137 мільйонів, з технікою Matryoshka. Qwen3-Embedding-0.6B від Alibaba — 596 мільйонів, контекст 32 тисячі токенів, єдина побудована на декодерній LLM-архітектурі. Як лексичну baseline використано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2:46 – 3:17  ·  слайд 6/18</a:t>
            </a:r>
            <a:endParaRPr lang="en-US" dirty="0"/>
          </a:p>
          <a:p/>
          <a:p>
            <a:r>
              <a:t>Оцінювання базується на чотирьох стандартних метриках retrieval-якості: nDCG@10 — якість ранжування; MRR@10 — позиція першого релевантного; Recall@10 — повнота; Precision@10 — точність. Окремо вимірюється швидкодія в мілісекундах.</a:t>
            </a:r>
          </a:p>
          <a:p>
            <a:r>
              <a:t>Для достовірності — три методи аналізу: бутстреп-довірчі інтервали (2000 повторних вибірок, 95% CI); Парето-домінування для виявлення недомінованих альтернатив; лінійна адитивна згортка для інтегральної оцінки з ваговими коефіцієнтами.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3:17 – 3:47  ·  слайд 7/18</a:t>
            </a:r>
            <a:endParaRPr lang="en-US" dirty="0"/>
          </a:p>
          <a:p>
            <a:r>
              <a:t>Стисло про формули. nDCG@k — нормалізована якість ранжування, DCG поділене на ідеальне DCG; враховує і релевантність, і позицію. MRR — середня обернена позиція першого релевантного документа. Recall@k — частка знайдених релевантних серед усіх релевантних. Precision@k — частка релевантних серед перших k результатів. Усі метрики від 0 до 1; що вище — то краще.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3:47 – 4:24  ·  слайд 8/18</a:t>
            </a:r>
            <a:endParaRPr lang="en-US" dirty="0"/>
          </a:p>
          <a:p>
            <a:r>
              <a:t>Багатокритеріальний вибір реалізовано у три кроки. Перший — Парето-домінування: відсіюємо альтернативи, які гірші за іншу одразу за всіма критеріями. Другий — нормалізація: приведення всіх критеріїв до спільної шкали від 0 до 1 з урахуванням напряму оптимізації. Третій — лінійна адитивна згортка: інтегральна оцінка U — це сума добутків ваг на нормалізовані значення; сума ваг дорівнює одиниці. Ваги задає користувач залежно від пріоритетів — якість, швидкодія, ресурси.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4:24 – 5:00  ·  слайд 9/18</a:t>
            </a:r>
            <a:endParaRPr lang="en-US" dirty="0"/>
          </a:p>
          <a:p/>
          <a:p>
            <a:r>
              <a:t>Архітектура у вигляді pipeline. На вході — PDF, DOCX, TXT або Markdown. Документи розбиваються на чанки ~600 слів з перекриттям. Далі чанк перетворюється на вектор однією з чотирьох embedding-моделей, L2-нормалізується та індексується у FAISS — точний IndexFlatIP, що для нормалізованих векторів еквівалентне косинусній мірі. Запит проходить ту саму обробку — повертаються топ-K найрелевантніших чанків. Усе обгорнуто у Flask. Основні модулі: build_index, evaluate_benchmark, embedding_models, app.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5:00 – 5:16  ·  слайд 10/18</a:t>
            </a:r>
            <a:endParaRPr lang="en-US" dirty="0"/>
          </a:p>
          <a:p>
            <a:r>
              <a:t>Програмне забезпечення: Python 3.11, sentence-transformers, transformers від Hugging Face, PyTorch у CPU-режимі, FAISS і rank_bm25 для retrieval, Flask для веб-частини, NumPy і scikit-learn для аналізу, бутстреп-CI власної реалізації.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5:16 – 6:02  ·  слайд 11/18</a:t>
            </a:r>
            <a:endParaRPr lang="en-US" dirty="0"/>
          </a:p>
          <a:p>
            <a:r>
              <a:t>Власноруч сформовано україномовний benchmark з трьох предметних доменів. Усього — 32 документи, 300 запитів. Якорі релевантності — qrels — сформовано вручну.</a:t>
            </a:r>
          </a:p>
          <a:p>
            <a:r>
              <a:t>Технічний домен: 10 документів з тематики програмної інженерії, машинного навчання, систем RAG, виявлення аномалій, 3D-друку та лідарних систем — 100 запитів.</a:t>
            </a:r>
          </a:p>
          <a:p>
            <a:r>
              <a:t>Юридичний домен: 13 документів — кодекси України, нормативно-правові акти, законодавчі тексти — 100 запитів.</a:t>
            </a:r>
          </a:p>
          <a:p>
            <a:r>
              <a:t>Медичний домен: 9 документів — клінічні протоколи та медичні рекомендації — 100 запитів. У кожному домені по 100 україномовних запитів з ручною розміткою релевантних чанків.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6:02 – 6:19  ·  слайд 12/18</a:t>
            </a:r>
            <a:endParaRPr lang="en-US" dirty="0"/>
          </a:p>
          <a:p>
            <a:r>
              <a:t>Приклади запитів — у технічному домені про відтік клієнтів і аномалії; у юридичному — про цивільну дієздатність і спадщину; у медичному — про будову серця і кровообіг. Реальні питання користувачів.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6:19 – 7:00  ·  слайд 13/18</a:t>
            </a:r>
            <a:endParaRPr lang="en-US" dirty="0"/>
          </a:p>
          <a:p/>
          <a:p>
            <a:r>
              <a:t>Головні результати. У таблиці — середнє nDCG@10 по трьох доменах. Перше — BGE-M3 з 0.4708. Друге — Qwen3 з 0.4385. Третє — E5-base з 0.4199. Четверте — BM25 з 0.3319. Останнє — nomic з 0.2128, навіть нижче BM25.</a:t>
            </a:r>
          </a:p>
          <a:p>
            <a:r>
              <a:t>Ключовий висновок: три з чотирьох embedding-моделей перевершують BM25.</a:t>
            </a:r>
          </a:p>
          <a:p>
            <a:r>
              <a:t>Достовірність підтверджена бутстрепом (2000 вибірок). На технічному домені 95% CI для BGE-M3 — 0.606–0.737, для BM25 — 0.431–0.541. Інтервали не перетинаються — перевага семантичного пошуку статистично значуща.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7:00 – 7:22  ·  слайд 14/18</a:t>
            </a:r>
            <a:endParaRPr lang="en-US" dirty="0"/>
          </a:p>
          <a:p>
            <a:r>
              <a:t>Деталізовані метрики у розрізі трьох доменів — nDCG, MRR, Recall, Precision. Лідерство BGE-M3 послідовне за всіма чотирма метриками — це підтверджує робастність результату. На юридичному домені усі моделі показують нижчі значення — він складніший через формальний стиль і вузькоспеціалізовану термінологію.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7:22 – 7:59  ·  слайд 15/18</a:t>
            </a:r>
            <a:endParaRPr lang="en-US" dirty="0"/>
          </a:p>
          <a:p>
            <a:r>
              <a:t>Результати багатокритеріального вибору. Парето-оптимальна множина — BGE-M3, E5-base та BM25: три з п'яти моделей не домінуються жодною. BGE-M3 — лідер за nDCG, MRR, Recall на технічному і медичному доменах. E5-base — швидка альтернатива: 70 мілісекунд проти 228 у BGE-M3, тобто у три рази швидше. Qwen3 — лідер на юридичному (nDCG 0.320), але удвічі повільніший. Nomic — найслабші результати, в окремих доменах поступається навіть BM25.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7:59 – 8:43  ·  слайд 16/18</a:t>
            </a:r>
            <a:endParaRPr lang="en-US" dirty="0"/>
          </a:p>
          <a:p>
            <a:r>
              <a:t>Компроміс якості та швидкодії на технічному домені. По осі X — час відповіді, по осі Y — nDCG@10. Парето-фронт виділено пунктиром.</a:t>
            </a:r>
          </a:p>
          <a:p>
            <a:r>
              <a:t>BGE-M3 — Парето-оптимальна, лідер якості: nDCG 0.672, ~228 мілісекунд. Основний вибір для впровадження.</a:t>
            </a:r>
          </a:p>
          <a:p>
            <a:r>
              <a:t>E5-base — Парето-оптимальна sweet spot: ~70 мілісекунд, утричі швидше за BGE-M3 при незначній втраті якості.</a:t>
            </a:r>
          </a:p>
          <a:p>
            <a:r>
              <a:t>BM25 — Парето-оптимальна як baseline: менше 3 мілісекунд, але стеля якості ~0.49.</a:t>
            </a:r>
          </a:p>
          <a:p>
            <a:r>
              <a:t>Qwen3 домінується на tech, але кращий на legal. Nomic не рекомендується — повністю домінується, поступається BM25 за якістю.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8:43 – 9:32  ·  слайд 17/18</a:t>
            </a:r>
            <a:endParaRPr lang="en-US" dirty="0"/>
          </a:p>
          <a:p>
            <a:r>
              <a:t>Підсумовуючи: embedding-моделі статистично значуще переважають BM25 для україномовного семантичного пошуку. Сформульовано практичні рекомендації щодо вибору моделі під конкретні умови.</a:t>
            </a:r>
          </a:p>
          <a:p>
            <a:r>
              <a:t>BGE-M3 — основна модель для впровадження: найкраща якість і стабільність у різних доменах.</a:t>
            </a:r>
          </a:p>
          <a:p>
            <a:r>
              <a:t>E5-base — швидка альтернатива: якість на ~10% нижча за BGE-M3, але утричі швидше.</a:t>
            </a:r>
          </a:p>
          <a:p>
            <a:r>
              <a:t>Qwen3 — оптимальний вибір для юридичних колекцій, де він демонструє найвищу якість.</a:t>
            </a:r>
          </a:p>
          <a:p>
            <a:r>
              <a:t>BM25 — залишається конкурентним baseline у певних доменах і за дуже жорстких вимог до швидкості.</a:t>
            </a:r>
          </a:p>
          <a:p>
            <a:r>
              <a:t>Усі задачі, поставлені в роботі, виконано. Мета досягнута.</a:t>
            </a:r>
          </a:p>
          <a:p>
            <a:r>
              <a:t>Дякую за увагу! Готовий відповісти на запитання.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9:32 – 10:00  ·  слайд 18/18</a:t>
            </a:r>
            <a:endParaRPr lang="en-US" dirty="0"/>
          </a:p>
          <a:p>
            <a:r>
              <a:t>Апробація: опубліковано дві наукові праці у співавторстві з науковим керівником. Перша — стаття на 2-й конференції «Innovative Research in Science and Economy» з benchmark-методологією. Друга — тези на 30-му форумі «Радіоелектроніка та молодь у XXI столітті» в ХНУРЕ про підвищення якості retrieval. Загалом — два виступи на міжнародних конференціях.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3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4.xml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Relationship Id="rId5" Type="http://schemas.openxmlformats.org/officeDocument/2006/relationships/chart" Target="../charts/chart7.xml"/><Relationship Id="rId6" Type="http://schemas.openxmlformats.org/officeDocument/2006/relationships/chart" Target="../charts/chart8.xml"/><Relationship Id="rId7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9.xml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0.xml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912364"/>
            <a:ext cx="731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0" y="409651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83680" y="4407408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Харків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75320" y="4020247"/>
            <a:ext cx="457200" cy="36576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0" descr="D:\repos\kb-semantic-search-benchmark\thesis\scripts\_logo_xn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4535424"/>
            <a:ext cx="1975104" cy="438912"/>
          </a:xfrm>
          <a:prstGeom prst="rect">
            <a:avLst/>
          </a:prstGeom>
        </p:spPr>
      </p:pic>
      <p:pic>
        <p:nvPicPr>
          <p:cNvPr id="17" name="Image 1" descr="D:\repos\kb-semantic-search-benchmark\thesis\scripts\_logo_kafed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4317" y="4557369"/>
            <a:ext cx="1975105" cy="395021"/>
          </a:xfrm>
          <a:prstGeom prst="rect">
            <a:avLst/>
          </a:prstGeom>
        </p:spPr>
      </p:pic>
      <p:pic>
        <p:nvPicPr>
          <p:cNvPr id="18" name="Image 2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19" y="4526124"/>
            <a:ext cx="768096" cy="4389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122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2082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096512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11480" y="41056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обрати модель методом багатокритеріального аналізу за балансом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55574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68680" y="2425065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 (nDCG@10)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00553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77539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68980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315029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62692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68680" y="349338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000500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3873627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/>
          <p:cNvGraphicFramePr/>
          <p:nvPr>
            <p:extLst>
              <p:ext uri="{D42A27DB-BD31-4B8C-83A1-F6EECF244321}">
                <p14:modId xmlns:p14="http://schemas.microsoft.com/office/powerpoint/2010/main" val="564831178"/>
              </p:ext>
            </p:extLst>
          </p:nvPr>
        </p:nvGraphicFramePr>
        <p:xfrm>
          <a:off x="6172200" y="1160716"/>
          <a:ext cx="2468880" cy="1417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/>
          <p:cNvGraphicFramePr/>
          <p:nvPr/>
        </p:nvGraphicFramePr>
        <p:xfrm>
          <a:off x="6172200" y="2990088"/>
          <a:ext cx="24688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54" name="Image 0" descr="D:\repos\kb-semantic-search-benchmark\thesis\scripts\_logo_he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(k=10)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520440" cy="1170432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94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/>
          <p:cNvGraphicFramePr/>
          <p:nvPr/>
        </p:nvGraphicFramePr>
        <p:xfrm>
          <a:off x="5074920" y="3154680"/>
          <a:ext cx="3566160" cy="1508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31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106424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3" name="Image 1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2170" y="17607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8505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2170" y="224847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78505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02170" y="273615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78505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02170" y="322383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8505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02170" y="371151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8505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2170" y="4199191"/>
            <a:ext cx="73152" cy="73152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8505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7607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61188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24847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61188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73615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61188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22383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28"/>
          <p:cNvSpPr/>
          <p:nvPr/>
        </p:nvSpPr>
        <p:spPr>
          <a:xfrm>
            <a:off x="361188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71151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0"/>
          <p:cNvSpPr/>
          <p:nvPr/>
        </p:nvSpPr>
        <p:spPr>
          <a:xfrm>
            <a:off x="361188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199191"/>
            <a:ext cx="73152" cy="7315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361188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61188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7607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7"/>
          <p:cNvSpPr/>
          <p:nvPr/>
        </p:nvSpPr>
        <p:spPr>
          <a:xfrm>
            <a:off x="6446520" y="15535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24847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9"/>
          <p:cNvSpPr/>
          <p:nvPr/>
        </p:nvSpPr>
        <p:spPr>
          <a:xfrm>
            <a:off x="6446520" y="204120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73615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1"/>
          <p:cNvSpPr/>
          <p:nvPr/>
        </p:nvSpPr>
        <p:spPr>
          <a:xfrm>
            <a:off x="6446520" y="252888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22383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3"/>
          <p:cNvSpPr/>
          <p:nvPr/>
        </p:nvSpPr>
        <p:spPr>
          <a:xfrm>
            <a:off x="6446520" y="301656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71151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5"/>
          <p:cNvSpPr/>
          <p:nvPr/>
        </p:nvSpPr>
        <p:spPr>
          <a:xfrm>
            <a:off x="6446520" y="350424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199191"/>
            <a:ext cx="73152" cy="7315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7"/>
          <p:cNvSpPr/>
          <p:nvPr/>
        </p:nvSpPr>
        <p:spPr>
          <a:xfrm>
            <a:off x="6446520" y="3991927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072134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1191006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аномалій у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фінансових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транзакціях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7607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комбінація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Autoencoder та Isolation Forest для fraud detection»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7607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відтоку клієнтів (churn prediction)»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57607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когортний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аналіз для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клієнтів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7607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uk-UA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етичні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питання використання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персональних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даних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3246120" y="1072134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1191006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цивільна дієздатність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фізичної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особи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341071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«з якого віку настає повна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цивільна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дієздатність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2"/>
          <p:cNvSpPr/>
          <p:nvPr/>
        </p:nvSpPr>
        <p:spPr>
          <a:xfrm>
            <a:off x="341071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підстави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обмеження цивільної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дієздатності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судом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4"/>
          <p:cNvSpPr/>
          <p:nvPr/>
        </p:nvSpPr>
        <p:spPr>
          <a:xfrm>
            <a:off x="341071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поняття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юридичної особи та порядок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її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реєстрації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341071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входить до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складу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спадщини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1072134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8"/>
          <p:cNvSpPr/>
          <p:nvPr/>
        </p:nvSpPr>
        <p:spPr>
          <a:xfrm>
            <a:off x="6080760" y="1072134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5352" y="1191006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1072134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75793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серцево-судинна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21513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2"/>
          <p:cNvSpPr/>
          <p:nvPr/>
        </p:nvSpPr>
        <p:spPr>
          <a:xfrm>
            <a:off x="6245352" y="227914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 функції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серця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736342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6245352" y="280035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що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таке артеріальний тиск і як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він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регулюється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25755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6245352" y="332155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велике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і мале коло кровообігу —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відмінності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77875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8"/>
          <p:cNvSpPr/>
          <p:nvPr/>
        </p:nvSpPr>
        <p:spPr>
          <a:xfrm>
            <a:off x="6245352" y="384276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будова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дихальної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людини</a:t>
            </a: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</a:t>
            </a:r>
            <a:endParaRPr lang="en-US" sz="950" dirty="0"/>
          </a:p>
        </p:txBody>
      </p:sp>
      <p:pic>
        <p:nvPicPr>
          <p:cNvPr id="46" name="Image 3" descr="D:\repos\kb-semantic-search-benchmark\thesis\scripts\_logo_he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647344352"/>
              </p:ext>
            </p:extLst>
          </p:nvPr>
        </p:nvGraphicFramePr>
        <p:xfrm>
          <a:off x="502920" y="1371600"/>
          <a:ext cx="55778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357884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92240" y="132130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12748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068312" y="132130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213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66878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492240" y="163220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23644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68312" y="16322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3220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1979676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6492240" y="19431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34540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7068312" y="19431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431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2905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6492240" y="22539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45436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068312" y="22539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2539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014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6492240" y="25648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656332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068312" y="25648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5648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0020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04622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/>
          <p:cNvGraphicFramePr/>
          <p:nvPr/>
        </p:nvGraphicFramePr>
        <p:xfrm>
          <a:off x="502920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/>
          <p:cNvGraphicFramePr/>
          <p:nvPr/>
        </p:nvGraphicFramePr>
        <p:xfrm>
          <a:off x="4745736" y="1271016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/>
          <p:cNvGraphicFramePr/>
          <p:nvPr/>
        </p:nvGraphicFramePr>
        <p:xfrm>
          <a:off x="502920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/>
          <p:cNvGraphicFramePr/>
          <p:nvPr/>
        </p:nvGraphicFramePr>
        <p:xfrm>
          <a:off x="4745736" y="3250692"/>
          <a:ext cx="3895344" cy="14036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pic>
        <p:nvPicPr>
          <p:cNvPr id="17" name="Image 0" descr="D:\repos\kb-semantic-search-benchmark\thesis\scripts\_logo_hex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21488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36829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nDCG, MRR, Recall на технічному і медичному доменах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280035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01980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40080" y="345186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67131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640080" y="410337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322826"/>
            <a:ext cx="3566160" cy="2674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/>
          <p:cNvGraphicFramePr/>
          <p:nvPr>
            <p:extLst>
              <p:ext uri="{D42A27DB-BD31-4B8C-83A1-F6EECF244321}">
                <p14:modId xmlns:p14="http://schemas.microsoft.com/office/powerpoint/2010/main" val="666642990"/>
              </p:ext>
            </p:extLst>
          </p:nvPr>
        </p:nvGraphicFramePr>
        <p:xfrm>
          <a:off x="4617720" y="1325880"/>
          <a:ext cx="402336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28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/>
          <p:cNvGraphicFramePr/>
          <p:nvPr>
            <p:extLst>
              <p:ext uri="{D42A27DB-BD31-4B8C-83A1-F6EECF244321}">
                <p14:modId xmlns:p14="http://schemas.microsoft.com/office/powerpoint/2010/main" val="1808882803"/>
              </p:ext>
            </p:extLst>
          </p:nvPr>
        </p:nvGraphicFramePr>
        <p:xfrm>
          <a:off x="502920" y="1325880"/>
          <a:ext cx="5120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 5"/>
          <p:cNvSpPr/>
          <p:nvPr/>
        </p:nvSpPr>
        <p:spPr>
          <a:xfrm>
            <a:off x="861538" y="231717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88720" y="1765301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691640" y="2501307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487839" y="157613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69561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 flipV="1">
            <a:off x="1128238" y="2010703"/>
            <a:ext cx="621445" cy="367246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 flipV="1">
            <a:off x="1749682" y="1835532"/>
            <a:ext cx="1336326" cy="17517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лідер якості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6062472" y="1490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 = 0.672  ·  ~228 мс  ·  основний вибір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sweet spot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062472" y="21762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мс  ·  3× швидше за BGE-M3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 ·  baseline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6062472" y="2862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  ·  найвища nDCG ~0.49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Спеціалізована  ·  лідер на Legal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062472" y="35478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0.320 на Legal  ·  на Tech домінується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5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рекомендується  ·  домінується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062472" y="42336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BM25 за якістю</a:t>
            </a:r>
            <a:endParaRPr lang="en-US" sz="900" dirty="0"/>
          </a:p>
        </p:txBody>
      </p:sp>
      <p:pic>
        <p:nvPicPr>
          <p:cNvPr id="42" name="Image 0" descr="D:\repos\kb-semantic-search-benchmark\thesis\scripts\_logo_h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3" name="Text 39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Висновки та результати дослідження</a:t>
            </a:r>
            <a:endParaRPr lang="uk-UA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uk-UA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Embedding-моделі статистично значуще переважають BM25 для україномовного семантичного пошуку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за nDCG@10 у tech (0.672) і medical (0.434), топ-2 у legal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на ~10% нижча за BGE-M3, ~3× швидше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Найшвидша (1–3 мс/запит) — у &gt;100× швидше за BGE-M3</a:t>
            </a:r>
            <a:endParaRPr lang="en-US" sz="1000" dirty="0"/>
          </a:p>
        </p:txBody>
      </p:sp>
      <p:pic>
        <p:nvPicPr>
          <p:cNvPr id="39" name="Image 5" descr="D:\repos\kb-semantic-search-benchmark\thesis\scripts\_logo_hex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769346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blurRad="76200" dist="12700" dir="54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r>
              <a:rPr lang="uk-UA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82B0C7-C83A-421B-B8E6-44C0B75292E9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48b6b9b2-9153-4bc5-8b95-d349cce7ec1d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3168</Words>
  <Application>Microsoft Office PowerPoint</Application>
  <PresentationFormat>On-screen Show (16:9)</PresentationFormat>
  <Paragraphs>499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Віталій Нестеренко</cp:lastModifiedBy>
  <cp:revision>30</cp:revision>
  <dcterms:created xsi:type="dcterms:W3CDTF">2026-05-07T21:01:42Z</dcterms:created>
  <dcterms:modified xsi:type="dcterms:W3CDTF">2026-05-17T15:31:46Z</dcterms:modified>
</cp:coreProperties>
</file>
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5"/>
    <p:sldId id="270" r:id="rId16"/>
    <p:sldId id="271" r:id="rId17"/>
    <p:sldId id="274" r:id="rId18"/>
    <p:sldId id="272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0889" autoAdjust="0"/>
  </p:normalViewPr>
  <p:slideViewPr>
    <p:cSldViewPr snapToGrid="0" snapToObjects="1">
      <p:cViewPr varScale="1">
        <p:scale>
          <a:sx n="130" d="100"/>
          <a:sy n="130" d="100"/>
        </p:scale>
        <p:origin x="13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BGE-M3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BGE-M3</c:v>
                </c:pt>
                <c:pt idx="1">
                  <c:v>E5-base</c:v>
                </c:pt>
                <c:pt idx="2">
                  <c:v>nomic</c:v>
                </c:pt>
                <c:pt idx="3">
                  <c:v>Qwen3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83-4DD8-B773-A9C507FB41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E5-base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BGE-M3</c:v>
                </c:pt>
                <c:pt idx="1">
                  <c:v>E5-base</c:v>
                </c:pt>
                <c:pt idx="2">
                  <c:v>nomic</c:v>
                </c:pt>
                <c:pt idx="3">
                  <c:v>Qwen3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1">
                  <c:v>278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83-4DD8-B773-A9C507FB410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nomic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BGE-M3</c:v>
                </c:pt>
                <c:pt idx="1">
                  <c:v>E5-base</c:v>
                </c:pt>
                <c:pt idx="2">
                  <c:v>nomic</c:v>
                </c:pt>
                <c:pt idx="3">
                  <c:v>Qwen3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2">
                  <c:v>137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F83-4DD8-B773-A9C507FB410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BGE-M3</c:v>
                </c:pt>
                <c:pt idx="1">
                  <c:v>E5-base</c:v>
                </c:pt>
                <c:pt idx="2">
                  <c:v>nomic</c:v>
                </c:pt>
                <c:pt idx="3">
                  <c:v>Qwen3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3">
                  <c:v>596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F83-4DD8-B773-A9C507FB41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BGE-M3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BGE-M3</c:v>
                </c:pt>
                <c:pt idx="1">
                  <c:v>E5-base</c:v>
                </c:pt>
                <c:pt idx="2">
                  <c:v>nomic</c:v>
                </c:pt>
                <c:pt idx="3">
                  <c:v>Qwen3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62-4700-908D-E5B980CD3B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E5-base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BGE-M3</c:v>
                </c:pt>
                <c:pt idx="1">
                  <c:v>E5-base</c:v>
                </c:pt>
                <c:pt idx="2">
                  <c:v>nomic</c:v>
                </c:pt>
                <c:pt idx="3">
                  <c:v>Qwen3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1">
                  <c:v>512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62-4700-908D-E5B980CD3B4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nomic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BGE-M3</c:v>
                </c:pt>
                <c:pt idx="1">
                  <c:v>E5-base</c:v>
                </c:pt>
                <c:pt idx="2">
                  <c:v>nomic</c:v>
                </c:pt>
                <c:pt idx="3">
                  <c:v>Qwen3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2">
                  <c:v>8192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362-4700-908D-E5B980CD3B4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BGE-M3</c:v>
                </c:pt>
                <c:pt idx="1">
                  <c:v>E5-base</c:v>
                </c:pt>
                <c:pt idx="2">
                  <c:v>nomic</c:v>
                </c:pt>
                <c:pt idx="3">
                  <c:v>Qwen3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3">
                  <c:v>32768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362-4700-908D-E5B980CD3B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nDCG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</c:v>
                </c:pt>
                <c:pt idx="1">
                  <c:v>0.3</c:v>
                </c:pt>
                <c:pt idx="2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5A-4EF2-97DD-E9731D1D6D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</c:v>
                </c:pt>
                <c:pt idx="1">
                  <c:v>0.3</c:v>
                </c:pt>
                <c:pt idx="2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5A-4EF2-97DD-E9731D1D6D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0.25</c:v>
                </c:pt>
                <c:pt idx="1">
                  <c:v>0.2</c:v>
                </c:pt>
                <c:pt idx="2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95A-4EF2-97DD-E9731D1D6D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P@k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0.05</c:v>
                </c:pt>
                <c:pt idx="1">
                  <c:v>0.1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95A-4EF2-97DD-E9731D1D6D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Latency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0.2</c:v>
                </c:pt>
                <c:pt idx="1">
                  <c:v>0.1</c:v>
                </c:pt>
                <c:pt idx="2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95A-4EF2-97DD-E9731D1D6D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475569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BGE-M3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0.67220000000000002</c:v>
                </c:pt>
                <c:pt idx="1">
                  <c:v>0.30649999999999999</c:v>
                </c:pt>
                <c:pt idx="2">
                  <c:v>0.43390000000000001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43-4127-A631-8D360886C9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Qwen3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0.63249999999999995</c:v>
                </c:pt>
                <c:pt idx="1">
                  <c:v>0.31990000000000002</c:v>
                </c:pt>
                <c:pt idx="2">
                  <c:v>0.3629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43-4127-A631-8D360886C94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E5-base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0.61209999999999998</c:v>
                </c:pt>
                <c:pt idx="1">
                  <c:v>0.25669999999999998</c:v>
                </c:pt>
                <c:pt idx="2">
                  <c:v>0.39090000000000003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943-4127-A631-8D360886C94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BM25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0.48609999999999998</c:v>
                </c:pt>
                <c:pt idx="1">
                  <c:v>0.1875</c:v>
                </c:pt>
                <c:pt idx="2">
                  <c:v>0.32219999999999999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943-4127-A631-8D360886C94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nomic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0.3765</c:v>
                </c:pt>
                <c:pt idx="1">
                  <c:v>9.5100000000000004E-2</c:v>
                </c:pt>
                <c:pt idx="2">
                  <c:v>0.1668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943-4127-A631-8D360886C9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877350372187083"/>
          <c:y val="0.92613188976377958"/>
          <c:w val="0.54245299255625834"/>
          <c:h val="7.3868110236220474E-2"/>
        </c:manualLayout>
      </c:layout>
      <c:overlay val="0"/>
      <c:txPr>
        <a:bodyPr/>
        <a:lstStyle/>
        <a:p>
          <a:pPr>
            <a:defRPr sz="1000">
              <a:solidFill>
                <a:srgbClr val="1E29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BGE-M3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0.67220000000000002</c:v>
                </c:pt>
                <c:pt idx="1">
                  <c:v>0.30649999999999999</c:v>
                </c:pt>
                <c:pt idx="2">
                  <c:v>0.43390000000000001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BD-4532-ACC4-EE90240829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Qwen3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0.63249999999999995</c:v>
                </c:pt>
                <c:pt idx="1">
                  <c:v>0.31990000000000002</c:v>
                </c:pt>
                <c:pt idx="2">
                  <c:v>0.3629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BD-4532-ACC4-EE90240829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E5-base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0.61209999999999998</c:v>
                </c:pt>
                <c:pt idx="1">
                  <c:v>0.25669999999999998</c:v>
                </c:pt>
                <c:pt idx="2">
                  <c:v>0.39090000000000003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BD-4532-ACC4-EE902408296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BM25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0.48609999999999998</c:v>
                </c:pt>
                <c:pt idx="1">
                  <c:v>0.1875</c:v>
                </c:pt>
                <c:pt idx="2">
                  <c:v>0.32219999999999999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1BD-4532-ACC4-EE902408296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nomic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0.3765</c:v>
                </c:pt>
                <c:pt idx="1">
                  <c:v>9.5100000000000004E-2</c:v>
                </c:pt>
                <c:pt idx="2">
                  <c:v>0.1668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1BD-4532-ACC4-EE90240829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solidFill>
                <a:srgbClr val="475569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BGE-M3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0.69930000000000003</c:v>
                </c:pt>
                <c:pt idx="1">
                  <c:v>0.3831</c:v>
                </c:pt>
                <c:pt idx="2">
                  <c:v>0.50539999999999996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33-4F30-82BB-1B0A7ED6A7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Qwen3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0.66600000000000004</c:v>
                </c:pt>
                <c:pt idx="1">
                  <c:v>0.4022</c:v>
                </c:pt>
                <c:pt idx="2">
                  <c:v>0.42559999999999998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33-4F30-82BB-1B0A7ED6A74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E5-base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0.64500000000000002</c:v>
                </c:pt>
                <c:pt idx="1">
                  <c:v>0.33179999999999998</c:v>
                </c:pt>
                <c:pt idx="2">
                  <c:v>0.4647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E33-4F30-82BB-1B0A7ED6A74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BM25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0.48080000000000001</c:v>
                </c:pt>
                <c:pt idx="1">
                  <c:v>0.25330000000000003</c:v>
                </c:pt>
                <c:pt idx="2">
                  <c:v>0.40029999999999999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E33-4F30-82BB-1B0A7ED6A74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nomic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0.42499999999999999</c:v>
                </c:pt>
                <c:pt idx="1">
                  <c:v>0.14319999999999999</c:v>
                </c:pt>
                <c:pt idx="2">
                  <c:v>0.2167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E33-4F30-82BB-1B0A7ED6A7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BGE-M3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0.81499999999999995</c:v>
                </c:pt>
                <c:pt idx="1">
                  <c:v>0.375</c:v>
                </c:pt>
                <c:pt idx="2">
                  <c:v>0.54500000000000004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F8-4013-B006-5F01937E39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Qwen3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0.76</c:v>
                </c:pt>
                <c:pt idx="1">
                  <c:v>0.38500000000000001</c:v>
                </c:pt>
                <c:pt idx="2">
                  <c:v>0.47170000000000001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F8-4013-B006-5F01937E397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E5-base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0.74580000000000002</c:v>
                </c:pt>
                <c:pt idx="1">
                  <c:v>0.33</c:v>
                </c:pt>
                <c:pt idx="2">
                  <c:v>0.505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F8-4013-B006-5F01937E397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BM25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0.75419999999999998</c:v>
                </c:pt>
                <c:pt idx="1">
                  <c:v>0.23330000000000001</c:v>
                </c:pt>
                <c:pt idx="2">
                  <c:v>0.39829999999999999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DF8-4013-B006-5F01937E397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nomic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0.4783</c:v>
                </c:pt>
                <c:pt idx="1">
                  <c:v>0.125</c:v>
                </c:pt>
                <c:pt idx="2">
                  <c:v>0.23330000000000001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DF8-4013-B006-5F01937E39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BGE-M3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0.14299999999999999</c:v>
                </c:pt>
                <c:pt idx="1">
                  <c:v>0.106</c:v>
                </c:pt>
                <c:pt idx="2">
                  <c:v>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5-4DB2-9772-1A1C6FC68D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Qwen3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0.13800000000000001</c:v>
                </c:pt>
                <c:pt idx="1">
                  <c:v>0.11</c:v>
                </c:pt>
                <c:pt idx="2">
                  <c:v>0.129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35-4DB2-9772-1A1C6FC68D2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E5-base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0.13900000000000001</c:v>
                </c:pt>
                <c:pt idx="1">
                  <c:v>8.8999999999999996E-2</c:v>
                </c:pt>
                <c:pt idx="2">
                  <c:v>0.13400000000000001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535-4DB2-9772-1A1C6FC68D2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BM25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0.13400000000000001</c:v>
                </c:pt>
                <c:pt idx="1">
                  <c:v>6.4000000000000001E-2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35-4DB2-9772-1A1C6FC68D2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nomic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0.09</c:v>
                </c:pt>
                <c:pt idx="1">
                  <c:v>2.7E-2</c:v>
                </c:pt>
                <c:pt idx="2">
                  <c:v>5.3999999999999999E-2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35-4DB2-9772-1A1C6FC68D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6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BGE-M3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0.90400000000000003</c:v>
                </c:pt>
                <c:pt idx="1">
                  <c:v>0.872</c:v>
                </c:pt>
                <c:pt idx="2">
                  <c:v>0.91200000000000003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0B-4BF9-84F2-58BA670663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Qwen3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0.82499999999999996</c:v>
                </c:pt>
                <c:pt idx="1">
                  <c:v>0.91400000000000003</c:v>
                </c:pt>
                <c:pt idx="2">
                  <c:v>0.80200000000000005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0B-4BF9-84F2-58BA6706632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E5-base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0.875</c:v>
                </c:pt>
                <c:pt idx="1">
                  <c:v>0.84399999999999997</c:v>
                </c:pt>
                <c:pt idx="2">
                  <c:v>0.90100000000000002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60B-4BF9-84F2-58BA6706632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BM25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0.79500000000000004</c:v>
                </c:pt>
                <c:pt idx="1">
                  <c:v>0.74099999999999999</c:v>
                </c:pt>
                <c:pt idx="2">
                  <c:v>0.81699999999999995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60B-4BF9-84F2-58BA6706632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nomic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Технічний</c:v>
                </c:pt>
                <c:pt idx="1">
                  <c:v>Юридичний</c:v>
                </c:pt>
                <c:pt idx="2">
                  <c:v>Медичний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0.61099999999999999</c:v>
                </c:pt>
                <c:pt idx="1">
                  <c:v>0.503</c:v>
                </c:pt>
                <c:pt idx="2">
                  <c:v>0.56799999999999995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0B-4BF9-84F2-58BA670663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6161317903443886"/>
          <c:y val="0.92906699162604656"/>
          <c:w val="0.67677339338264531"/>
          <c:h val="7.0933008373953249E-2"/>
        </c:manualLayout>
      </c:layout>
      <c:overlay val="0"/>
      <c:txPr>
        <a:bodyPr/>
        <a:lstStyle/>
        <a:p>
          <a:pPr>
            <a:defRPr sz="900">
              <a:solidFill>
                <a:srgbClr val="1E29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nDCG@10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14"/>
            <c:spPr>
              <a:solidFill>
                <a:srgbClr val="1E40AF"/>
              </a:solidFill>
              <a:ln w="9525" cap="flat">
                <a:solidFill>
                  <a:srgbClr val="1E40AF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0.4</c:v>
                </c:pt>
                <c:pt idx="1">
                  <c:v>70.900000000000006</c:v>
                </c:pt>
                <c:pt idx="2">
                  <c:v>124.8</c:v>
                </c:pt>
                <c:pt idx="3">
                  <c:v>222.5</c:v>
                </c:pt>
                <c:pt idx="4">
                  <c:v>463.4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0.48609999999999998</c:v>
                </c:pt>
                <c:pt idx="1">
                  <c:v>0.61209999999999998</c:v>
                </c:pt>
                <c:pt idx="2">
                  <c:v>0.3765</c:v>
                </c:pt>
                <c:pt idx="3">
                  <c:v>0.67220000000000002</c:v>
                </c:pt>
                <c:pt idx="4">
                  <c:v>0.63249999999999995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F12-4E1E-8CBB-62E4699DED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5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475569"/>
                    </a:solidFill>
                    <a:latin typeface="Calibri"/>
                  </a:defRPr>
                </a:pPr>
                <a:r>
                  <a:rPr lang="en-US" sz="900" b="0" i="0" u="none" strike="noStrike">
                    <a:solidFill>
                      <a:srgbClr val="475569"/>
                    </a:solidFill>
                    <a:latin typeface="Calibri"/>
                  </a:rPr>
                  <a:t>ms / </a:t>
                </a:r>
                <a:r>
                  <a:rPr lang="ru-RU" sz="900" b="0" i="0" u="none" strike="noStrike">
                    <a:solidFill>
                      <a:srgbClr val="475569"/>
                    </a:solidFill>
                    <a:latin typeface="Calibri"/>
                  </a:rPr>
                  <a:t>запит (нижче — краще)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475569"/>
                    </a:solidFill>
                    <a:latin typeface="Calibri"/>
                  </a:defRPr>
                </a:pPr>
                <a:r>
                  <a:rPr lang="en-US" sz="900" b="0" i="0" u="none" strike="noStrike">
                    <a:solidFill>
                      <a:srgbClr val="475569"/>
                    </a:solidFill>
                    <a:latin typeface="Calibri"/>
                  </a:rPr>
                  <a:t>nDCG@10 (</a:t>
                </a:r>
                <a:r>
                  <a:rPr lang="ru-RU" sz="900" b="0" i="0" u="none" strike="noStrike">
                    <a:solidFill>
                      <a:srgbClr val="475569"/>
                    </a:solidFill>
                    <a:latin typeface="Calibri"/>
                  </a:rPr>
                  <a:t>вище — краще)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F8FAF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4047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0:00 – 0:26  ·  слайд 1/17</a:t>
            </a:r>
            <a:endParaRPr lang="en-US" dirty="0"/>
          </a:p>
          <a:p>
            <a:r>
              <a:t>Шановні члени екзаменаційної комісії, шановний головуючий! Вашій увазі представляється кваліфікаційна магістерська робота на тему «Дослідження моделей векторних ембеддінгів для семантичного пошуку текстових даних у корпоративних базах знань». Виконав здобувач групи ІПЗм-24-1 Нестеренко Віталій Вячеславович. Науковий керівник — кандидат технічних наук, доцент Русакова Наталія Євгенівна.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0:26 – 1:07  ·  слайд 2/17</a:t>
            </a:r>
            <a:endParaRPr lang="en-US" dirty="0"/>
          </a:p>
          <a:p/>
          <a:p>
            <a:r>
              <a:t>Розпочнемо з актуальності. Обсяги корпоративної текстової інформації стрімко зростають, а традиційний лексичний пошук погано працює з синонімією, перефразуванням і мультимовним контентом. Сучасні embedding-моделі дозволяють шукати за змістом, а не за збігом слів.</a:t>
            </a:r>
          </a:p>
          <a:p>
            <a:r>
              <a:t>Мета — визначити найбільш придатну embedding-модель для україномовного семантичного пошуку у корпоративних базах знань на основі експериментального порівняння та багатокритеріального аналізу.</a:t>
            </a:r>
          </a:p>
          <a:p>
            <a:r>
              <a:t>Об'єкт дослідження — процеси векторних подань тексту; предмет — самі embedding-моделі для корпоративних баз знань.</a:t>
            </a:r>
          </a:p>
          <a:p>
            <a:r>
              <a:t>Поставлено шість задач.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1:07 – 1:35  ·  слайд 3/17</a:t>
            </a:r>
            <a:endParaRPr lang="en-US" dirty="0"/>
          </a:p>
          <a:p>
            <a:r>
              <a:t>Які підходи вже досліджено в літературі? Огляд літератури охоплює період 2013–2025 — від статистичних подань Word2Vec через контекстний BERT і Sentence-BERT, до сучасних мультимовних моделей: E5, BGE-M3, nomic та Qwen3-Embedding. Усього опрацьовано 29 джерел. Виявлено ключову дослідницьку прогалину: відсутність порівняльних досліджень embedding-моделей саме на україномовних доменно-специфічних колекціях.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1:35 – 2:13  ·  слайд 4/17</a:t>
            </a:r>
            <a:endParaRPr lang="en-US" dirty="0"/>
          </a:p>
          <a:p/>
          <a:p>
            <a:r>
              <a:t>Виявлена прогалина веде до постановки задачі. Постановка задачі: просто застосувати embedding-модель недостатньо — треба обґрунтовано обрати ту, що забезпечує баланс між якістю пошуку, швидкодією, ресурсами, мовною підтримкою та типом колекції.</a:t>
            </a:r>
          </a:p>
          <a:p>
            <a:r>
              <a:t>П'ять очікуваних результатів: повноцінна система семантичного пошуку з підтримкою PDF, DOCX, TXT, Markdown; україномовний benchmark з трьох доменів; кількісне порівняння чотирьох embedding-моделей та BM25; багатокритеріальний вибір за Парето-фронтом і лінійною згорткою; обґрунтовані рекомендації для впровадження.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2:13 – 2:47  ·  слайд 5/17</a:t>
            </a:r>
            <a:endParaRPr lang="en-US" dirty="0"/>
          </a:p>
          <a:p>
            <a:r>
              <a:t>Розглянемо, які саме моделі дослідимо. Для дослідження обрано чотири моделі різних архітектур. BGE-M3 — 568 мільйонів параметрів, контекст 8192 токенів, мультифункціональна (dense, sparse, multi-vector). E5-base — 278 мільйонів параметрів, контекст 512, з обов'язковими префіксами query та passage. Nomic-embed v1.5 — найменша, 137 мільйонів, з технікою Matryoshka. Qwen3-Embedding-0.6B — 596 мільйонів, контекст 32 тисячі токенів, єдина побудована на декодерній LLM-архітектурі.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2:47 – 3:22  ·  слайд 6/17</a:t>
            </a:r>
            <a:endParaRPr lang="en-US" dirty="0"/>
          </a:p>
          <a:p/>
          <a:p>
            <a:r>
              <a:t>Як порівнюватимемо ці п'ять моделей? Оцінювання базується на чотирьох метриках retrieval-якості: nDCG@10 — якість ранжування; MRR@10 — позиція першого релевантного; Recall@10 — повнота; Precision@10 — точність. Окремо вимірюється швидкодія в мілісекундах.</a:t>
            </a:r>
          </a:p>
          <a:p>
            <a:r>
              <a:t>Для статистичної значущості — три методи аналізу: бутстреп-довірчі інтервали (2000 повторних вибірок, 95% CI); Парето-домінування для виявлення недомінованих альтернатив; лінійна адитивна згортка для інтегральної оцінки з ваговими коефіцієнтами.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3:22 – 3:53  ·  слайд 7/17</a:t>
            </a:r>
            <a:endParaRPr lang="en-US" dirty="0"/>
          </a:p>
          <a:p>
            <a:r>
              <a:t>Стисло про формули. nDCG@k — нормалізована якість ранжування, DCG поділене на ідеальне DCG; враховує і релевантність, і позицію. MRR — середня обернена позиція першого релевантного документа. Recall@k — частка знайдених релевантних серед усіх релевантних. Precision@k — частка релевантних серед перших k результатів. Усі метрики від 0 до 1; що вище — то краще.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3:53 – 4:37  ·  слайд 8/17</a:t>
            </a:r>
            <a:endParaRPr lang="en-US" dirty="0"/>
          </a:p>
          <a:p>
            <a:r>
              <a:t>Окремих метрик недостатньо — потрібно об'єднати їх в одне число. Багатокритеріальний вибір реалізовано у три кроки. Перший — Парето-домінування: відсіюємо альтернативи, які гірші за іншу одразу за всіма критеріями. Другий — нормалізація: приведення всіх критеріїв до спільної шкали від 0 до 1 з урахуванням напряму оптимізації. Третій — лінійна адитивна згортка: інтегральна оцінка U — це сума добутків ваг на нормалізовані значення; сума ваг дорівнює одиниці. Ваги задає користувач залежно від пріоритетів — якість, швидкодія, ресурси.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4:37 – 5:17  ·  слайд 9/17</a:t>
            </a:r>
            <a:endParaRPr lang="en-US" dirty="0"/>
          </a:p>
          <a:p/>
          <a:p>
            <a:r>
              <a:t>Як це реалізовано архітектурно? Архітектура у вигляді pipeline. На вході — PDF, DOCX, TXT або Markdown. Документи розбиваються на чанки ~600 слів з перекриттям. Далі чанк перетворюється на вектор однією з чотирьох embedding-моделей, L2-нормалізується та індексується у FAISS — точний IndexFlatIP, що для нормалізованих векторів еквівалентне косинусній мірі. Запит проходить ту саму обробку — повертаються топ-K найрелевантніших чанків. Усе обгорнуто у Flask. Основні модулі: build_index, evaluate_benchmark, embedding_models,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5:17 – 5:37  ·  слайд 10/17</a:t>
            </a:r>
            <a:endParaRPr lang="en-US" dirty="0"/>
          </a:p>
          <a:p>
            <a:r>
              <a:t>Технологічний стек, на якому це побудовано. Програмне забезпечення: Python 3.11, sentence-transformers, transformers від Hugging Face, PyTorch у CPU-режимі, FAISS і rank_bm25 для retrieval, Flask для веб-частини, NumPy і scikit-learn для аналізу, бутстреп-CI власної реалізації.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5:37 – 6:28  ·  слайд 11/17</a:t>
            </a:r>
            <a:endParaRPr lang="en-US" dirty="0"/>
          </a:p>
          <a:p>
            <a:r>
              <a:t>На якому датасеті випробували методологію? Власноруч сформовано україномовний benchmark з трьох предметних доменів. Усього — 32 документи, 300 запитів. Якорі релевантності — qrels — сформовано вручну.</a:t>
            </a:r>
          </a:p>
          <a:p>
            <a:r>
              <a:t>Технічний домен: 10 документів з тематики програмної інженерії, машинного навчання, систем RAG, виявлення аномалій, 3D-друку та лідарних систем — 100 запитів.</a:t>
            </a:r>
          </a:p>
          <a:p>
            <a:r>
              <a:t>Юридичний домен: 13 документів — кодекси України, нормативно-правові акти, законодавчі тексти — 100 запитів.</a:t>
            </a:r>
          </a:p>
          <a:p>
            <a:r>
              <a:t>Медичний домен: 9 документів — клінічні протоколи та медичні рекомендації — 100 запитів. У кожному домені по 100 україномовних запитів з ручною розміткою релевантних чанків.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6:28 – 6:45  ·  слайд 12/17</a:t>
            </a:r>
            <a:endParaRPr lang="en-US" dirty="0"/>
          </a:p>
          <a:p>
            <a:r>
              <a:t>Приклади запитів — у технічному домені про відтік клієнтів і аномалії; у юридичному — про цивільну дієздатність і спадщину; у медичному — про будову серця і кровообіг. Реальні питання користувачів.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6:15 – 6:59  ·  слайд 13/18</a:t>
            </a:r>
            <a:endParaRPr lang="en-US" dirty="0"/>
          </a:p>
          <a:p>
            <a:endParaRPr lang="en-US" dirty="0"/>
          </a:p>
          <a:p>
            <a:r>
              <a:t>Що дав запуск benchmark на 300 запитах? Головні результати. У таблиці — середнє nDCG@10 по трьох доменах. Перше — BGE-M3 з 0.4708. Друге — Qwen3 з 0.4385. Третє — E5-base з 0.4199. Четверте — BM25 з 0.3319. Останнє — nomic з 0.2128, навіть нижче BM25.</a:t>
            </a:r>
          </a:p>
          <a:p>
            <a:r>
              <a:t>Ключовий висновок: три з чотирьох embedding-моделей перевершують BM25.</a:t>
            </a:r>
          </a:p>
          <a:p>
            <a:r>
              <a:t>Статистична значущість підтверджена бутстрепом (2000 вибірок). На технічному домені 95% CI для BGE-M3 — 0.606–0.737, для BM25 — 0.431–0.541. Інтервали не перетинаються — перевага семантичного пошуку статистично значуща.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6:45 – 7:11  ·  слайд 13/17</a:t>
            </a:r>
            <a:endParaRPr lang="en-US" dirty="0"/>
          </a:p>
          <a:p>
            <a:r>
              <a:t>За окремими доменами картина така. Деталізовані метрики у розрізі трьох доменів — nDCG, MRR, Recall, Precision. Лідерство BGE-M3 послідовне за всіма чотирма метриками — це підтверджує робастність результату. На юридичному домені усі моделі показують нижчі значення — він складніший через формальний стиль і вузькоспеціалізовану термінологію.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7:11 – 7:51  ·  слайд 14/17</a:t>
            </a:r>
            <a:endParaRPr lang="en-US" dirty="0"/>
          </a:p>
          <a:p>
            <a:r>
              <a:t>Переходимо до інтегральної оцінки. Результати багатокритеріального вибору. Парето-оптимальна множина — BGE-M3, E5-base та BM25: три з п'яти моделей не домінуються жодною. BGE-M3 — лідер за nDCG, MRR, Recall на технічному і медичному доменах. E5-base — швидка альтернатива: 70 мілісекунд проти 228 у BGE-M3, тобто у три рази швидше. Qwen3 — лідер на юридичному (nDCG 0.320), але удвічі повільніший. Nomic — найслабші результати, в окремих доменах поступається навіть BM25.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7:51 – 8:41  ·  слайд 15/17</a:t>
            </a:r>
            <a:endParaRPr lang="en-US" dirty="0"/>
          </a:p>
          <a:p>
            <a:r>
              <a:t>Той самий аналіз — у вигляді графіка. Компроміс якості та швидкодії на технічному домені. По осі X — час відповіді, по осі Y — nDCG@10. Парето-фронт виділено пунктиром.</a:t>
            </a:r>
          </a:p>
          <a:p>
            <a:r>
              <a:t>BGE-M3 — Парето-оптимальна, лідер якості: nDCG 0.672, ~228 мілісекунд. Основний вибір для впровадження.</a:t>
            </a:r>
          </a:p>
          <a:p>
            <a:r>
              <a:t>E5-base — Парето-оптимальна: ~70 мілісекунд, утричі швидше за BGE-M3 при якості на ~10% нижчій.</a:t>
            </a:r>
          </a:p>
          <a:p>
            <a:r>
              <a:t>BM25 — Парето-оптимальна як baseline: менше 3 мілісекунд, найвища nDCG — ~0.49.</a:t>
            </a:r>
          </a:p>
          <a:p>
            <a:r>
              <a:t>Qwen3 домінується на tech, але кращий на legal. Nomic не рекомендується — повністю домінується, поступається BM25 за якістю.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8:41 – 9:28  ·  слайд 16/17</a:t>
            </a:r>
            <a:endParaRPr lang="en-US" dirty="0"/>
          </a:p>
          <a:p>
            <a:r>
              <a:t>Підсумовуючи: embedding-моделі статистично значуще переважають BM25 для україномовного семантичного пошуку. Сформульовано практичні рекомендації щодо вибору моделі під конкретні умови.</a:t>
            </a:r>
          </a:p>
          <a:p>
            <a:r>
              <a:t>BGE-M3 — основна модель для впровадження: найкраща якість і стабільність у різних доменах.</a:t>
            </a:r>
          </a:p>
          <a:p>
            <a:r>
              <a:t>E5-base — швидка альтернатива: якість на ~10% нижча за BGE-M3, але утричі швидше.</a:t>
            </a:r>
          </a:p>
          <a:p>
            <a:r>
              <a:t>Qwen3 — оптимальний вибір для юридичних колекцій, де він демонструє найвищу якість.</a:t>
            </a:r>
          </a:p>
          <a:p>
            <a:r>
              <a:t>BM25 — залишається конкурентним baseline у певних доменах і за дуже жорстких вимог до швидкості.</a:t>
            </a:r>
          </a:p>
          <a:p>
            <a:r>
              <a:t>Усі задачі, поставлені в роботі, виконано. Мета досягнута.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9:28 – 10:00  ·  слайд 17/17</a:t>
            </a:r>
            <a:endParaRPr lang="en-US" dirty="0"/>
          </a:p>
          <a:p>
            <a:r>
              <a:t>Окремо — про апробацію результатів роботи. Апробація: опубліковано дві наукові праці у співавторстві з науковим керівником. Перша — стаття на 2-й конференції «Innovative Research in Science and Economy» з benchmark-методологією. Друга — тези на 30-му форумі «Радіоелектроніка та молодь у XXI столітті» в ХНУРЕ про підвищення якості retrieval. Загалом — два виступи на міжнародних конференціях.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3.xml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Relationship Id="rId6" Type="http://schemas.openxmlformats.org/officeDocument/2006/relationships/chart" Target="../charts/chart8.xml"/><Relationship Id="rId7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Relationship Id="rId6" Type="http://schemas.openxmlformats.org/officeDocument/2006/relationships/chart" Target="../charts/chart8.xml"/><Relationship Id="rId7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9.xml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10.xml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280160"/>
            <a:ext cx="4023360" cy="402336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80960" y="-640080"/>
            <a:ext cx="2651760" cy="2651760"/>
          </a:xfrm>
          <a:prstGeom prst="ellipse">
            <a:avLst/>
          </a:prstGeom>
          <a:solidFill>
            <a:srgbClr val="1E40A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38160" y="-182880"/>
            <a:ext cx="1463040" cy="1463040"/>
          </a:xfrm>
          <a:prstGeom prst="ellipse">
            <a:avLst/>
          </a:prstGeom>
          <a:solidFill>
            <a:srgbClr val="F59E0B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457200"/>
            <a:ext cx="3840480" cy="310896"/>
          </a:xfrm>
          <a:prstGeom prst="roundRect">
            <a:avLst>
              <a:gd name="adj" fmla="val 47059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МАГІСТЕРСЬКА КВАЛІФІКАЦІЙНА РОБОТА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9601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Дослідження моделей векторних ембеддінгів для семантичного пошуку текстових даних у корпоративних базах знань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11480" y="2912364"/>
            <a:ext cx="73152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30175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Виконав: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Нестеренко Віталій Вячеславович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Група: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ІПЗм-24-1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8862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Науковий керівник:  </a:t>
            </a: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к.т.н., доцент Русакова Наталія Євгенівна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40965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травня 2026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44074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Харків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75320" y="4020247"/>
            <a:ext cx="4572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D:\repos\kb-semantic-search-benchmark\thesis\scripts\_logo_xn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4535424"/>
            <a:ext cx="1975104" cy="438912"/>
          </a:xfrm>
          <a:prstGeom prst="rect">
            <a:avLst/>
          </a:prstGeom>
        </p:spPr>
      </p:pic>
      <p:pic>
        <p:nvPicPr>
          <p:cNvPr id="17" name="Image 1" descr="D:\repos\kb-semantic-search-benchmark\thesis\scripts\_logo_kafed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4317" y="4557369"/>
            <a:ext cx="1975105" cy="395021"/>
          </a:xfrm>
          <a:prstGeom prst="rect">
            <a:avLst/>
          </a:prstGeom>
        </p:spPr>
      </p:pic>
      <p:pic>
        <p:nvPicPr>
          <p:cNvPr id="18" name="Image 2" descr="D:\repos\kb-semantic-search-benchmark\thesis\scripts\_logo_he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19" y="4526124"/>
            <a:ext cx="768096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1 · ДОСЛІДЖЕННЯ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Актуальність, мета та задачі дослідження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777240"/>
          </a:xfrm>
          <a:prstGeom prst="roundRect">
            <a:avLst>
              <a:gd name="adj" fmla="val 7059"/>
            </a:avLst>
          </a:prstGeom>
          <a:solidFill>
            <a:srgbClr val="1E40AF"/>
          </a:solidFill>
          <a:ln w="9525">
            <a:solidFill>
              <a:srgbClr val="1E40AF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005840"/>
            <a:ext cx="736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МЕТА:  </a:t>
            </a: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визначити найбільш придатну embedding-модель для україномовного семантичного пошуку у корпоративних базах знань на основі експериментального порівняння та багатокритеріального аналізу.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1874520"/>
            <a:ext cx="416052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6072" y="19293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6072" y="21122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процеси формування та використання векторних подань текстових даних у системах семантичного пошуку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874520"/>
            <a:ext cx="416052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919472" y="19293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919472" y="21122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моделі векторних ембеддінгів для семантичного пошуку у корпоративних базах знань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148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ЗАДАЧІ ДОСЛІДЖЕННЯ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11480" y="2926080"/>
            <a:ext cx="2682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76072" y="3108960"/>
            <a:ext cx="411480" cy="41148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76072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97280" y="3017520"/>
            <a:ext cx="190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предметної галузі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30880" y="2926080"/>
            <a:ext cx="2682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395472" y="3108960"/>
            <a:ext cx="411480" cy="41148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395472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916680" y="3017520"/>
            <a:ext cx="190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Огляд embedding-моделей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50280" y="2926080"/>
            <a:ext cx="2682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214872" y="3108960"/>
            <a:ext cx="411480" cy="41148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214872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736080" y="3017520"/>
            <a:ext cx="190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Формування benchmark dataset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11480" y="3840480"/>
            <a:ext cx="2682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76072" y="4023360"/>
            <a:ext cx="411480" cy="41148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76072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97280" y="3931920"/>
            <a:ext cx="190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Реалізація системи пошуку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230880" y="3840480"/>
            <a:ext cx="2682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3395472" y="4023360"/>
            <a:ext cx="411480" cy="41148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395472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3916680" y="3931920"/>
            <a:ext cx="190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Оцінка якості моделей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050280" y="3840480"/>
            <a:ext cx="2682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214872" y="4023360"/>
            <a:ext cx="411480" cy="41148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214872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736080" y="3931920"/>
            <a:ext cx="190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Багатокритеріальний вибір моделі</a:t>
            </a:r>
            <a:endParaRPr lang="en-US" sz="1100" dirty="0"/>
          </a:p>
        </p:txBody>
      </p:sp>
      <p:pic>
        <p:nvPicPr>
          <p:cNvPr id="39" name="Image 1" descr="D:\repos\kb-semantic-search-benchmark\thesis\scripts\_logo_h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2 · ОГЛЯД ЛІТЕРАТУРИ (АНАЛОГІВ)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Огляд літератури: еволюція embedding-моделей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2697480"/>
            <a:ext cx="7589520" cy="2286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22082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74036"/>
            <a:ext cx="274320" cy="274320"/>
          </a:xfrm>
          <a:prstGeom prst="ellipse">
            <a:avLst/>
          </a:prstGeom>
          <a:solidFill>
            <a:srgbClr val="64748B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32004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Mikolov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-91440" y="341071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Статистичні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векторні подання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37944" y="22082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57984" y="2574036"/>
            <a:ext cx="274320" cy="274320"/>
          </a:xfrm>
          <a:prstGeom prst="ellipse">
            <a:avLst/>
          </a:prstGeom>
          <a:solidFill>
            <a:srgbClr val="0891B2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17904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17904" y="32004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26464" y="341071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Трансформери,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контекстність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55848" y="22082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75888" y="2574036"/>
            <a:ext cx="274320" cy="274320"/>
          </a:xfrm>
          <a:prstGeom prst="ellipse">
            <a:avLst/>
          </a:prstGeom>
          <a:solidFill>
            <a:srgbClr val="0891B2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035808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35808" y="32004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44368" y="341071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Семантичні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векторизатори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73752" y="22082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93792" y="2574036"/>
            <a:ext cx="274320" cy="274320"/>
          </a:xfrm>
          <a:prstGeom prst="ellipse">
            <a:avLst/>
          </a:prstGeom>
          <a:solidFill>
            <a:srgbClr val="1E40AF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53712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53712" y="32004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62272" y="341071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91656" y="22082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11696" y="2574036"/>
            <a:ext cx="274320" cy="274320"/>
          </a:xfrm>
          <a:prstGeom prst="ellipse">
            <a:avLst/>
          </a:prstGeom>
          <a:solidFill>
            <a:srgbClr val="1E40AF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71616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/ nomic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71616" y="32004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/ Nussbaum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80176" y="341071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Multi-functionality,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context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909560" y="22082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29600" y="2574036"/>
            <a:ext cx="274320" cy="274320"/>
          </a:xfrm>
          <a:prstGeom prst="ellipse">
            <a:avLst/>
          </a:prstGeom>
          <a:solidFill>
            <a:srgbClr val="F59E0B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89520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89520" y="32004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98080" y="341071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Decoder-based,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instruction-aware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960120"/>
            <a:ext cx="8321040" cy="868680"/>
          </a:xfrm>
          <a:prstGeom prst="roundRect">
            <a:avLst>
              <a:gd name="adj" fmla="val 6316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502920" cy="50292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280160" y="1005840"/>
            <a:ext cx="7269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Дослідницька прогалина: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відсутність порівняльних досліджень embedding-моделей на україномовних доменно-специфічних колекціях. </a:t>
            </a: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Опрацьовано 29 наукових джерел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(Lewis 2020 — RAG, Robertson 2009 — BM25, Thakur 2021 — BEIR, Muennighoff 2023 — MTEB).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411480" y="4096512"/>
            <a:ext cx="8321040" cy="3657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11480" y="410565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Хронологічний охоплюваний період: 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– 2025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статистичні → контекстні → багатофункціональні   ·  </a:t>
            </a: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років еволюції</a:t>
            </a:r>
            <a:endParaRPr lang="en-US" sz="1050" dirty="0"/>
          </a:p>
        </p:txBody>
      </p:sp>
      <p:pic>
        <p:nvPicPr>
          <p:cNvPr id="41" name="Image 1" descr="D:\repos\kb-semantic-search-benchmark\thesis\scripts\_logo_h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3 · ПОСТАНОВКА ЗАДАЧІ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задачі дослідження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3337560" cy="3703320"/>
          </a:xfrm>
          <a:prstGeom prst="roundRect">
            <a:avLst>
              <a:gd name="adj" fmla="val 274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Недостатньо просто застосувати сучасну embedding-модель — необхідно обґрунтовано обрати модель методом багатокритеріального аналізу за балансом між: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55574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425065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 ранжування (nDCG@10)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900553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77539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швидкодія на CPU/GPU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26898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15029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вимоги до пам'яті та ресурсів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626928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493387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мовна підтримка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000500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873627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колекції документів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77640" y="960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ОЧІКУВАНІ РЕЗУЛЬТАТИ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77640" y="132588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977640" y="1325880"/>
            <a:ext cx="64008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60520" y="13258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09160" y="13258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Реалізована система семантичного пошуку (PDF / DOCX / TXT / MD)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77640" y="201168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977640" y="2011680"/>
            <a:ext cx="64008" cy="594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60520" y="20116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709160" y="20116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Власноруч сформований UA benchmark dataset (3 домени)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77640" y="269748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77640" y="2697480"/>
            <a:ext cx="64008" cy="59436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60520" y="26974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709160" y="26974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Кількісне порівняння 4 embedding-моделей + BM25 baseline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977640" y="338328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977640" y="3383280"/>
            <a:ext cx="64008" cy="5943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60520" y="33832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709160" y="33832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Багатокритеріальний вибір моделі (Парето + лінійна згортка)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977640" y="406908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977640" y="4069080"/>
            <a:ext cx="64008" cy="59436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60520" y="40690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709160" y="40690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Обґрунтовані практичні рекомендації для впровадження</a:t>
            </a:r>
            <a:endParaRPr lang="en-US" sz="1200" dirty="0"/>
          </a:p>
        </p:txBody>
      </p:sp>
      <p:pic>
        <p:nvPicPr>
          <p:cNvPr id="39" name="Image 0" descr="D:\repos\kb-semantic-search-benchmark\thesis\scripts\_logo_h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4 · МЕТОДОЛОГІЯ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uk-UA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Обрані</a:t>
            </a: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моделі векторних ембеддінгів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91440" cy="178308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05156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" y="132588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5544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00200" y="15544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" y="17556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токенів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00200" y="17556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8 192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" y="1956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00200" y="19568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" y="2359152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sparse + multi-vector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960120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46120" y="960120"/>
            <a:ext cx="91440" cy="1783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47288" y="105156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E5-base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47288" y="132588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intfloat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47288" y="15544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34840" y="15544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47288" y="17556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токенів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34840" y="17556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47288" y="1956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34840" y="19568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(ML-E5)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47288" y="2359152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префікси query: / passage: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2880360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1480" y="2880360"/>
            <a:ext cx="91440" cy="1783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2648" y="297180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 v1.5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2648" y="324612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 AI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2648" y="3474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00200" y="3474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" y="3675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токенів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600200" y="36758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8 192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2648" y="38770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600200" y="38770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2648" y="4279392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Matryoshka representations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46120" y="2880360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246120" y="2880360"/>
            <a:ext cx="91440" cy="1783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447288" y="297180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Qwen3-Embed-0.6B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447288" y="324612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447288" y="3474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434840" y="3474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596M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447288" y="3675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токенів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434840" y="36758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32 768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447288" y="38770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434840" y="38770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(LLM)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447288" y="4279392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instruction-aware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080760" y="960120"/>
            <a:ext cx="2651760" cy="3703320"/>
          </a:xfrm>
          <a:prstGeom prst="roundRect">
            <a:avLst>
              <a:gd name="adj" fmla="val 206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63640" y="1033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 МОДЕЛІ</a:t>
            </a:r>
            <a:endParaRPr lang="en-US" sz="900" dirty="0"/>
          </a:p>
        </p:txBody>
      </p:sp>
      <p:graphicFrame>
        <p:nvGraphicFramePr>
          <p:cNvPr id="51" name="Chart 0"/>
          <p:cNvGraphicFramePr/>
          <p:nvPr>
            <p:extLst>
              <p:ext uri="{D42A27DB-BD31-4B8C-83A1-F6EECF244321}">
                <p14:modId xmlns:p14="http://schemas.microsoft.com/office/powerpoint/2010/main" val="564831178"/>
              </p:ext>
            </p:extLst>
          </p:nvPr>
        </p:nvGraphicFramePr>
        <p:xfrm>
          <a:off x="6172200" y="1160716"/>
          <a:ext cx="246888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2" name="Text 49"/>
          <p:cNvSpPr/>
          <p:nvPr/>
        </p:nvSpPr>
        <p:spPr>
          <a:xfrm>
            <a:off x="626364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ТОКЕНІВ (ЛОГАРИФМІЧНА ШКАЛА)</a:t>
            </a:r>
            <a:endParaRPr lang="en-US" sz="900" dirty="0"/>
          </a:p>
        </p:txBody>
      </p:sp>
      <p:graphicFrame>
        <p:nvGraphicFramePr>
          <p:cNvPr id="53" name="Chart 1"/>
          <p:cNvGraphicFramePr/>
          <p:nvPr/>
        </p:nvGraphicFramePr>
        <p:xfrm>
          <a:off x="6172200" y="2990088"/>
          <a:ext cx="246888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54" name="Image 0" descr="D:\repos\kb-semantic-search-benchmark\thesis\scripts\_logo_he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4 · МЕТОДОЛОГІЯ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Методологія дослідження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ОЦІНЮВАННЯ RETRIEVAL-ЯКОСТІ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156911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156911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15691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</a:t>
            </a: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@10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13862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 ранжування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(основна)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99462" y="1325880"/>
            <a:ext cx="156911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99462" y="1325880"/>
            <a:ext cx="1569110" cy="9144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99462" y="1463040"/>
            <a:ext cx="15691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@10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190902" y="2103120"/>
            <a:ext cx="13862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позиція першого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релевантного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87445" y="1325880"/>
            <a:ext cx="156911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87445" y="1325880"/>
            <a:ext cx="1569110" cy="91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87445" y="1463040"/>
            <a:ext cx="15691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@10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878885" y="2103120"/>
            <a:ext cx="13862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повнота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пошуку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75427" y="1325880"/>
            <a:ext cx="156911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75427" y="1325880"/>
            <a:ext cx="1569110" cy="91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75427" y="1463040"/>
            <a:ext cx="15691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@10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566867" y="2103120"/>
            <a:ext cx="13862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точність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видачі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63410" y="1325880"/>
            <a:ext cx="156911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63410" y="1325880"/>
            <a:ext cx="1569110" cy="9144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63410" y="1463040"/>
            <a:ext cx="15691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/q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254850" y="2103120"/>
            <a:ext cx="13862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 відповіді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(швидкодія)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2880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 АНАЛІЗУ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20040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4360" y="33832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74720"/>
            <a:ext cx="320040" cy="3200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188720" y="3364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CI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9436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довірчий інтервал для nDCG@10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94360" y="4233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2 000 повторень з повторами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246120" y="320040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3429000" y="33832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3474720"/>
            <a:ext cx="320040" cy="32004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4023360" y="3364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Парето-домінування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342900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Виявлення Парето-оптимальних альтернатив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3429000" y="4233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багатокритеріальному просторі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080760" y="320040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6263640" y="33832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474720"/>
            <a:ext cx="320040" cy="32004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858000" y="3364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Лінійна адитивна згортка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626364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Інтегральна оцінка U(aᵢ)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6263640" y="4233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ваговими коефіцієнтами критеріїв</a:t>
            </a:r>
            <a:endParaRPr lang="en-US" sz="1000" dirty="0"/>
          </a:p>
        </p:txBody>
      </p:sp>
      <p:pic>
        <p:nvPicPr>
          <p:cNvPr id="45" name="Image 3" descr="D:\repos\kb-semantic-search-benchmark\thesis\scripts\_logo_he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4 · МЕТОДОЛОГІЯ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оцінювання retrieval-якості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06908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124712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247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nDCG@k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11247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… 1, ↑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Нормалізована якість ранжування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1874520"/>
            <a:ext cx="3703320" cy="38404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8745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DCG@k  /  IDCG@k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2860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DCG@k = Σᵢ (2^relᵢ − 1) / log₂(i+1) 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IDCG@k — DCG ідеального ранжування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06908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1124712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1247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26680" y="11247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… 1, ↑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1554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Reciprocal Rank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874520"/>
            <a:ext cx="3703320" cy="38404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18745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 / |Q|) · Σ (1 / rankq)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22860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Середнє по запитах: 1 / (позиція першого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релевантного документа у видачі)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880360"/>
            <a:ext cx="406908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3044952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0449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74720" y="30449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… 1, ↑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3474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Повнота пошуку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3794760"/>
            <a:ext cx="3703320" cy="38404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37947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|Rel ∩ Retrieved|  /  |Rel|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" y="42062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Частка знайдених релевантних документів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 усіх релевантних у колекції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880360"/>
            <a:ext cx="406908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3044952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30449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P@k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726680" y="30449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… 1, ↑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3474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3794760"/>
            <a:ext cx="3703320" cy="38404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37947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|Relk|  /  k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46320" y="42062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Частка релевантних документів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 перших k результатів видачі</a:t>
            </a:r>
            <a:endParaRPr lang="en-US" sz="950" dirty="0"/>
          </a:p>
        </p:txBody>
      </p:sp>
      <p:pic>
        <p:nvPicPr>
          <p:cNvPr id="37" name="Image 0" descr="D:\repos\kb-semantic-search-benchmark\thesis\scripts\_logo_h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4 · МЕТОДОЛОГІЯ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Багатокритеріальний вибір моделі (МКВ)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389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548640" cy="54864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069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Парето-домінування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80160" y="1371600"/>
            <a:ext cx="3383280" cy="29260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80160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{ aᵢ ∈ A | ∄ ak ∈ A : ak ≻ aᵢ 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Виявлення альтернатив, які не домінуються жодною іншою за усіма критеріями одночасно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167128"/>
            <a:ext cx="4389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441448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22768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Нормалізація шкал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0160" y="2578608"/>
            <a:ext cx="3383280" cy="29260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80160" y="25786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yᵢⱼ = (xᵢⱼ − min xⱼ) / (max xⱼ − min xⱼ)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28986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Приведення критеріїв до єдиної шкали [0; 1] з врахуванням напряму оптимізації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374136"/>
            <a:ext cx="4389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4360" y="3648456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34838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Лінійна адитивна згортка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280160" y="3785616"/>
            <a:ext cx="3383280" cy="29260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80160" y="37856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U(aᵢ) = Σⱼ wⱼ · yᵢⱼ ,   де   Σⱼ wⱼ = 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80160" y="41056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Інтегральна оцінка корисності з ваговими коефіцієнтами критеріїв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83480" y="960120"/>
            <a:ext cx="3749040" cy="3703320"/>
          </a:xfrm>
          <a:prstGeom prst="roundRect">
            <a:avLst>
              <a:gd name="adj" fmla="val 14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2064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ПРОФІЛІ ВАГ КРИТЕРІЇВ ЗА ДОМЕНАМИ  (k=10)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371600"/>
          <a:ext cx="3520440" cy="1170432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Домен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Технічний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Юридичний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Медичний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5120640" y="2880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 ВАГ ЗА ДОМЕНАМИ</a:t>
            </a:r>
            <a:endParaRPr lang="en-US" sz="9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5074920" y="3154680"/>
          <a:ext cx="356616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1" name="Image 0" descr="D:\repos\kb-semantic-search-benchmark\thesis\scripts\_logo_h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5 · АРХІТЕКТУРА СИСТЕМИ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системи семантичного пошуку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335024" cy="192024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06424"/>
            <a:ext cx="1335024" cy="9144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4672" y="1371600"/>
            <a:ext cx="548640" cy="54864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8132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19659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2860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DOCX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· MD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224" y="1947672"/>
            <a:ext cx="329184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157984" y="1097280"/>
            <a:ext cx="1335024" cy="192024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2157984" y="1097280"/>
            <a:ext cx="1335024" cy="91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2551176" y="1371600"/>
            <a:ext cx="548640" cy="54864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0904" y="148132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57984" y="19659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Чанкінг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2249424" y="22860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слів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перекриття</a:t>
            </a:r>
            <a:endParaRPr lang="en-US" sz="9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947672"/>
            <a:ext cx="329184" cy="21945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904488" y="1097280"/>
            <a:ext cx="1335024" cy="192024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3904488" y="1097280"/>
            <a:ext cx="1335024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297680" y="1371600"/>
            <a:ext cx="548640" cy="54864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7408" y="1481328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04488" y="19659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Ембеддінг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995928" y="22860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· E5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 · Qwen3</a:t>
            </a:r>
            <a:endParaRPr lang="en-US" sz="9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1947672"/>
            <a:ext cx="329184" cy="219456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5650992" y="1097280"/>
            <a:ext cx="1335024" cy="192024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5650992" y="1097280"/>
            <a:ext cx="1335024" cy="91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0"/>
          <p:cNvSpPr/>
          <p:nvPr/>
        </p:nvSpPr>
        <p:spPr>
          <a:xfrm>
            <a:off x="6044184" y="1371600"/>
            <a:ext cx="548640" cy="54864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912" y="148132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650992" y="19659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FAISS-індекс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5742432" y="22860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IndexFlatIP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L2-нормалізація</a:t>
            </a:r>
            <a:endParaRPr lang="en-US" sz="95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1947672"/>
            <a:ext cx="329184" cy="219456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7397496" y="1097280"/>
            <a:ext cx="1335024" cy="192024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4"/>
          <p:cNvSpPr/>
          <p:nvPr/>
        </p:nvSpPr>
        <p:spPr>
          <a:xfrm>
            <a:off x="7397496" y="1097280"/>
            <a:ext cx="1335024" cy="91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5"/>
          <p:cNvSpPr/>
          <p:nvPr/>
        </p:nvSpPr>
        <p:spPr>
          <a:xfrm>
            <a:off x="7790688" y="1371600"/>
            <a:ext cx="548640" cy="54864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0416" y="1481328"/>
            <a:ext cx="329184" cy="32918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397496" y="19659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300" dirty="0"/>
          </a:p>
        </p:txBody>
      </p:sp>
      <p:sp>
        <p:nvSpPr>
          <p:cNvPr id="38" name="Text 27"/>
          <p:cNvSpPr/>
          <p:nvPr/>
        </p:nvSpPr>
        <p:spPr>
          <a:xfrm>
            <a:off x="7488936" y="22860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950" dirty="0"/>
          </a:p>
        </p:txBody>
      </p:sp>
      <p:sp>
        <p:nvSpPr>
          <p:cNvPr id="39" name="Shape 28"/>
          <p:cNvSpPr/>
          <p:nvPr/>
        </p:nvSpPr>
        <p:spPr>
          <a:xfrm>
            <a:off x="411480" y="329184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9525">
            <a:solidFill>
              <a:srgbClr val="1E40AF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208" y="3401568"/>
            <a:ext cx="274320" cy="27432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868680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 користувача</a:t>
            </a:r>
            <a:endParaRPr lang="en-US" sz="1100" dirty="0"/>
          </a:p>
        </p:txBody>
      </p:sp>
      <p:sp>
        <p:nvSpPr>
          <p:cNvPr id="42" name="Shape 30"/>
          <p:cNvSpPr/>
          <p:nvPr/>
        </p:nvSpPr>
        <p:spPr>
          <a:xfrm>
            <a:off x="6720840" y="329184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9525">
            <a:solidFill>
              <a:srgbClr val="1E40AF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0568" y="3401568"/>
            <a:ext cx="274320" cy="274320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7178040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UI</a:t>
            </a:r>
            <a:endParaRPr lang="en-US" sz="1100" dirty="0"/>
          </a:p>
        </p:txBody>
      </p:sp>
      <p:sp>
        <p:nvSpPr>
          <p:cNvPr id="45" name="Shape 32"/>
          <p:cNvSpPr/>
          <p:nvPr/>
        </p:nvSpPr>
        <p:spPr>
          <a:xfrm>
            <a:off x="411480" y="3977640"/>
            <a:ext cx="83210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3"/>
          <p:cNvSpPr/>
          <p:nvPr/>
        </p:nvSpPr>
        <p:spPr>
          <a:xfrm>
            <a:off x="411480" y="39776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Основні компоненти:  </a:t>
            </a: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build_index.py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evaluate_benchmark.py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embedding_models.py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run_all_benchmarks.py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000" dirty="0"/>
          </a:p>
        </p:txBody>
      </p:sp>
      <p:pic>
        <p:nvPicPr>
          <p:cNvPr id="47" name="Image 11" descr="D:\repos\kb-semantic-search-benchmark\thesis\scripts\_logo_hex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6 · ПРОГРАМНЕ ЗАБЕЗПЕЧЕННЯ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Програмне забезпечення та технології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651760" cy="36118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2651760" cy="50292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0789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960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EMBEDDING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2170" y="1760791"/>
            <a:ext cx="73152" cy="73152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85050" y="1553527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2170" y="2248471"/>
            <a:ext cx="73152" cy="73152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85050" y="2041207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2170" y="2736151"/>
            <a:ext cx="73152" cy="73152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85050" y="2528887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(HF)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2170" y="3223831"/>
            <a:ext cx="73152" cy="73152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85050" y="3016567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(CPU)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02170" y="3711511"/>
            <a:ext cx="73152" cy="73152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85050" y="3504247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trust_remote_code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02170" y="4199191"/>
            <a:ext cx="73152" cy="73152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85050" y="3991927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Cambria Math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246120" y="960120"/>
            <a:ext cx="2651760" cy="36118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246120" y="960120"/>
            <a:ext cx="265176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07899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749040" y="960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/ DATA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429000" y="1760791"/>
            <a:ext cx="73152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611880" y="1553527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(IndexFlatIP)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3429000" y="2248471"/>
            <a:ext cx="73152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3611880" y="2041207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rank_bm25 (Okapi)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3429000" y="2736151"/>
            <a:ext cx="73152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3611880" y="2528887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L2-нормалізація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3429000" y="3223831"/>
            <a:ext cx="73152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3611880" y="3016567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Чанкінг (~600 слів)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3429000" y="3711511"/>
            <a:ext cx="73152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3611880" y="3504247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TXT / MD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3429000" y="4199191"/>
            <a:ext cx="73152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3611880" y="3991927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(chunks, qrels)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6080760" y="960120"/>
            <a:ext cx="2651760" cy="36118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6080760" y="960120"/>
            <a:ext cx="265176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078992"/>
            <a:ext cx="274320" cy="27432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583680" y="960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EVAL / ANALYSIS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6263640" y="1760791"/>
            <a:ext cx="73152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/>
          <p:nvPr/>
        </p:nvSpPr>
        <p:spPr>
          <a:xfrm>
            <a:off x="6446520" y="1553527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</a:t>
            </a:r>
            <a:endParaRPr lang="en-US" sz="1150" dirty="0"/>
          </a:p>
        </p:txBody>
      </p:sp>
      <p:sp>
        <p:nvSpPr>
          <p:cNvPr id="43" name="Shape 38"/>
          <p:cNvSpPr/>
          <p:nvPr/>
        </p:nvSpPr>
        <p:spPr>
          <a:xfrm>
            <a:off x="6263640" y="2248471"/>
            <a:ext cx="73152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9"/>
          <p:cNvSpPr/>
          <p:nvPr/>
        </p:nvSpPr>
        <p:spPr>
          <a:xfrm>
            <a:off x="6446520" y="2041207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scikit-learn</a:t>
            </a:r>
            <a:endParaRPr lang="en-US" sz="1150" dirty="0"/>
          </a:p>
        </p:txBody>
      </p:sp>
      <p:sp>
        <p:nvSpPr>
          <p:cNvPr id="45" name="Shape 40"/>
          <p:cNvSpPr/>
          <p:nvPr/>
        </p:nvSpPr>
        <p:spPr>
          <a:xfrm>
            <a:off x="6263640" y="2736151"/>
            <a:ext cx="73152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/>
          <p:nvPr/>
        </p:nvSpPr>
        <p:spPr>
          <a:xfrm>
            <a:off x="6446520" y="2528887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CI (n=2000)</a:t>
            </a:r>
            <a:endParaRPr lang="en-US" sz="1150" dirty="0"/>
          </a:p>
        </p:txBody>
      </p:sp>
      <p:sp>
        <p:nvSpPr>
          <p:cNvPr id="47" name="Shape 42"/>
          <p:cNvSpPr/>
          <p:nvPr/>
        </p:nvSpPr>
        <p:spPr>
          <a:xfrm>
            <a:off x="6263640" y="3223831"/>
            <a:ext cx="73152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6446520" y="3016567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+ лінійна згортка</a:t>
            </a:r>
            <a:endParaRPr lang="en-US" sz="1150" dirty="0"/>
          </a:p>
        </p:txBody>
      </p:sp>
      <p:sp>
        <p:nvSpPr>
          <p:cNvPr id="49" name="Shape 44"/>
          <p:cNvSpPr/>
          <p:nvPr/>
        </p:nvSpPr>
        <p:spPr>
          <a:xfrm>
            <a:off x="6263640" y="3711511"/>
            <a:ext cx="73152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5"/>
          <p:cNvSpPr/>
          <p:nvPr/>
        </p:nvSpPr>
        <p:spPr>
          <a:xfrm>
            <a:off x="6446520" y="3504247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Власний benchmark harness</a:t>
            </a:r>
            <a:endParaRPr lang="en-US" sz="1150" dirty="0"/>
          </a:p>
        </p:txBody>
      </p:sp>
      <p:sp>
        <p:nvSpPr>
          <p:cNvPr id="51" name="Shape 46"/>
          <p:cNvSpPr/>
          <p:nvPr/>
        </p:nvSpPr>
        <p:spPr>
          <a:xfrm>
            <a:off x="6263640" y="4199191"/>
            <a:ext cx="73152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/>
          <p:nvPr/>
        </p:nvSpPr>
        <p:spPr>
          <a:xfrm>
            <a:off x="6446520" y="3991927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150" dirty="0"/>
          </a:p>
        </p:txBody>
      </p:sp>
      <p:pic>
        <p:nvPicPr>
          <p:cNvPr id="53" name="Image 3" descr="D:\repos\kb-semantic-search-benchmark\thesis\scripts\_logo_he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7 · ЗМІСТ ЕКСПЕРИМЕНТУ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dataset: україномовні доменні колекції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Власноруч сформований </a:t>
            </a: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україномовний benchmark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3 домени  ·  32 документи  ·  300 запитів  ·  qrels сформовано вручну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91440" cy="1024128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609344"/>
            <a:ext cx="548640" cy="54864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71907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5544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Технічний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1732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програмна інженерія, ML, RAG, аномалії, 3D-друк, лідарні системи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9320" y="1600200"/>
            <a:ext cx="13716" cy="56692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26480" y="1554480"/>
            <a:ext cx="118872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126480" y="2033626"/>
            <a:ext cx="118872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52360" y="1554480"/>
            <a:ext cx="118872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452360" y="2033626"/>
            <a:ext cx="118872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запити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2505456"/>
            <a:ext cx="83210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11480" y="2505456"/>
            <a:ext cx="91440" cy="10241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85800" y="2743200"/>
            <a:ext cx="548640" cy="54864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2852928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17320" y="268833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Юридичний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417320" y="30540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кодекси, нормативно-правові акти, законодавство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989320" y="2734056"/>
            <a:ext cx="13716" cy="56692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126480" y="2688336"/>
            <a:ext cx="118872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25" name="Text 21"/>
          <p:cNvSpPr/>
          <p:nvPr/>
        </p:nvSpPr>
        <p:spPr>
          <a:xfrm>
            <a:off x="6126480" y="3167482"/>
            <a:ext cx="118872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7452360" y="2688336"/>
            <a:ext cx="118872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000" dirty="0"/>
          </a:p>
        </p:txBody>
      </p:sp>
      <p:sp>
        <p:nvSpPr>
          <p:cNvPr id="27" name="Text 23"/>
          <p:cNvSpPr/>
          <p:nvPr/>
        </p:nvSpPr>
        <p:spPr>
          <a:xfrm>
            <a:off x="7452360" y="3167482"/>
            <a:ext cx="118872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запити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11480" y="3639312"/>
            <a:ext cx="83210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411480" y="3639312"/>
            <a:ext cx="91440" cy="1024128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85800" y="3877056"/>
            <a:ext cx="548640" cy="54864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986784"/>
            <a:ext cx="329184" cy="32918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417320" y="38221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Медичний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1417320" y="41879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клінічні протоколи, медичні рекомендації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5989320" y="3867912"/>
            <a:ext cx="13716" cy="56692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6126480" y="3822192"/>
            <a:ext cx="118872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36" name="Text 31"/>
          <p:cNvSpPr/>
          <p:nvPr/>
        </p:nvSpPr>
        <p:spPr>
          <a:xfrm>
            <a:off x="6126480" y="4301338"/>
            <a:ext cx="118872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7452360" y="3822192"/>
            <a:ext cx="118872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000" dirty="0"/>
          </a:p>
        </p:txBody>
      </p:sp>
      <p:sp>
        <p:nvSpPr>
          <p:cNvPr id="38" name="Text 33"/>
          <p:cNvSpPr/>
          <p:nvPr/>
        </p:nvSpPr>
        <p:spPr>
          <a:xfrm>
            <a:off x="7452360" y="4301338"/>
            <a:ext cx="118872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запити</a:t>
            </a:r>
            <a:endParaRPr lang="en-US" sz="1000" dirty="0"/>
          </a:p>
        </p:txBody>
      </p:sp>
      <p:pic>
        <p:nvPicPr>
          <p:cNvPr id="39" name="Image 3" descr="D:\repos\kb-semantic-search-benchmark\thesis\scripts\_logo_he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7 · ЗМІСТ ЕКСПЕРИМЕНТУ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Приклади benchmark-запитів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72134"/>
            <a:ext cx="2651760" cy="33375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72134"/>
            <a:ext cx="2651760" cy="50292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19100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107213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Технічний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072" y="175793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виявлення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аномалій у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фінансових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транзакціях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6072" y="2215134"/>
            <a:ext cx="232257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6072" y="227914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комбінація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Autoencoder та Isolation Forest для fraud detection»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6072" y="2736342"/>
            <a:ext cx="232257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6072" y="280035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відтоку клієнтів (churn prediction)»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76072" y="3257550"/>
            <a:ext cx="232257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6072" y="332155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когортний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аналіз для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сегментації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клієнтів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76072" y="3778758"/>
            <a:ext cx="232257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76072" y="384276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етичні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питання використання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персональних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даних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46120" y="1072134"/>
            <a:ext cx="2651760" cy="33375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246120" y="1072134"/>
            <a:ext cx="265176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191006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776472" y="107213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Юридичний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410712" y="175793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таке цивільна дієздатність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фізичної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особи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410712" y="2215134"/>
            <a:ext cx="232257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410712" y="227914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 якого віку настає повна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цивільна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дієздатність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410712" y="2736342"/>
            <a:ext cx="232257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410712" y="280035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підстави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обмеження цивільної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дієздатності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судом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3410712" y="3257550"/>
            <a:ext cx="232257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3410712" y="332155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поняття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юридичної особи та порядок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її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реєстрації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410712" y="3778758"/>
            <a:ext cx="232257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3410712" y="384276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входить до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складу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спадщини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080760" y="1072134"/>
            <a:ext cx="2651760" cy="33375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080760" y="1072134"/>
            <a:ext cx="2651760" cy="5029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191006"/>
            <a:ext cx="274320" cy="27432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611112" y="107213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Медичний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6245352" y="175793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таке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серцево-судинна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6245352" y="2215134"/>
            <a:ext cx="232257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6245352" y="227914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будова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 функції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серця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людини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6245352" y="2736342"/>
            <a:ext cx="232257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6245352" y="280035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таке артеріальний тиск і як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він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регулюється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6245352" y="3257550"/>
            <a:ext cx="232257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6245352" y="332155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велике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і мале коло кровообігу —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відмінності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6245352" y="3778758"/>
            <a:ext cx="2322576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6245352" y="384276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будова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дихальної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людини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950" dirty="0"/>
          </a:p>
        </p:txBody>
      </p:sp>
      <p:pic>
        <p:nvPicPr>
          <p:cNvPr id="46" name="Image 3" descr="D:\repos\kb-semantic-search-benchmark\thesis\scripts\_logo_he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8 · РЕЗУЛЬТАТИ ЕКСПЕРИМЕНТУ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Деталізовані метрики за доменами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078224" cy="1815084"/>
          </a:xfrm>
          <a:prstGeom prst="roundRect">
            <a:avLst>
              <a:gd name="adj" fmla="val 302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33272"/>
            <a:ext cx="3712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271016"/>
          <a:ext cx="3895344" cy="1403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654296" y="960120"/>
            <a:ext cx="4078224" cy="1815084"/>
          </a:xfrm>
          <a:prstGeom prst="roundRect">
            <a:avLst>
              <a:gd name="adj" fmla="val 302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37176" y="1033272"/>
            <a:ext cx="3712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MRR@10</a:t>
            </a:r>
            <a:endParaRPr lang="en-US" sz="11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745736" y="1271016"/>
          <a:ext cx="3895344" cy="1403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411480" y="2939796"/>
            <a:ext cx="4078224" cy="1815084"/>
          </a:xfrm>
          <a:prstGeom prst="roundRect">
            <a:avLst>
              <a:gd name="adj" fmla="val 302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94360" y="3012948"/>
            <a:ext cx="3712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</a:t>
            </a:r>
            <a:endParaRPr lang="en-US" sz="1100" dirty="0"/>
          </a:p>
        </p:txBody>
      </p:sp>
      <p:graphicFrame>
        <p:nvGraphicFramePr>
          <p:cNvPr id="13" name="Chart 2"/>
          <p:cNvGraphicFramePr/>
          <p:nvPr/>
        </p:nvGraphicFramePr>
        <p:xfrm>
          <a:off x="502920" y="3250692"/>
          <a:ext cx="3895344" cy="1403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Shape 9"/>
          <p:cNvSpPr/>
          <p:nvPr/>
        </p:nvSpPr>
        <p:spPr>
          <a:xfrm>
            <a:off x="4654296" y="2939796"/>
            <a:ext cx="4078224" cy="1815084"/>
          </a:xfrm>
          <a:prstGeom prst="roundRect">
            <a:avLst>
              <a:gd name="adj" fmla="val 302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4837176" y="3012948"/>
            <a:ext cx="3712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P@10</a:t>
            </a:r>
            <a:endParaRPr lang="en-US" sz="1100" dirty="0"/>
          </a:p>
        </p:txBody>
      </p:sp>
      <p:graphicFrame>
        <p:nvGraphicFramePr>
          <p:cNvPr id="16" name="Chart 3"/>
          <p:cNvGraphicFramePr/>
          <p:nvPr/>
        </p:nvGraphicFramePr>
        <p:xfrm>
          <a:off x="4745736" y="3250692"/>
          <a:ext cx="3895344" cy="1403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7" name="Image 0" descr="D:\repos\kb-semantic-search-benchmark\thesis\scripts\_logo_he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8 · РЕЗУЛЬТАТИ ЕКСПЕРИМЕНТУ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Деталізовані метрики за доменами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078224" cy="1815084"/>
          </a:xfrm>
          <a:prstGeom prst="roundRect">
            <a:avLst>
              <a:gd name="adj" fmla="val 302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33272"/>
            <a:ext cx="3712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271016"/>
          <a:ext cx="3895344" cy="1403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654296" y="960120"/>
            <a:ext cx="4078224" cy="1815084"/>
          </a:xfrm>
          <a:prstGeom prst="roundRect">
            <a:avLst>
              <a:gd name="adj" fmla="val 302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37176" y="1033272"/>
            <a:ext cx="3712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MRR@10</a:t>
            </a:r>
            <a:endParaRPr lang="en-US" sz="11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745736" y="1271016"/>
          <a:ext cx="3895344" cy="1403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411480" y="2939796"/>
            <a:ext cx="4078224" cy="1815084"/>
          </a:xfrm>
          <a:prstGeom prst="roundRect">
            <a:avLst>
              <a:gd name="adj" fmla="val 302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94360" y="3012948"/>
            <a:ext cx="3712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</a:t>
            </a:r>
            <a:endParaRPr lang="en-US" sz="1100" dirty="0"/>
          </a:p>
        </p:txBody>
      </p:sp>
      <p:graphicFrame>
        <p:nvGraphicFramePr>
          <p:cNvPr id="13" name="Chart 2"/>
          <p:cNvGraphicFramePr/>
          <p:nvPr/>
        </p:nvGraphicFramePr>
        <p:xfrm>
          <a:off x="502920" y="3250692"/>
          <a:ext cx="3895344" cy="1403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Shape 9"/>
          <p:cNvSpPr/>
          <p:nvPr/>
        </p:nvSpPr>
        <p:spPr>
          <a:xfrm>
            <a:off x="4654296" y="2939796"/>
            <a:ext cx="4078224" cy="1815084"/>
          </a:xfrm>
          <a:prstGeom prst="roundRect">
            <a:avLst>
              <a:gd name="adj" fmla="val 302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4837176" y="3012948"/>
            <a:ext cx="3712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P@10</a:t>
            </a:r>
            <a:endParaRPr lang="en-US" sz="1100" dirty="0"/>
          </a:p>
        </p:txBody>
      </p:sp>
      <p:graphicFrame>
        <p:nvGraphicFramePr>
          <p:cNvPr id="16" name="Chart 3"/>
          <p:cNvGraphicFramePr/>
          <p:nvPr/>
        </p:nvGraphicFramePr>
        <p:xfrm>
          <a:off x="4745736" y="3250692"/>
          <a:ext cx="3895344" cy="1403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7" name="Image 0" descr="D:\repos\kb-semantic-search-benchmark\thesis\scripts\_logo_he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9 · АНАЛІЗ РЕЗУЛЬТАТІВ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Багатокритеріальний вибір моделі: результати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332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ПАРЕТО-ОПТИМАЛЬНА МНОЖИНА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i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{ BGE-M3,  E5-base,  BM25 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56362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з 5 альтернатив не домінуються жодною іншою за усіма критеріями одночасно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103120"/>
            <a:ext cx="3931920" cy="560070"/>
          </a:xfrm>
          <a:prstGeom prst="roundRect">
            <a:avLst>
              <a:gd name="adj" fmla="val 97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103120"/>
            <a:ext cx="91440" cy="56007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368296"/>
            <a:ext cx="356616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лідер за nDCG, MRR, Recall на технічному і медичному доменах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754630"/>
            <a:ext cx="3931920" cy="560070"/>
          </a:xfrm>
          <a:prstGeom prst="roundRect">
            <a:avLst>
              <a:gd name="adj" fmla="val 97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754630"/>
            <a:ext cx="91440" cy="56007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80035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E5-base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019806"/>
            <a:ext cx="356616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швидка альтернатива, ~70 мс vs ~228 мс у BGE-M3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406140"/>
            <a:ext cx="3931920" cy="560070"/>
          </a:xfrm>
          <a:prstGeom prst="roundRect">
            <a:avLst>
              <a:gd name="adj" fmla="val 97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406140"/>
            <a:ext cx="91440" cy="56007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4518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671316"/>
            <a:ext cx="356616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лідер на юридичному (nDCG=0.320), ~2× повільніший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057650"/>
            <a:ext cx="3931920" cy="560070"/>
          </a:xfrm>
          <a:prstGeom prst="roundRect">
            <a:avLst>
              <a:gd name="adj" fmla="val 97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4057650"/>
            <a:ext cx="91440" cy="56007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410337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322826"/>
            <a:ext cx="356616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найслабші результати; в окремих доменах поступається BM25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26280" y="960120"/>
            <a:ext cx="4206240" cy="3703320"/>
          </a:xfrm>
          <a:prstGeom prst="roundRect">
            <a:avLst>
              <a:gd name="adj" fmla="val 14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10515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ІНТЕГРАЛЬНА ОЦІНКА U(aᵢ) ПО ДОМЕНАХ</a:t>
            </a:r>
            <a:endParaRPr lang="en-US" sz="900" dirty="0"/>
          </a:p>
        </p:txBody>
      </p:sp>
      <p:graphicFrame>
        <p:nvGraphicFramePr>
          <p:cNvPr id="27" name="Chart 0"/>
          <p:cNvGraphicFramePr/>
          <p:nvPr>
            <p:extLst>
              <p:ext uri="{D42A27DB-BD31-4B8C-83A1-F6EECF244321}">
                <p14:modId xmlns:p14="http://schemas.microsoft.com/office/powerpoint/2010/main" val="666642990"/>
              </p:ext>
            </p:extLst>
          </p:nvPr>
        </p:nvGraphicFramePr>
        <p:xfrm>
          <a:off x="4617720" y="1325880"/>
          <a:ext cx="4023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8" name="Image 0" descr="D:\repos\kb-semantic-search-benchmark\thesis\scripts\_logo_h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9 · АНАЛІЗ РЕЗУЛЬТАТІВ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Аналіз: якість пошуку vs швидкодія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303520" cy="3703320"/>
          </a:xfrm>
          <a:prstGeom prst="roundRect">
            <a:avLst>
              <a:gd name="adj" fmla="val 14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ТЕХНІЧНИЙ ДОМЕН  ·  nDCG@10  vs  ms / запит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808882803"/>
              </p:ext>
            </p:extLst>
          </p:nvPr>
        </p:nvGraphicFramePr>
        <p:xfrm>
          <a:off x="502920" y="132588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861538" y="2317179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88720" y="1765301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E5-base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91640" y="2501307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487839" y="157613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615138" y="16956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 flipV="1">
            <a:off x="1128238" y="2010703"/>
            <a:ext cx="621445" cy="367246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1749682" y="1835532"/>
            <a:ext cx="1336326" cy="17517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188720" y="1307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⟵ Парето-фронт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97880" y="960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ВИСНОВКИ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97880" y="1289304"/>
            <a:ext cx="283464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897880" y="1289304"/>
            <a:ext cx="73152" cy="6126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062472" y="13167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Парето-оптимальна  ·  лідер якості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062472" y="1490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062472" y="16916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 = 0.672  ·  ~228 мс  ·  основний вибір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897880" y="1975104"/>
            <a:ext cx="283464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897880" y="1975104"/>
            <a:ext cx="73152" cy="61264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62472" y="20025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Парето-оптимальна  ·  sweet spot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062472" y="21762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E5-base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062472" y="23774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 мс  ·  3× швидше за BGE-M3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897880" y="2660904"/>
            <a:ext cx="283464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897880" y="2660904"/>
            <a:ext cx="73152" cy="61264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062472" y="26883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Парето-оптимальна  ·  baseline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062472" y="2862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062472" y="3063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 мс  ·  найвища nDCG ~0.49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897880" y="3346704"/>
            <a:ext cx="283464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897880" y="3346704"/>
            <a:ext cx="73152" cy="612648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062472" y="33741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Спеціалізована  ·  лідер на Legal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062472" y="35478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062472" y="3749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0.320 на Legal  ·  на Tech домінується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897880" y="4032504"/>
            <a:ext cx="283464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5897880" y="4032504"/>
            <a:ext cx="73152" cy="6126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062472" y="40599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рекомендується  ·  домінується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062472" y="4233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062472" y="44348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поступається BM25 за якістю</a:t>
            </a:r>
            <a:endParaRPr lang="en-US" sz="900" dirty="0"/>
          </a:p>
        </p:txBody>
      </p:sp>
      <p:pic>
        <p:nvPicPr>
          <p:cNvPr id="42" name="Image 0" descr="D:\repos\kb-semantic-search-benchmark\thesis\scripts\_logo_h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3657600"/>
            <a:ext cx="3200400" cy="320040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ПІДСУМКИ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uk-UA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 та результати дослідження</a:t>
            </a:r>
            <a:endParaRPr lang="uk-UA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8321040" cy="502920"/>
          </a:xfrm>
          <a:prstGeom prst="roundRect">
            <a:avLst>
              <a:gd name="adj" fmla="val 10909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96012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uk-UA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Embedding-моделі статистично значуще переважають BM25 для україномовного семантичного пошуку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1645920"/>
            <a:ext cx="4069080" cy="12573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11480" y="1645920"/>
            <a:ext cx="91440" cy="12573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0080" y="1810512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91109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234440" y="206654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 модель для впровадження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40080" y="2423160"/>
            <a:ext cx="3657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Лідер за nDCG@10 у tech (0.672) і medical (0.434), топ-2 у legal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63440" y="1645920"/>
            <a:ext cx="4069080" cy="12573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587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663440" y="1645920"/>
            <a:ext cx="91440" cy="12573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892040" y="1810512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1911096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48640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E5-base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486400" y="206654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Швидка альтернатива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892040" y="2423160"/>
            <a:ext cx="3657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 на ~10% нижча за BGE-M3, ~3× швидше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11480" y="3040380"/>
            <a:ext cx="4069080" cy="12573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5875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11480" y="3040380"/>
            <a:ext cx="91440" cy="125730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40080" y="3204972"/>
            <a:ext cx="502920" cy="50292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3305556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34440" y="31318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1234440" y="34610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Лідер на юридичному домені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40080" y="3817620"/>
            <a:ext cx="3657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Найвища nDCG@10 на Legal (0.320), ~2× повільніший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663440" y="3040380"/>
            <a:ext cx="4069080" cy="12573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587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4663440" y="3040380"/>
            <a:ext cx="91440" cy="12573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4892040" y="3204972"/>
            <a:ext cx="502920" cy="50292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2624" y="3305556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486400" y="31318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5486400" y="34610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Конкурентний baseline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4892040" y="3817620"/>
            <a:ext cx="3657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Найшвидша (1–3 мс/запит) — у &gt;100× швидше за BGE-M3</a:t>
            </a:r>
            <a:endParaRPr lang="en-US" sz="1000" dirty="0"/>
          </a:p>
        </p:txBody>
      </p:sp>
      <p:pic>
        <p:nvPicPr>
          <p:cNvPr id="39" name="Image 5" descr="D:\repos\kb-semantic-search-benchmark\thesis\scripts\_logo_he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r>
              <a:rPr lang="uk-UA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69346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АПРОБАЦІЯ РЕЗУЛЬТАТІВ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Апробація результатів дослідження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15773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097280" cy="157734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1097280" cy="709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11480" y="1827657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КОНФЕРЕНЦІЯ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2095805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91640" y="10515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«Innovative Research in Science and Economy»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13258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2-я Міжнародна науково-практична конференція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91640" y="16002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Стаття: 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«Порівняльний аналіз ефективності моделей векторних ембеддінгів для задач семантичного пошуку в корпоративних базах знань»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91640" y="2103120"/>
            <a:ext cx="69494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Внесок: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Представлено benchmark-методологію та порівняння 4 моделей у трьох доменних колекціях; обґрунтовано перевагу BGE-M3 над класичним BM25.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628900"/>
            <a:ext cx="8321040" cy="15773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628900"/>
            <a:ext cx="1097280" cy="15773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720340"/>
            <a:ext cx="1097280" cy="709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411480" y="3496437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КОНФЕРЕНЦІЯ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3764585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91640" y="27203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«Радіоелектроніка та молодь у XXI столітті»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299466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30-й Міжнародний молодіжний форум, ХНУРЕ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91640" y="32689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Тези: 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«Підвищення якості семантичного пошуку в базах знань із використанням векторних подань»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91640" y="3771900"/>
            <a:ext cx="69494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Внесок: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Подано підхід до підвищення якості retrieval у корпоративних базах знань на основі контрастивно-навчених embedding-моделей.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4297680"/>
            <a:ext cx="832104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42976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ЗАГАЛОМ:  </a:t>
            </a: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наукові праці   ·   2 виступи на міжнародних конференціях   ·   у співавторстві з науковим керівником   ·   ХНУРЕ, 2026</a:t>
            </a:r>
            <a:endParaRPr lang="en-US" sz="1000" dirty="0"/>
          </a:p>
        </p:txBody>
      </p:sp>
      <p:pic>
        <p:nvPicPr>
          <p:cNvPr id="25" name="Image 0" descr="D:\repos\kb-semantic-search-benchmark\thesis\scripts\_logo_h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r>
              <a:rPr lang="uk-UA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82B0C7-C83A-421B-B8E6-44C0B75292E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8b6b9b2-9153-4bc5-8b95-d349cce7ec1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3223</Words>
  <Application>Microsoft Office PowerPoint</Application>
  <PresentationFormat>On-screen Show (16:9)</PresentationFormat>
  <Paragraphs>498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Дослідження моделей векторних ембеддінгів для семантичного пошуку</dc:title>
  <dc:subject>PptxGenJS Presentation</dc:subject>
  <dc:creator>Нестеренко В.В.</dc:creator>
  <cp:lastModifiedBy>Віталій Нестеренко</cp:lastModifiedBy>
  <cp:revision>35</cp:revision>
  <dcterms:created xsi:type="dcterms:W3CDTF">2026-05-07T21:01:42Z</dcterms:created>
  <dcterms:modified xsi:type="dcterms:W3CDTF">2026-05-17T16:43:21Z</dcterms:modified>
</cp:coreProperties>
</file>
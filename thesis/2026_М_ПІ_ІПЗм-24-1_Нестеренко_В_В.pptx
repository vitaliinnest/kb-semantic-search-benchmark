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4.xml" ContentType="application/vnd.openxmlformats-officedocument.drawingml.chart+xml"/>
  <Override PartName="/ppt/notesSlides/notesSlide14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15.xml" ContentType="application/vnd.openxmlformats-officedocument.presentationml.notesSlide+xml"/>
  <Override PartName="/ppt/charts/chart9.xml" ContentType="application/vnd.openxmlformats-officedocument.drawingml.chart+xml"/>
  <Override PartName="/ppt/notesSlides/notesSlide16.xml" ContentType="application/vnd.openxmlformats-officedocument.presentationml.notesSlide+xml"/>
  <Override PartName="/ppt/charts/chart10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57" d="100"/>
          <a:sy n="157" d="100"/>
        </p:scale>
        <p:origin x="610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0:25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0:25 – 1:14  ·  слайд 2/18</a:t>
            </a:r>
            <a:endParaRPr lang="en-US" dirty="0"/>
          </a:p>
          <a:p>
            <a:endParaRPr lang="en-US" dirty="0"/>
          </a:p>
          <a:p>
            <a:r>
              <a:t>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доцільність застосування сучасних embedding-моделей для семантичного пошуку у корпоративних базах знань шляхом порівняльного експериментального дослідження.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задач: проаналізувати предметну галузь; здійснити огляд embedding-моделей; сформувати україномовний benchmark; реалізувати систему пошуку; оцінити моделі за стандартними метриками; обґрунтовано обрати оптимальну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1:14 – 1:37  ·  слайд 3/18</a:t>
            </a:r>
            <a:endParaRPr lang="en-US" dirty="0"/>
          </a:p>
          <a:p>
            <a:r>
              <a:t>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1:37 – 2:10  ·  слайд 4/18</a:t>
            </a:r>
            <a:endParaRPr lang="en-US" dirty="0"/>
          </a:p>
          <a:p>
            <a:endParaRPr lang="en-US" dirty="0"/>
          </a:p>
          <a:p>
            <a:r>
              <a:t>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2:10 – 2:46  ·  слайд 5/18</a:t>
            </a:r>
            <a:endParaRPr lang="en-US" dirty="0"/>
          </a:p>
          <a:p>
            <a:r>
              <a:t>Для дослідження обрано чотири сучасні моделі. BGE-M3 від BAAI — 568 мільйонів параметрів, контекст 8192 токенів, мультифункціональна (dense, sparse, multi-vector). E5-base від intfloat — 278 мільйонів параметрів, контекст 512, з обов'язковими префіксами query та passage. Nomic-embed v1.5 — найменша, 137 мільйонів, з технікою Matryoshka. Qwen3-Embedding-0.6B від Alibaba — 596 мільйонів, контекст 32 тисячі токенів, єдина побудована на декодерній LLM-архітектурі. Як лексичну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2:46 – 3:17  ·  слайд 6/18</a:t>
            </a:r>
            <a:endParaRPr lang="en-US" dirty="0"/>
          </a:p>
          <a:p>
            <a:endParaRPr lang="en-US" dirty="0"/>
          </a:p>
          <a:p>
            <a:r>
              <a:t>Оцінювання базується на чотирьох стандартних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достовірності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3:17 – 3:47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3:47 – 4:24  ·  слайд 8/18</a:t>
            </a:r>
            <a:endParaRPr lang="en-US" dirty="0"/>
          </a:p>
          <a:p>
            <a:r>
              <a:t>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4:24 – 5:00  ·  слайд 9/18</a:t>
            </a:r>
            <a:endParaRPr lang="en-US" dirty="0"/>
          </a:p>
          <a:p>
            <a:endParaRPr lang="en-US" dirty="0"/>
          </a:p>
          <a:p>
            <a:r>
              <a:t>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5:00 – 5:16  ·  слайд 10/18</a:t>
            </a:r>
            <a:endParaRPr lang="en-US" dirty="0"/>
          </a:p>
          <a:p>
            <a:r>
              <a:t>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5:16 – 6:02  ·  слайд 11/18</a:t>
            </a:r>
            <a:endParaRPr lang="en-US" dirty="0"/>
          </a:p>
          <a:p>
            <a:r>
              <a:t>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6:02 – 6:19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6:19 – 7:00  ·  слайд 13/18</a:t>
            </a:r>
            <a:endParaRPr lang="en-US" dirty="0"/>
          </a:p>
          <a:p>
            <a:endParaRPr lang="en-US" dirty="0"/>
          </a:p>
          <a:p>
            <a:r>
              <a:t>Головні результати. У таблиці — середнє nDCG@10 по трьох доменах. Перше — BGE-M3 з 0.4708. Друге — Qwen3 з 0.4385. Третє — E5-base з 0.4199. Четверте — BM25 з 0.3319. Останнє — nomic з 0.2128, навіть нижче BM25.</a:t>
            </a:r>
          </a:p>
          <a:p>
            <a:r>
              <a:t>Ключовий висновок: три з чотирьох embedding-моделей перевершують BM25.</a:t>
            </a:r>
          </a:p>
          <a:p>
            <a:r>
              <a:t>Достовірність підтверджена бутстрепом (2000 вибірок). На технічному домені 95% CI для BGE-M3 — 0.606–0.737, для BM25 — 0.431–0.541. Інтервали не перетинаються — перевага семантичного пошуку статистично значуща.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7:00 – 7:23  ·  слайд 14/18</a:t>
            </a:r>
            <a:endParaRPr lang="en-US" dirty="0"/>
          </a:p>
          <a:p>
            <a:r>
              <a:t>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7:23 – 7:58  ·  слайд 15/18</a:t>
            </a:r>
            <a:endParaRPr lang="en-US" dirty="0"/>
          </a:p>
          <a:p>
            <a:r>
              <a:t>Результати багатокритеріального вибору. Парето-оптимальна множина — BGE-M3, E5-base та BM25: три з п'яти моделей не домінуються жодною. BGE-M3 — лідер у трьох доменах за nDCG, MRR, Recall.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7:58 – 8:43  ·  слайд 16/18</a:t>
            </a:r>
            <a:endParaRPr lang="en-US" dirty="0"/>
          </a:p>
          <a:p>
            <a:r>
              <a:t>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 sweet spot: ~70 мілісекунд, утричі швидше за BGE-M3 при незначній втраті якості.</a:t>
            </a:r>
          </a:p>
          <a:p>
            <a:r>
              <a:t>BM25 — Парето-оптимальна як baseline: менше 3 мілісекунд, але стеля якості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8:43 – 9:32  ·  слайд 17/18</a:t>
            </a:r>
            <a:endParaRPr lang="en-US" dirty="0"/>
          </a:p>
          <a:p>
            <a:r>
              <a:t>Підсумовуючи: у роботі обґрунтовано доцільність застосування сучасних embedding-моделей для семантичного пошуку у корпоративних базах знань. Сформульовано практичні рекомендації щодо вибору моделі.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 з прийнятною якістю та триразовою перевагою за швидкодією.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  <a:p>
            <a:r>
              <a:t>Дякую за увагу!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9:32 – 10:00  ·  слайд 18/18</a:t>
            </a:r>
            <a:endParaRPr lang="en-US" dirty="0"/>
          </a:p>
          <a:p>
            <a:r>
              <a:t>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3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8.xml"/><Relationship Id="rId5" Type="http://schemas.openxmlformats.org/officeDocument/2006/relationships/chart" Target="../charts/chart7.xml"/><Relationship Id="rId4" Type="http://schemas.openxmlformats.org/officeDocument/2006/relationships/chart" Target="../charts/char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стеля якості ~0.49 nDCG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результати дослідження</a:t>
            </a:r>
            <a:endParaRPr lang="uk-UA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бґрунтовано</a:t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69346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82B0C7-C83A-421B-B8E6-44C0B75292E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8b6b9b2-9153-4bc5-8b95-d349cce7ec1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3168</Words>
  <Application>Microsoft Office PowerPoint</Application>
  <PresentationFormat>On-screen Show (16:9)</PresentationFormat>
  <Paragraphs>499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30</cp:revision>
  <dcterms:created xsi:type="dcterms:W3CDTF">2026-05-07T21:01:42Z</dcterms:created>
  <dcterms:modified xsi:type="dcterms:W3CDTF">2026-05-17T15:31:46Z</dcterms:modified>
</cp:coreProperties>
</file>
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622" autoAdjust="0"/>
  </p:normalViewPr>
  <p:slideViewPr>
    <p:cSldViewPr snapToGrid="0" snapToObjects="1">
      <p:cViewPr varScale="1">
        <p:scale>
          <a:sx n="157" d="100"/>
          <a:sy n="157" d="100"/>
        </p:scale>
        <p:origin x="610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43-4127-A631-8D360886C94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43-4127-A631-8D360886C94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43-4127-A631-8D360886C94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43-4127-A631-8D360886C94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43-4127-A631-8D360886C94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2877350372187083"/>
          <c:y val="0.92613188976377958"/>
          <c:w val="0.54245299255625834"/>
          <c:h val="7.3868110236220474E-2"/>
        </c:manualLayout>
      </c:layout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0:00 – 0:19  ·  слайд 1/18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0:19 – 0:57  ·  слайд 2/18</a:t>
            </a:r>
            <a:endParaRPr lang="en-US" dirty="0"/>
          </a:p>
          <a:p/>
          <a:p>
            <a:r>
              <a:t>Обсяги корпоративної текстової інформації стрімко зростають, а традиційний лексичний пошук погано працює з синонімією, перефразуванням і мультимовним контентом. Сучасні embedding-моделі дозволяють шукати за змістом, а не за збігом слів.</a:t>
            </a:r>
          </a:p>
          <a:p>
            <a:r>
              <a:t>Мета — визначити доцільність застосування сучасних embedding-моделей для семантичного пошуку у корпоративних базах знань шляхом порівняльного експериментального дослідження.</a:t>
            </a:r>
          </a:p>
          <a:p>
            <a:r>
              <a:t>Об'єкт дослідження — процеси векторних подань тексту; предмет — самі embedding-моделі для корпоративних баз знань.</a:t>
            </a:r>
          </a:p>
          <a:p>
            <a:r>
              <a:t>Поставлено шість задач: проаналізувати предметну галузь; здійснити огляд embedding-моделей; сформувати україномовний benchmark; реалізувати систему пошуку; оцінити моделі за стандартними метриками; обґрунтовано обрати оптимальну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0:57 – 1:14  ·  слайд 3/18</a:t>
            </a:r>
            <a:endParaRPr lang="en-US" dirty="0"/>
          </a:p>
          <a:p>
            <a:r>
              <a:t>Огляд літератури охоплює період 2013–2025 — від статистичних подань Word2Vec через контекстний BERT і Sentence-BERT, до сучасних мультимовних моделей: E5, BGE-M3, nomic та Qwen3-Embedding. Усього опрацьовано 29 джерел. Виявлено ключову дослідницьку прогалину: відсутність порівняльних досліджень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1:14 – 1:40  ·  слайд 4/18</a:t>
            </a:r>
            <a:endParaRPr lang="en-US" dirty="0"/>
          </a:p>
          <a:p/>
          <a:p>
            <a:r>
              <a:t>Постановка задачі: просто застосувати embedding-модель недостатньо — треба обґрунтовано обрати ту, що забезпечує баланс між якістю пошуку, швидкодією, ресурсами, мовною підтримкою та типом колекції.</a:t>
            </a:r>
          </a:p>
          <a:p>
            <a:r>
              <a:t>П'ять очікуваних результатів: повноцінна система семантичного пошуку з підтримкою PDF, DOCX, TXT, Markdown; україномовний benchmark з трьох доменів; кількісне порівняння чотирьох embedding-моделей та BM25; багатокритеріальний вибір за Парето-фронтом і лінійною згорткою; обґрунтовані рекомендації для впровадження.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1:40 – 2:08  ·  слайд 5/18</a:t>
            </a:r>
            <a:endParaRPr lang="en-US" dirty="0"/>
          </a:p>
          <a:p>
            <a:r>
              <a:t>Для дослідження обрано чотири сучасні моделі. BGE-M3 від BAAI — 568 мільйонів параметрів, контекст 8192 токенів, мультифункціональна (dense, sparse, multi-vector). E5-base від intfloat — 278 мільйонів параметрів, контекст 512, з обов'язковими префіксами query та passage. Nomic-embed v1.5 — найменша, 137 мільйонів, з технікою Matryoshka. Qwen3-Embedding-0.6B від Alibaba — 596 мільйонів, контекст 32 тисячі токенів, єдина побудована на декодерній LLM-архітектурі. Як лексичну baseline використано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2:08 – 2:31  ·  слайд 6/18</a:t>
            </a:r>
            <a:endParaRPr lang="en-US" dirty="0"/>
          </a:p>
          <a:p/>
          <a:p>
            <a:r>
              <a:t>Оцінювання базується на чотирьох стандартних метриках retrieval-якості: nDCG@10 — якість ранжування; MRR@10 — позиція першого релевантного; Recall@10 — повнота; Precision@10 — точність. Окремо вимірюється швидкодія в мілісекундах.</a:t>
            </a:r>
          </a:p>
          <a:p>
            <a:r>
              <a:t>Для достовірності — три методи аналізу: бутстреп-довірчі інтервали (2000 повторних вибірок, 95% CI); Парето-домінування для виявлення недомінованих альтернатив; лінійна адитивна згортка для інтегральної оцінки з ваговими коефіцієнтами.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2:31 – 2:54  ·  слайд 7/18</a:t>
            </a:r>
            <a:endParaRPr lang="en-US" dirty="0"/>
          </a:p>
          <a:p>
            <a:r>
              <a:t>Стисло про формули. nDCG@k — нормалізована якість ранжування, DCG поділене на ідеальне DCG; враховує і релевантність, і позицію. MRR — середня обернена позиція першого релевантного документа. Recall@k — частка знайдених релевантних серед усіх релевантних. Precision@k — частка релевантних серед перших k результатів. Усі метрики від 0 до 1; що вище — то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2:54 – 3:23  ·  слайд 8/18</a:t>
            </a:r>
            <a:endParaRPr lang="en-US" dirty="0"/>
          </a:p>
          <a:p>
            <a:r>
              <a:t>Багатокритеріальний вибір реалізовано у три кроки. Перший — Парето-домінування: відсіюємо альтернативи, які гірші за іншу одразу за всіма критеріями. Другий — нормалізація: приведення всіх критеріїв до спільної шкали від 0 до 1 з урахуванням напряму оптимізації. Третій — лінійна адитивна згортка: інтегральна оцінка U — це сума добутків ваг на нормалізовані значення; сума ваг дорівнює одиниці. Ваги задає користувач залежно від пріоритетів — якість, швидкодія, ресурси.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3:23 – 3:51  ·  слайд 9/18</a:t>
            </a:r>
            <a:endParaRPr lang="en-US" dirty="0"/>
          </a:p>
          <a:p/>
          <a:p>
            <a:r>
              <a:t>Архітектура у вигляді pipeline. На вході — PDF, DOCX, TXT або Markdown. Документи розбиваються на чанки ~600 слів з перекриттям. Далі чанк перетворюється на вектор однією з чотирьох embedding-моделей, L2-нормалізується та індексується у FAISS — точний IndexFlatIP, що для нормалізованих векторів еквівалентне косинусній мірі. Запит проходить ту саму обробку — повертаються топ-K найрелевантніших чанків. Усе обгорнуто у Flask. Основні модулі: build_index, evaluate_benchmark, embedding_models,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3:51 – 4:03  ·  слайд 10/18</a:t>
            </a:r>
            <a:endParaRPr lang="en-US" dirty="0"/>
          </a:p>
          <a:p>
            <a:r>
              <a:t>Програмне забезпечення: Python 3.11, sentence-transformers, transformers від Hugging Face, PyTorch у CPU-режимі, FAISS і rank_bm25 для retrieval, Flask для веб-частини, NumPy і scikit-learn для аналізу, бутстреп-CI власної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4:03 – 4:38  ·  слайд 11/18</a:t>
            </a:r>
            <a:endParaRPr lang="en-US" dirty="0"/>
          </a:p>
          <a:p>
            <a:r>
              <a:t>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4:38 – 4:51  ·  слайд 12/18</a:t>
            </a:r>
            <a:endParaRPr lang="en-US" dirty="0"/>
          </a:p>
          <a:p>
            <a:r>
              <a:t>Приклади запитів — у технічному домені про відтік клієнтів і аномалії; у юридичному — про цивільну дієздатність і спадщину; у медичному — про будову серця і кровообіг. Реальні питання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4:51 – 5:23  ·  слайд 13/18</a:t>
            </a:r>
            <a:endParaRPr lang="en-US" dirty="0"/>
          </a:p>
          <a:p/>
          <a:p>
            <a:r>
              <a:t>Головні результати. У таблиці — середнє nDCG@10 по трьох доменах. Перше — BGE-M3 з 0.4708. Друге — Qwen3 з 0.4385. Третє — E5-base з 0.4199. Четверте — BM25 з 0.3319. Останнє — nomic з 0.2128, навіть нижче BM25.</a:t>
            </a:r>
          </a:p>
          <a:p>
            <a:r>
              <a:t>Ключовий висновок: три з чотирьох embedding-моделей перевершують BM25.</a:t>
            </a:r>
          </a:p>
          <a:p>
            <a:r>
              <a:t>Достовірність підтверджена бутстрепом (2000 вибірок). На технічному домені 95% CI для BGE-M3 — 0.606–0.737, для BM25 — 0.431–0.541. Інтервали не перетинаються — перевага семантичного пошуку статистично значуща.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5:23 – 5:40  ·  слайд 14/18</a:t>
            </a:r>
            <a:endParaRPr lang="en-US" dirty="0"/>
          </a:p>
          <a:p>
            <a:r>
              <a:t>Деталізовані метрики у розрізі трьох доменів — nDCG, MRR, Recall, Precision. Лідерство BGE-M3 послідовне за всіма чотирма метриками — це підтверджує робастність результату. На юридичному домені усі моделі показують нижчі значення — він складніший через формальний стиль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5:40 – 6:07  ·  слайд 15/18</a:t>
            </a:r>
            <a:endParaRPr lang="en-US" dirty="0"/>
          </a:p>
          <a:p>
            <a:r>
              <a:t>Результати багатокритеріального вибору. Парето-оптимальна множина — BGE-M3, E5-base та BM25: три з п'яти моделей не домінуються жодною. BGE-M3 — лідер у трьох доменах за nDCG, MRR, Recall. E5-base — швидка альтернатива: 70 мілісекунд проти 228 у BGE-M3, тобто у три рази швидше. Qwen3 — лідер на юридичному (nDCG 0.320), але удвічі повільніший. Nomic — найслабші результати, в окремих доменах поступається навіть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6:07 – 6:42  ·  слайд 16/18</a:t>
            </a:r>
            <a:endParaRPr lang="en-US" dirty="0"/>
          </a:p>
          <a:p>
            <a:r>
              <a:t>Компроміс якості та швидкодії на технічному домені. По осі X — час відповіді, по осі Y — nDCG@10. Парето-фронт виділено пунктиром.</a:t>
            </a:r>
          </a:p>
          <a:p>
            <a:r>
              <a:t>BGE-M3 — Парето-оптимальна, лідер якості: nDCG 0.672, ~228 мілісекунд. Основний вибір для впровадження.</a:t>
            </a:r>
          </a:p>
          <a:p>
            <a:r>
              <a:t>E5-base — Парето-оптимальна sweet spot: ~70 мілісекунд, утричі швидше за BGE-M3 при незначній втраті якості.</a:t>
            </a:r>
          </a:p>
          <a:p>
            <a:r>
              <a:t>BM25 — Парето-оптимальна як baseline: менше 3 мілісекунд, але стеля якості ~0.49.</a:t>
            </a:r>
          </a:p>
          <a:p>
            <a:r>
              <a:t>Qwen3 домінується на tech, але кращий на legal. Nomic не рекомендується — повністю домінується, поступається BM25 за якістю.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6:42 – 7:03  ·  слайд 17/18</a:t>
            </a:r>
            <a:endParaRPr lang="en-US" dirty="0"/>
          </a:p>
          <a:p>
            <a:r>
              <a:t>Апробація: опубліковано дві наукові праці у співавторстві з науковим керівником. Перша — стаття на 2-й конференції «Innovative Research in Science and Economy» з benchmark-методологією. Друга — тези на 30-му форумі «Радіоелектроніка та молодь у XXI столітті» в ХНУРЕ про підвищення якості retrieval. Загалом — два виступи на міжнародних конференціях.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7:03 – 7:41  ·  слайд 18/18</a:t>
            </a:r>
            <a:endParaRPr lang="en-US" dirty="0"/>
          </a:p>
          <a:p>
            <a:r>
              <a:t>Підсумовуючи: у роботі обґрунтовано доцільність застосування сучасних embedding-моделей для семантичного пошуку у корпоративних базах знань. Сформульовано практичні рекомендації щодо вибору моделі.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 з прийнятною якістю та триразовою перевагою за швидкодією.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baseline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  <a:p>
            <a:r>
              <a:t>Дякую за увагу!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4.xml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9.xml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0.xml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647344352"/>
              </p:ext>
            </p:extLst>
          </p:nvPr>
        </p:nvGraphicFramePr>
        <p:xfrm>
          <a:off x="502920" y="1371600"/>
          <a:ext cx="55778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357884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32130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1274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068312" y="132130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213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66878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92240" y="163220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23644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068312" y="163220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322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1979676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92240" y="19431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34540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068312" y="19431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431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2905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92240" y="22539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45436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068312" y="22539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2539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014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492240" y="25648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65633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068312" y="25648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5648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0020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0462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стеля якості ~0.49 nDCG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бґрунтовано</a:t>
            </a: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i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1710</Words>
  <Application>Microsoft Office PowerPoint</Application>
  <PresentationFormat>On-screen Show (16:9)</PresentationFormat>
  <Paragraphs>439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26</cp:revision>
  <dcterms:created xsi:type="dcterms:W3CDTF">2026-05-07T21:01:42Z</dcterms:created>
  <dcterms:modified xsi:type="dcterms:W3CDTF">2026-05-07T21:21:12Z</dcterms:modified>
</cp:coreProperties>
</file>
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5"/>
    <p:sldId id="270" r:id="rId16"/>
    <p:sldId id="271" r:id="rId17"/>
    <p:sldId id="274" r:id="rId18"/>
    <p:sldId id="272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0889" autoAdjust="0"/>
  </p:normalViewPr>
  <p:slideViewPr>
    <p:cSldViewPr snapToGrid="0" snapToObjects="1">
      <p:cViewPr varScale="1">
        <p:scale>
          <a:sx n="130" d="100"/>
          <a:sy n="130" d="100"/>
        </p:scale>
        <p:origin x="137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83-4DD8-B773-A9C507FB410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278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83-4DD8-B773-A9C507FB410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137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F83-4DD8-B773-A9C507FB410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596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F83-4DD8-B773-A9C507FB410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62-4700-908D-E5B980CD3B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512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62-4700-908D-E5B980CD3B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362-4700-908D-E5B980CD3B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32768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362-4700-908D-E5B980CD3B4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5A-4EF2-97DD-E9731D1D6D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5A-4EF2-97DD-E9731D1D6D5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5A-4EF2-97DD-E9731D1D6D5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5A-4EF2-97DD-E9731D1D6D5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5A-4EF2-97DD-E9731D1D6D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BD-4532-ACC4-EE90240829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1BD-4532-ACC4-EE902408296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1BD-4532-ACC4-EE902408296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1BD-4532-ACC4-EE902408296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1BD-4532-ACC4-EE90240829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0.69930000000000003</c:v>
                </c:pt>
                <c:pt idx="1">
                  <c:v>0.3831</c:v>
                </c:pt>
                <c:pt idx="2">
                  <c:v>0.50539999999999996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33-4F30-82BB-1B0A7ED6A7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0.66600000000000004</c:v>
                </c:pt>
                <c:pt idx="1">
                  <c:v>0.4022</c:v>
                </c:pt>
                <c:pt idx="2">
                  <c:v>0.42559999999999998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E33-4F30-82BB-1B0A7ED6A7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0.64500000000000002</c:v>
                </c:pt>
                <c:pt idx="1">
                  <c:v>0.33179999999999998</c:v>
                </c:pt>
                <c:pt idx="2">
                  <c:v>0.4647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E33-4F30-82BB-1B0A7ED6A7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0.48080000000000001</c:v>
                </c:pt>
                <c:pt idx="1">
                  <c:v>0.25330000000000003</c:v>
                </c:pt>
                <c:pt idx="2">
                  <c:v>0.40029999999999999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E33-4F30-82BB-1B0A7ED6A74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0.42499999999999999</c:v>
                </c:pt>
                <c:pt idx="1">
                  <c:v>0.14319999999999999</c:v>
                </c:pt>
                <c:pt idx="2">
                  <c:v>0.2167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E33-4F30-82BB-1B0A7ED6A7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0.81499999999999995</c:v>
                </c:pt>
                <c:pt idx="1">
                  <c:v>0.375</c:v>
                </c:pt>
                <c:pt idx="2">
                  <c:v>0.54500000000000004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F8-4013-B006-5F01937E39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0.38500000000000001</c:v>
                </c:pt>
                <c:pt idx="2">
                  <c:v>0.47170000000000001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F8-4013-B006-5F01937E397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0.74580000000000002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F8-4013-B006-5F01937E397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0.75419999999999998</c:v>
                </c:pt>
                <c:pt idx="1">
                  <c:v>0.23330000000000001</c:v>
                </c:pt>
                <c:pt idx="2">
                  <c:v>0.39829999999999999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DF8-4013-B006-5F01937E397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F8-4013-B006-5F01937E39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0.14299999999999999</c:v>
                </c:pt>
                <c:pt idx="1">
                  <c:v>0.106</c:v>
                </c:pt>
                <c:pt idx="2">
                  <c:v>0.14000000000000001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5-4DB2-9772-1A1C6FC68D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0.13800000000000001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535-4DB2-9772-1A1C6FC68D2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0.13900000000000001</c:v>
                </c:pt>
                <c:pt idx="1">
                  <c:v>8.8999999999999996E-2</c:v>
                </c:pt>
                <c:pt idx="2">
                  <c:v>0.13400000000000001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535-4DB2-9772-1A1C6FC68D2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0.13400000000000001</c:v>
                </c:pt>
                <c:pt idx="1">
                  <c:v>6.4000000000000001E-2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535-4DB2-9772-1A1C6FC68D2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2.7E-2</c:v>
                </c:pt>
                <c:pt idx="2">
                  <c:v>5.3999999999999999E-2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535-4DB2-9772-1A1C6FC68D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0.90400000000000003</c:v>
                </c:pt>
                <c:pt idx="1">
                  <c:v>0.872</c:v>
                </c:pt>
                <c:pt idx="2">
                  <c:v>0.91200000000000003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60B-4BF9-84F2-58BA6706632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0.82499999999999996</c:v>
                </c:pt>
                <c:pt idx="1">
                  <c:v>0.91400000000000003</c:v>
                </c:pt>
                <c:pt idx="2">
                  <c:v>0.80200000000000005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60B-4BF9-84F2-58BA6706632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0.84399999999999997</c:v>
                </c:pt>
                <c:pt idx="2">
                  <c:v>0.90100000000000002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60B-4BF9-84F2-58BA6706632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0.79500000000000004</c:v>
                </c:pt>
                <c:pt idx="1">
                  <c:v>0.74099999999999999</c:v>
                </c:pt>
                <c:pt idx="2">
                  <c:v>0.81699999999999995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60B-4BF9-84F2-58BA6706632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0.61099999999999999</c:v>
                </c:pt>
                <c:pt idx="1">
                  <c:v>0.503</c:v>
                </c:pt>
                <c:pt idx="2">
                  <c:v>0.56799999999999995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60B-4BF9-84F2-58BA670663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6161317903443886"/>
          <c:y val="0.92906699162604656"/>
          <c:w val="0.67677339338264531"/>
          <c:h val="7.0933008373953249E-2"/>
        </c:manualLayout>
      </c:layout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70.900000000000006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0.48609999999999998</c:v>
                </c:pt>
                <c:pt idx="1">
                  <c:v>0.61209999999999998</c:v>
                </c:pt>
                <c:pt idx="2">
                  <c:v>0.3765</c:v>
                </c:pt>
                <c:pt idx="3">
                  <c:v>0.67220000000000002</c:v>
                </c:pt>
                <c:pt idx="4">
                  <c:v>0.63249999999999995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F12-4E1E-8CBB-62E4699DED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ms / 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запит (нижче — краще)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nDCG@10 (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вище — краще)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4047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0:00 – 0:26  ·  слайд 1/17</a:t>
            </a:r>
            <a:endParaRPr lang="en-US" dirty="0"/>
          </a:p>
          <a:p>
            <a:r>
              <a:t>Шановні члени екзаменаційної комісії, шановний головуючий! Вашій увазі представляється кваліфікаційна магістерська робота на тему «Дослідження моделей векторних ембеддінгів для семантичного пошуку текстових даних у корпоративних базах знань». Виконав здобувач групи ІПЗм-24-1 Нестеренко Віталій Вячеславович. Науковий керівник — кандидат технічних наук, доцент Русакова Наталія Євгенівна.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0:26 – 1:07  ·  слайд 2/17</a:t>
            </a:r>
            <a:endParaRPr lang="en-US" dirty="0"/>
          </a:p>
          <a:p/>
          <a:p>
            <a:r>
              <a:t>Розпочнемо з актуальності. Обсяги корпоративної текстової інформації стрімко зростають, а традиційний лексичний пошук погано працює з синонімією, перефразуванням і мультимовним контентом. Сучасні embedding-моделі дозволяють шукати за змістом, а не за збігом слів.</a:t>
            </a:r>
          </a:p>
          <a:p>
            <a:r>
              <a:t>Мета — визначити найбільш придатну embedding-модель для україномовного семантичного пошуку у корпоративних базах знань на основі експериментального порівняння та багатокритеріального аналізу.</a:t>
            </a:r>
          </a:p>
          <a:p>
            <a:r>
              <a:t>Об'єкт дослідження — процеси векторних подань тексту; предмет — самі embedding-моделі для корпоративних баз знань.</a:t>
            </a:r>
          </a:p>
          <a:p>
            <a:r>
              <a:t>Поставлено шість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1:07 – 1:35  ·  слайд 3/17</a:t>
            </a:r>
            <a:endParaRPr lang="en-US" dirty="0"/>
          </a:p>
          <a:p>
            <a:r>
              <a:t>Які підходи вже досліджено в літературі? Огляд літератури охоплює період 2013–2025 — від статистичних подань Word2Vec через контекстний BERT і Sentence-BERT, до сучасних мультимовних моделей: E5, BGE-M3, nomic та Qwen3-Embedding. Усього опрацьовано 29 джерел. Виявлено ключову дослідницьку прогалину: відсутність порівняльних досліджень embedding-моделей саме на україномовних доменно-специфічних колекціях.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1:35 – 2:13  ·  слайд 4/17</a:t>
            </a:r>
            <a:endParaRPr lang="en-US" dirty="0"/>
          </a:p>
          <a:p/>
          <a:p>
            <a:r>
              <a:t>Виявлена прогалина веде до постановки задачі. Постановка задачі: просто застосувати embedding-модель недостатньо — треба обґрунтовано обрати ту, що забезпечує баланс між якістю пошуку, швидкодією, ресурсами, мовною підтримкою та типом колекції.</a:t>
            </a:r>
          </a:p>
          <a:p>
            <a:r>
              <a:t>П'ять очікуваних результатів: повноцінна система семантичного пошуку з підтримкою PDF, DOCX, TXT, Markdown; україномовний benchmark з трьох доменів; кількісне порівняння чотирьох embedding-моделей та BM25; багатокритеріальний вибір за Парето-фронтом і лінійною згорткою; обґрунтовані рекомендації для впровадження.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2:13 – 2:47  ·  слайд 5/17</a:t>
            </a:r>
            <a:endParaRPr lang="en-US" dirty="0"/>
          </a:p>
          <a:p>
            <a:r>
              <a:t>Розглянемо, які саме моделі дослідимо. Для дослідження обрано чотири моделі різних архітектур. BGE-M3 — 568 мільйонів параметрів, контекст 8192 токенів, мультифункціональна (dense, sparse, multi-vector). E5-base — 278 мільйонів параметрів, контекст 512, з обов'язковими префіксами query та passage. Nomic-embed v1.5 — найменша, 137 мільйонів, з технікою Matryoshka. Qwen3-Embedding-0.6B — 596 мільйонів, контекст 32 тисячі токенів, єдина побудована на декодерній LLM-архітектурі.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2:47 – 3:22  ·  слайд 6/17</a:t>
            </a:r>
            <a:endParaRPr lang="en-US" dirty="0"/>
          </a:p>
          <a:p/>
          <a:p>
            <a:r>
              <a:t>Як порівнюватимемо ці п'ять моделей? Оцінювання базується на чотирьох метриках retrieval-якості: nDCG@10 — якість ранжування; MRR@10 — позиція першого релевантного; Recall@10 — повнота; Precision@10 — точність. Окремо вимірюється швидкодія в мілісекундах.</a:t>
            </a:r>
          </a:p>
          <a:p>
            <a:r>
              <a:t>Для статистичної значущості — три методи аналізу: бутстреп-довірчі інтервали (2000 повторних вибірок, 95% CI); Парето-домінування для виявлення недомінованих альтернатив; лінійна адитивна згортка для інтегральної оцінки з ваговими коефіцієнтами.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3:22 – 3:53  ·  слайд 7/17</a:t>
            </a:r>
            <a:endParaRPr lang="en-US" dirty="0"/>
          </a:p>
          <a:p>
            <a:r>
              <a:t>Стисло про формули. nDCG@k — нормалізована якість ранжування, DCG поділене на ідеальне DCG; враховує і релевантність, і позицію. MRR — середня обернена позиція першого релевантного документа. Recall@k — частка знайдених релевантних серед усіх релевантних. Precision@k — частка релевантних серед перших k результатів. Усі метрики від 0 до 1; що вище — то краще.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3:53 – 4:37  ·  слайд 8/17</a:t>
            </a:r>
            <a:endParaRPr lang="en-US" dirty="0"/>
          </a:p>
          <a:p>
            <a:r>
              <a:t>Окремих метрик недостатньо — потрібно об'єднати їх в одне число. Багатокритеріальний вибір реалізовано у три кроки. Перший — Парето-домінування: відсіюємо альтернативи, які гірші за іншу одразу за всіма критеріями. Другий — нормалізація: приведення всіх критеріїв до спільної шкали від 0 до 1 з урахуванням напряму оптимізації. Третій — лінійна адитивна згортка: інтегральна оцінка U — це сума добутків ваг на нормалізовані значення; сума ваг дорівнює одиниці. Ваги задає користувач залежно від пріоритетів — якість, швидкодія, ресурси.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4:37 – 5:17  ·  слайд 9/17</a:t>
            </a:r>
            <a:endParaRPr lang="en-US" dirty="0"/>
          </a:p>
          <a:p/>
          <a:p>
            <a:r>
              <a:t>Як це реалізовано архітектурно? Архітектура у вигляді pipeline. На вході — PDF, DOCX, TXT або Markdown. Документи розбиваються на чанки ~600 слів з перекриттям. Далі чанк перетворюється на вектор однією з чотирьох embedding-моделей, L2-нормалізується та індексується у FAISS — точний IndexFlatIP, що для нормалізованих векторів еквівалентне косинусній мірі. Запит проходить ту саму обробку — повертаються топ-K найрелевантніших чанків. Усе обгорнуто у Flask. Основні модулі: build_index, evaluate_benchmark, embedding_models,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5:17 – 5:37  ·  слайд 10/17</a:t>
            </a:r>
            <a:endParaRPr lang="en-US" dirty="0"/>
          </a:p>
          <a:p>
            <a:r>
              <a:t>Технологічний стек, на якому це побудовано. Програмне забезпечення: Python 3.11, sentence-transformers, transformers від Hugging Face, PyTorch у CPU-режимі, FAISS і rank_bm25 для retrieval, Flask для веб-частини, NumPy і scikit-learn для аналізу, бутстреп-CI власної реалізації.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5:37 – 6:28  ·  слайд 11/17</a:t>
            </a:r>
            <a:endParaRPr lang="en-US" dirty="0"/>
          </a:p>
          <a:p>
            <a:r>
              <a:t>На якому датасеті випробували методологію? Власноруч сформовано україномовний benchmark з трьох предметних доменів. Усього — 32 документи, 300 запитів. Якорі релевантності — qrels — сформовано вручну.</a:t>
            </a:r>
          </a:p>
          <a:p>
            <a:r>
              <a:t>Технічний домен: 10 документів з тематики програмної інженерії, машинного навчання, систем RAG, виявлення аномалій, 3D-друку та лідарних систем — 100 запитів.</a:t>
            </a:r>
          </a:p>
          <a:p>
            <a:r>
              <a:t>Юридичний домен: 13 документів — кодекси України, нормативно-правові акти, законодавчі тексти — 100 запитів.</a:t>
            </a:r>
          </a:p>
          <a:p>
            <a:r>
              <a:t>Медичний домен: 9 документів — клінічні протоколи та медичні рекомендації — 100 запитів. У кожному домені по 100 україномовних запитів з ручною розміткою релевантних чанків.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6:28 – 6:45  ·  слайд 12/17</a:t>
            </a:r>
            <a:endParaRPr lang="en-US" dirty="0"/>
          </a:p>
          <a:p>
            <a:r>
              <a:t>Приклади запитів — у технічному домені про відтік клієнтів і аномалії; у юридичному — про цивільну дієздатність і спадщину; у медичному — про будову серця і кровообіг. Реальні питання користувачів.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6:45 – 7:11  ·  слайд 13/17</a:t>
            </a:r>
            <a:endParaRPr lang="en-US" dirty="0"/>
          </a:p>
          <a:p>
            <a:r>
              <a:t>За окремими доменами картина така. Деталізовані метрики у розрізі трьох доменів — nDCG, MRR, Recall, Precision. Лідерство BGE-M3 послідовне за всіма чотирма метриками — це підтверджує робастність результату. На юридичному домені усі моделі показують нижчі значення — він складніший через формальний стиль і вузькоспеціалізовану термінологію.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7:11 – 7:51  ·  слайд 14/17</a:t>
            </a:r>
            <a:endParaRPr lang="en-US" dirty="0"/>
          </a:p>
          <a:p>
            <a:r>
              <a:t>Переходимо до інтегральної оцінки. Результати багатокритеріального вибору. Парето-оптимальна множина — BGE-M3, E5-base та BM25: три з п'яти моделей не домінуються жодною. BGE-M3 — лідер за nDCG, MRR, Recall на технічному і медичному доменах. E5-base — швидка альтернатива: 70 мілісекунд проти 228 у BGE-M3, тобто у три рази швидше. Qwen3 — лідер на юридичному (nDCG 0.320), але удвічі повільніший. Nomic — найслабші результати, в окремих доменах поступається навіть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7:51 – 8:41  ·  слайд 15/17</a:t>
            </a:r>
            <a:endParaRPr lang="en-US" dirty="0"/>
          </a:p>
          <a:p>
            <a:r>
              <a:t>Той самий аналіз — у вигляді графіка. Компроміс якості та швидкодії на технічному домені. По осі X — час відповіді, по осі Y — nDCG@10. Парето-фронт виділено пунктиром.</a:t>
            </a:r>
          </a:p>
          <a:p>
            <a:r>
              <a:t>BGE-M3 — Парето-оптимальна, лідер якості: nDCG 0.672, ~228 мілісекунд. Основний вибір для впровадження.</a:t>
            </a:r>
          </a:p>
          <a:p>
            <a:r>
              <a:t>E5-base — Парето-оптимальна: ~70 мілісекунд, утричі швидше за BGE-M3 при якості на ~10% нижчій.</a:t>
            </a:r>
          </a:p>
          <a:p>
            <a:r>
              <a:t>BM25 — Парето-оптимальна як baseline: менше 3 мілісекунд, найвища nDCG — ~0.49.</a:t>
            </a:r>
          </a:p>
          <a:p>
            <a:r>
              <a:t>Qwen3 домінується на tech, але кращий на legal. Nomic не рекомендується — повністю домінується, поступається BM25 за якістю.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8:41 – 9:28  ·  слайд 16/17</a:t>
            </a:r>
            <a:endParaRPr lang="en-US" dirty="0"/>
          </a:p>
          <a:p>
            <a:r>
              <a:t>Підсумовуючи: embedding-моделі статистично значуще переважають BM25 для україномовного семантичного пошуку. Сформульовано практичні рекомендації щодо вибору моделі під конкретні умови.</a:t>
            </a:r>
          </a:p>
          <a:p>
            <a:r>
              <a:t>BGE-M3 — основна модель для впровадження: найкраща якість і стабільність у різних доменах.</a:t>
            </a:r>
          </a:p>
          <a:p>
            <a:r>
              <a:t>E5-base — швидка альтернатива: якість на ~10% нижча за BGE-M3, але утричі швидше.</a:t>
            </a:r>
          </a:p>
          <a:p>
            <a:r>
              <a:t>Qwen3 — оптимальний вибір для юридичних колекцій, де він демонструє найвищу якість.</a:t>
            </a:r>
          </a:p>
          <a:p>
            <a:r>
              <a:t>BM25 — залишається конкурентним baseline у певних доменах і за дуже жорстких вимог до швидкості.</a:t>
            </a:r>
          </a:p>
          <a:p>
            <a:r>
              <a:t>Усі задачі, поставлені в роботі, виконано. Мета досягнута.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9:28 – 10:00  ·  слайд 17/17</a:t>
            </a:r>
            <a:endParaRPr lang="en-US" dirty="0"/>
          </a:p>
          <a:p>
            <a:r>
              <a:t>Окремо — про апробацію результатів роботи. Апробація: опубліковано дві наукові праці у співавторстві з науковим керівником. Перша — стаття на 2-й конференції «Innovative Research in Science and Economy» з benchmark-методологією. Друга — тези на 30-му форумі «Радіоелектроніка та молодь у XXI столітті» в ХНУРЕ про підвищення якості retrieval. Загалом — два виступи на міжнародних конференціях.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3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chart" Target="../charts/chart7.xml"/><Relationship Id="rId6" Type="http://schemas.openxmlformats.org/officeDocument/2006/relationships/chart" Target="../charts/chart8.xml"/><Relationship Id="rId7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9.xml"/><Relationship Id="rId4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0.xml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280160"/>
            <a:ext cx="4023360" cy="402336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680960" y="-640080"/>
            <a:ext cx="2651760" cy="2651760"/>
          </a:xfrm>
          <a:prstGeom prst="ellipse">
            <a:avLst/>
          </a:prstGeom>
          <a:solidFill>
            <a:srgbClr val="1E40A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138160" y="-182880"/>
            <a:ext cx="1463040" cy="1463040"/>
          </a:xfrm>
          <a:prstGeom prst="ellipse">
            <a:avLst/>
          </a:prstGeom>
          <a:solidFill>
            <a:srgbClr val="F59E0B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912364"/>
            <a:ext cx="73152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409651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0" y="44074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Харків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75320" y="4020247"/>
            <a:ext cx="4572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0" descr="D:\repos\kb-semantic-search-benchmark\thesis\scripts\_logo_x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" y="4535424"/>
            <a:ext cx="1975104" cy="438912"/>
          </a:xfrm>
          <a:prstGeom prst="rect">
            <a:avLst/>
          </a:prstGeom>
        </p:spPr>
      </p:pic>
      <p:pic>
        <p:nvPicPr>
          <p:cNvPr id="17" name="Image 1" descr="D:\repos\kb-semantic-search-benchmark\thesis\scripts\_logo_kafed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4317" y="4557369"/>
            <a:ext cx="1975105" cy="395021"/>
          </a:xfrm>
          <a:prstGeom prst="rect">
            <a:avLst/>
          </a:prstGeom>
        </p:spPr>
      </p:pic>
      <p:pic>
        <p:nvPicPr>
          <p:cNvPr id="18" name="Image 2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19" y="4526124"/>
            <a:ext cx="768096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визначити найбільш придатну embedding-модель для україномовного семантичного пошуку у корпоративних базах знань на основі експериментального порівняння та багатокритеріального аналізу.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096512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411480" y="410565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обрати модель методом багатокритеріального аналізу за балансом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55574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425065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 (nDCG@10)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00553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775394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68980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315029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62692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349338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00500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387362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/>
          <p:cNvGraphicFramePr/>
          <p:nvPr>
            <p:extLst>
              <p:ext uri="{D42A27DB-BD31-4B8C-83A1-F6EECF244321}">
                <p14:modId xmlns:p14="http://schemas.microsoft.com/office/powerpoint/2010/main" val="564831178"/>
              </p:ext>
            </p:extLst>
          </p:nvPr>
        </p:nvGraphicFramePr>
        <p:xfrm>
          <a:off x="6172200" y="1160716"/>
          <a:ext cx="2468880" cy="141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/>
          <p:cNvGraphicFramePr/>
          <p:nvPr/>
        </p:nvGraphicFramePr>
        <p:xfrm>
          <a:off x="6172200" y="2990088"/>
          <a:ext cx="2468880" cy="160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54" name="Image 0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960120"/>
            <a:ext cx="37490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2064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  (k=10)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71600"/>
          <a:ext cx="3520440" cy="117043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120640" y="2880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/>
          <p:cNvGraphicFramePr/>
          <p:nvPr/>
        </p:nvGraphicFramePr>
        <p:xfrm>
          <a:off x="5074920" y="3154680"/>
          <a:ext cx="3566160" cy="1508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1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106424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2170" y="17607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505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02170" y="224847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8505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02170" y="273615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8505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02170" y="322383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8505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02170" y="371151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8505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02170" y="41991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8505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7607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61188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24847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61188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73615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61188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22383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361188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71151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0"/>
          <p:cNvSpPr/>
          <p:nvPr/>
        </p:nvSpPr>
        <p:spPr>
          <a:xfrm>
            <a:off x="361188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1991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/>
          <p:nvPr/>
        </p:nvSpPr>
        <p:spPr>
          <a:xfrm>
            <a:off x="361188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7607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7"/>
          <p:cNvSpPr/>
          <p:nvPr/>
        </p:nvSpPr>
        <p:spPr>
          <a:xfrm>
            <a:off x="644652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24847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39"/>
          <p:cNvSpPr/>
          <p:nvPr/>
        </p:nvSpPr>
        <p:spPr>
          <a:xfrm>
            <a:off x="644652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73615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1"/>
          <p:cNvSpPr/>
          <p:nvPr/>
        </p:nvSpPr>
        <p:spPr>
          <a:xfrm>
            <a:off x="644652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22383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3"/>
          <p:cNvSpPr/>
          <p:nvPr/>
        </p:nvSpPr>
        <p:spPr>
          <a:xfrm>
            <a:off x="644652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71151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5"/>
          <p:cNvSpPr/>
          <p:nvPr/>
        </p:nvSpPr>
        <p:spPr>
          <a:xfrm>
            <a:off x="644652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1991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47"/>
          <p:cNvSpPr/>
          <p:nvPr/>
        </p:nvSpPr>
        <p:spPr>
          <a:xfrm>
            <a:off x="644652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300 запитів  ·  qrels сформовано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91440" cy="102412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5800" y="1609344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71907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54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1732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1600200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12648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12648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5236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45236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11480" y="2505456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11480" y="2505456"/>
            <a:ext cx="91440" cy="102412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685800" y="27432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2852928"/>
            <a:ext cx="329184" cy="32918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26883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417320" y="30540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989320" y="2734056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12648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1"/>
          <p:cNvSpPr/>
          <p:nvPr/>
        </p:nvSpPr>
        <p:spPr>
          <a:xfrm>
            <a:off x="612648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45236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745236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11480" y="3639312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5"/>
          <p:cNvSpPr/>
          <p:nvPr/>
        </p:nvSpPr>
        <p:spPr>
          <a:xfrm>
            <a:off x="411480" y="3639312"/>
            <a:ext cx="91440" cy="1024128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" y="3986784"/>
            <a:ext cx="329184" cy="32918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17320" y="38221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1417320" y="41879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5989320" y="3867912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/>
          <p:nvPr/>
        </p:nvSpPr>
        <p:spPr>
          <a:xfrm>
            <a:off x="612648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36" name="Text 31"/>
          <p:cNvSpPr/>
          <p:nvPr/>
        </p:nvSpPr>
        <p:spPr>
          <a:xfrm>
            <a:off x="612648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745236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38" name="Text 33"/>
          <p:cNvSpPr/>
          <p:nvPr/>
        </p:nvSpPr>
        <p:spPr>
          <a:xfrm>
            <a:off x="745236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pic>
        <p:nvPicPr>
          <p:cNvPr id="39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072134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19100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аномалій у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фінансових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транзакціях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7607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комбінація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Autoencoder та Isolation Forest для fraud detection»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7607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відтоку клієнтів (churn prediction)»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7607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когортний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аналіз для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клієнтів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етичні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питання використання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3246120" y="1072134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191006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цивільна дієздатність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фізичної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341071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 якого віку настає повна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цивільна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дієздатність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41071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підстави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обмеження цивільної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судом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41071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поняття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юридичної особи та порядок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її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41071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входить до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складу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спадщини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8"/>
          <p:cNvSpPr/>
          <p:nvPr/>
        </p:nvSpPr>
        <p:spPr>
          <a:xfrm>
            <a:off x="6080760" y="1072134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191006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серцево-судинна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2"/>
          <p:cNvSpPr/>
          <p:nvPr/>
        </p:nvSpPr>
        <p:spPr>
          <a:xfrm>
            <a:off x="624535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функції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624535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артеріальний тиск і як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він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регулюється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624535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велике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і мале коло кровообігу —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відмінності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8"/>
          <p:cNvSpPr/>
          <p:nvPr/>
        </p:nvSpPr>
        <p:spPr>
          <a:xfrm>
            <a:off x="624535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дихальної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pic>
        <p:nvPicPr>
          <p:cNvPr id="46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02920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/>
          <p:cNvGraphicFramePr/>
          <p:nvPr/>
        </p:nvGraphicFramePr>
        <p:xfrm>
          <a:off x="4745736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/>
          <p:cNvGraphicFramePr/>
          <p:nvPr/>
        </p:nvGraphicFramePr>
        <p:xfrm>
          <a:off x="502920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/>
          <p:cNvGraphicFramePr/>
          <p:nvPr/>
        </p:nvGraphicFramePr>
        <p:xfrm>
          <a:off x="4745736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pic>
        <p:nvPicPr>
          <p:cNvPr id="17" name="Image 0" descr="D:\repos\kb-semantic-search-benchmark\thesis\scripts\_logo_he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56362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1488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36829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за nDCG, MRR, Recall на технічному і медичному доменах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280035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980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4518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67131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" y="410337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32282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/>
          <p:cNvGraphicFramePr/>
          <p:nvPr>
            <p:extLst>
              <p:ext uri="{D42A27DB-BD31-4B8C-83A1-F6EECF244321}">
                <p14:modId xmlns:p14="http://schemas.microsoft.com/office/powerpoint/2010/main" val="666642990"/>
              </p:ext>
            </p:extLst>
          </p:nvPr>
        </p:nvGraphicFramePr>
        <p:xfrm>
          <a:off x="4617720" y="1325880"/>
          <a:ext cx="40233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8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808882803"/>
              </p:ext>
            </p:extLst>
          </p:nvPr>
        </p:nvGraphicFramePr>
        <p:xfrm>
          <a:off x="502920" y="1325880"/>
          <a:ext cx="51206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861538" y="231717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88720" y="1765301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691640" y="2501307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487839" y="157613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6956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 flipV="1">
            <a:off x="1128238" y="2010703"/>
            <a:ext cx="621445" cy="367246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 flipV="1">
            <a:off x="1749682" y="1835532"/>
            <a:ext cx="1336326" cy="17517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062472" y="13167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лідер якості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062472" y="14904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062472" y="16916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 = 0.672  ·  ~228 мс  ·  основний вибір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062472" y="20025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sweet spot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062472" y="2176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062472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мс  ·  3× швидше за BGE-M3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062472" y="26883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baseline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062472" y="2862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062472" y="3063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  ·  найвища nDCG ~0.49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6062472" y="33741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Спеціалізована  ·  лідер на Legal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6062472" y="35478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062472" y="3749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0.320 на Legal  ·  на Tech домінується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062472" y="40599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рекомендується  ·  домінується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6062472" y="42336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062472" y="44348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BM25 за якістю</a:t>
            </a:r>
            <a:endParaRPr lang="en-US" sz="900" dirty="0"/>
          </a:p>
        </p:txBody>
      </p:sp>
      <p:pic>
        <p:nvPicPr>
          <p:cNvPr id="42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 та результати дослідження</a:t>
            </a:r>
            <a:endParaRPr lang="uk-UA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Embedding-моделі статистично значуще переважають BM25 для україномовного семантичного пошуку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11480" y="1645920"/>
            <a:ext cx="91440" cy="12573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008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191109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23444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4008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за nDCG@10 у tech (0.672) і medical (0.434), топ-2 у legal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663440" y="1645920"/>
            <a:ext cx="91440" cy="12573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4892040" y="1810512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1911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864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48640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89204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на ~10% нижча за BGE-M3, ~3× швидше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411480" y="3040380"/>
            <a:ext cx="91440" cy="12573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40080" y="3204972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330555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23444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4008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4663440" y="3040380"/>
            <a:ext cx="91440" cy="125730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4892040" y="3204972"/>
            <a:ext cx="502920" cy="502920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2624" y="3305556"/>
            <a:ext cx="292608" cy="29260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48640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548640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489204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Найшвидша (1–3 мс/запит) — у &gt;100× швидше за BGE-M3</a:t>
            </a:r>
            <a:endParaRPr lang="en-US" sz="1000" dirty="0"/>
          </a:p>
        </p:txBody>
      </p:sp>
      <p:pic>
        <p:nvPicPr>
          <p:cNvPr id="39" name="Image 5" descr="D:\repos\kb-semantic-search-benchmark\thesis\scripts\_logo_he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r>
              <a:rPr lang="uk-UA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7693466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pic>
        <p:nvPicPr>
          <p:cNvPr id="25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17</a:t>
            </a:r>
            <a:r>
              <a:rPr lang="uk-UA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B82B0C7-C83A-421B-B8E6-44C0B75292E9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8b6b9b2-9153-4bc5-8b95-d349cce7ec1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3229</Words>
  <Application>Microsoft Office PowerPoint</Application>
  <PresentationFormat>On-screen Show (16:9)</PresentationFormat>
  <Paragraphs>498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Віталій Нестеренко</cp:lastModifiedBy>
  <cp:revision>33</cp:revision>
  <dcterms:created xsi:type="dcterms:W3CDTF">2026-05-07T21:01:42Z</dcterms:created>
  <dcterms:modified xsi:type="dcterms:W3CDTF">2026-05-17T16:03:15Z</dcterms:modified>
</cp:coreProperties>
</file>